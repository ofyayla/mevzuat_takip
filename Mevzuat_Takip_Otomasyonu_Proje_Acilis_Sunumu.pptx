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Talep 138380 — Mevzuat ve Uyum Başkanlığı. Bu sunumda talebin amacı, çözüm yaklaşımı, kapsam, portal demosu, varsayımlar ve yol haritası paylaşılacaktır.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Bugünkü süreç manuel ve üç kanala dağınık. Hedef: tespit gecikmesini ve kaçırma riskini azaltmak. Sistem karar destek aracıdır; nihai karar Başkanlıktadır.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Uçtan uca akış: kaynaklar → toplama ve işleme → yapay zeka analizi → portal. Başkanlık kararı zorunlu adımdır. Outlook bildirimi ve onay sonrası otomatik yönlendirme Faz 2 kapsamındadır.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Beş fonksiyon, kapsam formundaki amaç maddeleriyle birebir aynıdır. Faz 1'de birim eşleştirme yalnızca öneri olarak üretilir; otomatik yönlendirme Faz 2'dir.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Dokuz resmî kaynak ve KEP. Tarama günde birden fazla pencerede yapılır. Ham içerik arşivlenir; bu, aksaklık durumunda geriye dönük yeniden işlemeyi mümkün kılar.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içerik yapay zeka ile değerlendirilir. Model yüksek duyarlılıkla çalışır: tereddüt varsa kayıt Başkanlığa sunulur. Önem derecesi kriterleri çalıştayda birlikte belirlenecek.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Yedi alan iş biriminin talebinden gelir. Üretim kaynağı sütunu hangi alanın kaynaktan doğrudan alındığını, hangisinin yapay zeka tarafından üretildiğini gösterir. Yürürlük tarihi önerilen ek alandır — iş biriminin onayına sunulacak.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Öneri, görev tanımları bilgi tabanına dayanır ve her zaman gerekçesiyle gelir. Başkanlığın düzeltmeleri örnek havuzuna eklenerek isabet zamanla artar. Güncel görev tanımları iş biriminden temin edilecektir.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 çalışma ekranı. Metrik kartları filtre görevi görür. Yürürlük tarihi sütunu, yayım tarihinden bağımsız zaman baskısını gösterir. Sağ üstte kaynak sağlığı göstergesi.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Detay ekranı: yapay zeka üretimi alanlar etiketli, güven skoru anlaşılır biçimde gösteriliyor, birim önerisi gerekçesiyle geliyor. Karar her zaman Başkanlıkta.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Birim değiştirme çoklu seçime izin verir. Tüm işlemler kullanıcı ve zaman bilgisiyle denetim izine yazılır. Demo metninde görülen "yönlendirildi" ifadesi Faz 2 davranışını anlatır; Faz 1'de karar kaydı tutulur.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Uyum sistemlerinde en tehlikeli arıza sessiz olandır. Beklenti temelli izleme, erken uyarı ve ham arşiv ile hem tespit hem kurtarma sağlanır. Bakım yükü devreye alma sonrası ayrıca planlanmalı.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Varsayımlar kapsam formundan alınmıştır. En kritik bağımlılık ağ erişim izni; en önemli kısıt sistemin karar destek niteliğidir.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Toplam 67 adam/gün; kapsam formundaki 27 iş kalemi beş aşamada gruplanmıştır. En büyük pay yapay zeka analiz aşamasındadır. Ağ erişim izni idari bir süreç olduğu için ilk hafta başlatılmalıdır.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toplantısının somut çıktıları: kaynak listesi, görev tanımları, ürün sahibi ataması ve ağ erişim talebinin başlatılması.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2.png"/><Relationship Id="rId7" Type="http://schemas.openxmlformats.org/officeDocument/2006/relationships/image" Target="../media/image-5-2.png"/><Relationship Id="rId8" Type="http://schemas.openxmlformats.org/officeDocument/2006/relationships/image" Target="../media/image-5-2.png"/><Relationship Id="rId9" Type="http://schemas.openxmlformats.org/officeDocument/2006/relationships/image" Target="../media/image-5-2.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7.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over_bg.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logo_tech_white.png">    </p:cNvPr>
          <p:cNvPicPr>
            <a:picLocks noChangeAspect="1"/>
          </p:cNvPicPr>
          <p:nvPr/>
        </p:nvPicPr>
        <p:blipFill>
          <a:blip r:embed="rId2"/>
          <a:stretch>
            <a:fillRect/>
          </a:stretch>
        </p:blipFill>
        <p:spPr>
          <a:xfrm>
            <a:off x="950976" y="1179576"/>
            <a:ext cx="1271016" cy="354168"/>
          </a:xfrm>
          <a:prstGeom prst="rect">
            <a:avLst/>
          </a:prstGeom>
        </p:spPr>
      </p:pic>
      <p:sp>
        <p:nvSpPr>
          <p:cNvPr id="4" name="Text 0"/>
          <p:cNvSpPr txBox="1"/>
          <p:nvPr/>
        </p:nvSpPr>
        <p:spPr>
          <a:xfrm>
            <a:off x="950976" y="2103120"/>
            <a:ext cx="7498080" cy="173736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Century Gothic" pitchFamily="34" charset="0"/>
                <a:ea typeface="Century Gothic" pitchFamily="34" charset="-122"/>
                <a:cs typeface="Century Gothic" pitchFamily="34" charset="-120"/>
              </a:rPr>
              <a:t>Yapay Zeka Destekli</a:t>
            </a:r>
            <a:endParaRPr lang="en-US" sz="2000" dirty="0"/>
          </a:p>
          <a:p>
            <a:pPr indent="0" marL="0">
              <a:spcAft>
                <a:spcPts val="600"/>
              </a:spcAft>
              <a:buNone/>
            </a:pPr>
            <a:r>
              <a:rPr lang="en-US" sz="3200" b="1" dirty="0">
                <a:solidFill>
                  <a:srgbClr val="FFFFFF"/>
                </a:solidFill>
                <a:latin typeface="Century Gothic" pitchFamily="34" charset="0"/>
                <a:ea typeface="Century Gothic" pitchFamily="34" charset="-122"/>
                <a:cs typeface="Century Gothic" pitchFamily="34" charset="-120"/>
              </a:rPr>
              <a:t>Mevzuat Takip ve Yönlendirme Otomasyonu</a:t>
            </a:r>
            <a:endParaRPr lang="en-US" sz="2000" dirty="0"/>
          </a:p>
        </p:txBody>
      </p:sp>
      <p:sp>
        <p:nvSpPr>
          <p:cNvPr id="5" name="Text 1"/>
          <p:cNvSpPr txBox="1"/>
          <p:nvPr/>
        </p:nvSpPr>
        <p:spPr>
          <a:xfrm>
            <a:off x="950976" y="3977640"/>
            <a:ext cx="7315200" cy="320040"/>
          </a:xfrm>
          <a:prstGeom prst="rect">
            <a:avLst/>
          </a:prstGeom>
          <a:noFill/>
          <a:ln/>
        </p:spPr>
        <p:txBody>
          <a:bodyPr wrap="square" lIns="0" tIns="0" rIns="0" bIns="0"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Talep No: 138380   ·   Mevzuat ve Uyum Başkanlığı</a:t>
            </a:r>
            <a:endParaRPr lang="en-US" sz="1400" dirty="0"/>
          </a:p>
        </p:txBody>
      </p:sp>
      <p:sp>
        <p:nvSpPr>
          <p:cNvPr id="6" name="Text 2"/>
          <p:cNvSpPr txBox="1"/>
          <p:nvPr/>
        </p:nvSpPr>
        <p:spPr>
          <a:xfrm>
            <a:off x="950976" y="5394960"/>
            <a:ext cx="4572000" cy="411480"/>
          </a:xfrm>
          <a:prstGeom prst="rect">
            <a:avLst/>
          </a:prstGeom>
          <a:noFill/>
          <a:ln/>
        </p:spPr>
        <p:txBody>
          <a:bodyPr wrap="square" lIns="0" tIns="0" rIns="0" bIns="0" rtlCol="0" anchor="ctr"/>
          <a:lstStyle/>
          <a:p>
            <a:pPr indent="0" marL="0">
              <a:buNone/>
            </a:pPr>
            <a:r>
              <a:rPr lang="en-US" sz="2000" dirty="0">
                <a:solidFill>
                  <a:srgbClr val="FFFFFF"/>
                </a:solidFill>
                <a:latin typeface="Segoe UI" pitchFamily="34" charset="0"/>
                <a:ea typeface="Segoe UI" pitchFamily="34" charset="-122"/>
                <a:cs typeface="Segoe UI" pitchFamily="34" charset="-120"/>
              </a:rPr>
              <a:t>Proje Açılış Sunumu</a:t>
            </a:r>
            <a:endParaRPr lang="en-US" sz="2000" dirty="0"/>
          </a:p>
        </p:txBody>
      </p:sp>
      <p:pic>
        <p:nvPicPr>
          <p:cNvPr id="7" name="Image 2" descr="logo_albaraka.png">    </p:cNvPr>
          <p:cNvPicPr>
            <a:picLocks noChangeAspect="1"/>
          </p:cNvPicPr>
          <p:nvPr/>
        </p:nvPicPr>
        <p:blipFill>
          <a:blip r:embed="rId3"/>
          <a:stretch>
            <a:fillRect/>
          </a:stretch>
        </p:blipFill>
        <p:spPr>
          <a:xfrm>
            <a:off x="9738360" y="5614416"/>
            <a:ext cx="1828800" cy="548640"/>
          </a:xfrm>
          <a:prstGeom prst="rect">
            <a:avLst/>
          </a:prstGeom>
        </p:spPr>
      </p:pic>
      <p:sp>
        <p:nvSpPr>
          <p:cNvPr id="8" name="Text 3"/>
          <p:cNvSpPr txBox="1"/>
          <p:nvPr/>
        </p:nvSpPr>
        <p:spPr>
          <a:xfrm>
            <a:off x="4270248" y="6400800"/>
            <a:ext cx="3657600" cy="256032"/>
          </a:xfrm>
          <a:prstGeom prst="rect">
            <a:avLst/>
          </a:prstGeom>
          <a:noFill/>
          <a:ln/>
        </p:spPr>
        <p:txBody>
          <a:bodyPr wrap="square" lIns="0" tIns="0" rIns="0" bIns="0" rtlCol="0" anchor="t"/>
          <a:lstStyle/>
          <a:p>
            <a:pPr algn="ctr" indent="0" marL="0">
              <a:buNone/>
            </a:pPr>
            <a:r>
              <a:rPr lang="en-US" sz="1000" dirty="0">
                <a:solidFill>
                  <a:srgbClr val="6D6E71"/>
                </a:solidFill>
                <a:latin typeface="Segoe UI" pitchFamily="34" charset="0"/>
                <a:ea typeface="Segoe UI" pitchFamily="34" charset="-122"/>
                <a:cs typeface="Segoe UI" pitchFamily="34" charset="-120"/>
              </a:rPr>
              <a:t>Yapay Zeka Çözümleri Müdürlüğü</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Projenin Amacı ve Hedefleri</a:t>
            </a:r>
            <a:endParaRPr lang="en-US" sz="2200" dirty="0"/>
          </a:p>
        </p:txBody>
      </p:sp>
      <p:sp>
        <p:nvSpPr>
          <p:cNvPr id="3" name="Text 1"/>
          <p:cNvSpPr txBox="1"/>
          <p:nvPr/>
        </p:nvSpPr>
        <p:spPr>
          <a:xfrm>
            <a:off x="694944" y="1280160"/>
            <a:ext cx="5669280" cy="365760"/>
          </a:xfrm>
          <a:prstGeom prst="rect">
            <a:avLst/>
          </a:prstGeom>
          <a:noFill/>
          <a:ln/>
        </p:spPr>
        <p:txBody>
          <a:bodyPr wrap="square" lIns="0" tIns="0" rIns="0" bIns="0" rtlCol="0" anchor="t"/>
          <a:lstStyle/>
          <a:p>
            <a:pPr indent="0" marL="0">
              <a:buNone/>
            </a:pPr>
            <a:r>
              <a:rPr lang="en-US" sz="1600" b="1" dirty="0">
                <a:solidFill>
                  <a:srgbClr val="0012B0"/>
                </a:solidFill>
                <a:latin typeface="Segoe UI Semibold" pitchFamily="34" charset="0"/>
                <a:ea typeface="Segoe UI Semibold" pitchFamily="34" charset="-122"/>
                <a:cs typeface="Segoe UI Semibold" pitchFamily="34" charset="-120"/>
              </a:rPr>
              <a:t>Zamanında Tespit, Kontrollü Yönlendirme</a:t>
            </a:r>
            <a:endParaRPr lang="en-US" sz="1600" dirty="0"/>
          </a:p>
        </p:txBody>
      </p:sp>
      <p:sp>
        <p:nvSpPr>
          <p:cNvPr id="4" name="Text 2"/>
          <p:cNvSpPr txBox="1"/>
          <p:nvPr/>
        </p:nvSpPr>
        <p:spPr>
          <a:xfrm>
            <a:off x="694944" y="1737360"/>
            <a:ext cx="5669280" cy="1463040"/>
          </a:xfrm>
          <a:prstGeom prst="rect">
            <a:avLst/>
          </a:prstGeom>
          <a:noFill/>
          <a:ln/>
        </p:spPr>
        <p:txBody>
          <a:bodyPr wrap="square" lIns="0" tIns="0" rIns="0" bIns="0" rtlCol="0" anchor="t"/>
          <a:lstStyle/>
          <a:p>
            <a:pPr indent="0" marL="0">
              <a:lnSpc>
                <a:spcPct val="125000"/>
              </a:lnSpc>
              <a:buNone/>
            </a:pPr>
            <a:r>
              <a:rPr lang="en-US" sz="1300" dirty="0">
                <a:solidFill>
                  <a:srgbClr val="1F2937"/>
                </a:solidFill>
                <a:latin typeface="Segoe UI" pitchFamily="34" charset="0"/>
                <a:ea typeface="Segoe UI" pitchFamily="34" charset="-122"/>
                <a:cs typeface="Segoe UI" pitchFamily="34" charset="-120"/>
              </a:rPr>
              <a:t>Mevzuat ve Uyum Başkanlığı; Resmî Gazete yayımlarını, kamu otoritelerinin internet sitelerindeki düzenleyici içerikleri ve banka KEP adresine ulaşan resmi yazıları bugün manuel olarak takip etmektedir. Bu proje, takip sürecini yapay zeka destekli biçimde otomatikleştirerek bankayı ilgilendirebilecek düzenlemelerin zamanında tespit edilmesini ve ilgili birimle eşleştirilmesini hedefler.</a:t>
            </a:r>
            <a:endParaRPr lang="en-US" sz="1300" dirty="0"/>
          </a:p>
        </p:txBody>
      </p:sp>
      <p:pic>
        <p:nvPicPr>
          <p:cNvPr id="5" name="Image 0" descr="icons/check_blue.png">    </p:cNvPr>
          <p:cNvPicPr>
            <a:picLocks noChangeAspect="1"/>
          </p:cNvPicPr>
          <p:nvPr/>
        </p:nvPicPr>
        <p:blipFill>
          <a:blip r:embed="rId1"/>
          <a:stretch>
            <a:fillRect/>
          </a:stretch>
        </p:blipFill>
        <p:spPr>
          <a:xfrm>
            <a:off x="694944" y="3447288"/>
            <a:ext cx="274320" cy="274320"/>
          </a:xfrm>
          <a:prstGeom prst="rect">
            <a:avLst/>
          </a:prstGeom>
        </p:spPr>
      </p:pic>
      <p:sp>
        <p:nvSpPr>
          <p:cNvPr id="6" name="Text 3"/>
          <p:cNvSpPr txBox="1"/>
          <p:nvPr/>
        </p:nvSpPr>
        <p:spPr>
          <a:xfrm>
            <a:off x="1097280" y="3429000"/>
            <a:ext cx="5303520" cy="347472"/>
          </a:xfrm>
          <a:prstGeom prst="rect">
            <a:avLst/>
          </a:prstGeom>
          <a:noFill/>
          <a:ln/>
        </p:spPr>
        <p:txBody>
          <a:bodyPr wrap="square" lIns="0" tIns="0" rIns="0" bIns="0" rtlCol="0" anchor="ctr"/>
          <a:lstStyle/>
          <a:p>
            <a:pPr indent="0" marL="0">
              <a:buNone/>
            </a:pPr>
            <a:r>
              <a:rPr lang="en-US" sz="1300" dirty="0">
                <a:solidFill>
                  <a:srgbClr val="1F2937"/>
                </a:solidFill>
                <a:latin typeface="Segoe UI" pitchFamily="34" charset="0"/>
                <a:ea typeface="Segoe UI" pitchFamily="34" charset="-122"/>
                <a:cs typeface="Segoe UI" pitchFamily="34" charset="-120"/>
              </a:rPr>
              <a:t>Üç kanaldan gelen düzenleyici içeriğin tek noktada ve otomatik izlenmesi</a:t>
            </a:r>
            <a:endParaRPr lang="en-US" sz="1300" dirty="0"/>
          </a:p>
        </p:txBody>
      </p:sp>
      <p:pic>
        <p:nvPicPr>
          <p:cNvPr id="7" name="Image 1" descr="icons/check_blue.png">    </p:cNvPr>
          <p:cNvPicPr>
            <a:picLocks noChangeAspect="1"/>
          </p:cNvPicPr>
          <p:nvPr/>
        </p:nvPicPr>
        <p:blipFill>
          <a:blip r:embed="rId2"/>
          <a:stretch>
            <a:fillRect/>
          </a:stretch>
        </p:blipFill>
        <p:spPr>
          <a:xfrm>
            <a:off x="694944" y="3995928"/>
            <a:ext cx="274320" cy="274320"/>
          </a:xfrm>
          <a:prstGeom prst="rect">
            <a:avLst/>
          </a:prstGeom>
        </p:spPr>
      </p:pic>
      <p:sp>
        <p:nvSpPr>
          <p:cNvPr id="8" name="Text 4"/>
          <p:cNvSpPr txBox="1"/>
          <p:nvPr/>
        </p:nvSpPr>
        <p:spPr>
          <a:xfrm>
            <a:off x="1097280" y="3977640"/>
            <a:ext cx="5303520" cy="347472"/>
          </a:xfrm>
          <a:prstGeom prst="rect">
            <a:avLst/>
          </a:prstGeom>
          <a:noFill/>
          <a:ln/>
        </p:spPr>
        <p:txBody>
          <a:bodyPr wrap="square" lIns="0" tIns="0" rIns="0" bIns="0" rtlCol="0" anchor="ctr"/>
          <a:lstStyle/>
          <a:p>
            <a:pPr indent="0" marL="0">
              <a:buNone/>
            </a:pPr>
            <a:r>
              <a:rPr lang="en-US" sz="1300" dirty="0">
                <a:solidFill>
                  <a:srgbClr val="1F2937"/>
                </a:solidFill>
                <a:latin typeface="Segoe UI" pitchFamily="34" charset="0"/>
                <a:ea typeface="Segoe UI" pitchFamily="34" charset="-122"/>
                <a:cs typeface="Segoe UI" pitchFamily="34" charset="-120"/>
              </a:rPr>
              <a:t>Tespit gecikmesi ve gözden kaçırma riskinin azaltılması</a:t>
            </a:r>
            <a:endParaRPr lang="en-US" sz="1300" dirty="0"/>
          </a:p>
        </p:txBody>
      </p:sp>
      <p:pic>
        <p:nvPicPr>
          <p:cNvPr id="9" name="Image 2" descr="icons/check_blue.png">    </p:cNvPr>
          <p:cNvPicPr>
            <a:picLocks noChangeAspect="1"/>
          </p:cNvPicPr>
          <p:nvPr/>
        </p:nvPicPr>
        <p:blipFill>
          <a:blip r:embed="rId3"/>
          <a:stretch>
            <a:fillRect/>
          </a:stretch>
        </p:blipFill>
        <p:spPr>
          <a:xfrm>
            <a:off x="694944" y="4544568"/>
            <a:ext cx="274320" cy="274320"/>
          </a:xfrm>
          <a:prstGeom prst="rect">
            <a:avLst/>
          </a:prstGeom>
        </p:spPr>
      </p:pic>
      <p:sp>
        <p:nvSpPr>
          <p:cNvPr id="10" name="Text 5"/>
          <p:cNvSpPr txBox="1"/>
          <p:nvPr/>
        </p:nvSpPr>
        <p:spPr>
          <a:xfrm>
            <a:off x="1097280" y="4526280"/>
            <a:ext cx="5303520" cy="347472"/>
          </a:xfrm>
          <a:prstGeom prst="rect">
            <a:avLst/>
          </a:prstGeom>
          <a:noFill/>
          <a:ln/>
        </p:spPr>
        <p:txBody>
          <a:bodyPr wrap="square" lIns="0" tIns="0" rIns="0" bIns="0" rtlCol="0" anchor="ctr"/>
          <a:lstStyle/>
          <a:p>
            <a:pPr indent="0" marL="0">
              <a:buNone/>
            </a:pPr>
            <a:r>
              <a:rPr lang="en-US" sz="1300" dirty="0">
                <a:solidFill>
                  <a:srgbClr val="1F2937"/>
                </a:solidFill>
                <a:latin typeface="Segoe UI" pitchFamily="34" charset="0"/>
                <a:ea typeface="Segoe UI" pitchFamily="34" charset="-122"/>
                <a:cs typeface="Segoe UI" pitchFamily="34" charset="-120"/>
              </a:rPr>
              <a:t>Yapılandırılmış özet ve gerekçeli birim önerisiyle hızlı değerlendirme</a:t>
            </a:r>
            <a:endParaRPr lang="en-US" sz="1300" dirty="0"/>
          </a:p>
        </p:txBody>
      </p:sp>
      <p:pic>
        <p:nvPicPr>
          <p:cNvPr id="11" name="Image 3" descr="icons/check_blue.png">    </p:cNvPr>
          <p:cNvPicPr>
            <a:picLocks noChangeAspect="1"/>
          </p:cNvPicPr>
          <p:nvPr/>
        </p:nvPicPr>
        <p:blipFill>
          <a:blip r:embed="rId4"/>
          <a:stretch>
            <a:fillRect/>
          </a:stretch>
        </p:blipFill>
        <p:spPr>
          <a:xfrm>
            <a:off x="694944" y="5093208"/>
            <a:ext cx="274320" cy="274320"/>
          </a:xfrm>
          <a:prstGeom prst="rect">
            <a:avLst/>
          </a:prstGeom>
        </p:spPr>
      </p:pic>
      <p:sp>
        <p:nvSpPr>
          <p:cNvPr id="12" name="Text 6"/>
          <p:cNvSpPr txBox="1"/>
          <p:nvPr/>
        </p:nvSpPr>
        <p:spPr>
          <a:xfrm>
            <a:off x="1097280" y="5074920"/>
            <a:ext cx="5303520" cy="347472"/>
          </a:xfrm>
          <a:prstGeom prst="rect">
            <a:avLst/>
          </a:prstGeom>
          <a:noFill/>
          <a:ln/>
        </p:spPr>
        <p:txBody>
          <a:bodyPr wrap="square" lIns="0" tIns="0" rIns="0" bIns="0" rtlCol="0" anchor="ctr"/>
          <a:lstStyle/>
          <a:p>
            <a:pPr indent="0" marL="0">
              <a:buNone/>
            </a:pPr>
            <a:r>
              <a:rPr lang="en-US" sz="1300" dirty="0">
                <a:solidFill>
                  <a:srgbClr val="1F2937"/>
                </a:solidFill>
                <a:latin typeface="Segoe UI" pitchFamily="34" charset="0"/>
                <a:ea typeface="Segoe UI" pitchFamily="34" charset="-122"/>
                <a:cs typeface="Segoe UI" pitchFamily="34" charset="-120"/>
              </a:rPr>
              <a:t>İnsan kararını destekleyen (Human-in-the-Loop) karar destek yapısı</a:t>
            </a:r>
            <a:endParaRPr lang="en-US" sz="1300" dirty="0"/>
          </a:p>
        </p:txBody>
      </p:sp>
      <p:sp>
        <p:nvSpPr>
          <p:cNvPr id="13" name="Shape 7"/>
          <p:cNvSpPr/>
          <p:nvPr/>
        </p:nvSpPr>
        <p:spPr>
          <a:xfrm>
            <a:off x="6812280" y="1280160"/>
            <a:ext cx="4681728" cy="4526280"/>
          </a:xfrm>
          <a:prstGeom prst="roundRect">
            <a:avLst>
              <a:gd name="adj" fmla="val 3030"/>
            </a:avLst>
          </a:prstGeom>
          <a:solidFill>
            <a:srgbClr val="172144"/>
          </a:solidFill>
          <a:ln w="12700">
            <a:solidFill>
              <a:srgbClr val="172144"/>
            </a:solidFill>
            <a:prstDash val="solid"/>
          </a:ln>
        </p:spPr>
      </p:sp>
      <p:sp>
        <p:nvSpPr>
          <p:cNvPr id="14" name="Text 8"/>
          <p:cNvSpPr txBox="1"/>
          <p:nvPr/>
        </p:nvSpPr>
        <p:spPr>
          <a:xfrm>
            <a:off x="7178040" y="1527048"/>
            <a:ext cx="1097280" cy="914400"/>
          </a:xfrm>
          <a:prstGeom prst="rect">
            <a:avLst/>
          </a:prstGeom>
          <a:noFill/>
          <a:ln/>
        </p:spPr>
        <p:txBody>
          <a:bodyPr wrap="square" lIns="0" tIns="0" rIns="0" bIns="0" rtlCol="0" anchor="ctr"/>
          <a:lstStyle/>
          <a:p>
            <a:pPr indent="0" marL="0">
              <a:buNone/>
            </a:pPr>
            <a:r>
              <a:rPr lang="en-US" sz="5400" b="1" dirty="0">
                <a:solidFill>
                  <a:srgbClr val="FF8E38"/>
                </a:solidFill>
                <a:latin typeface="Segoe UI Semibold" pitchFamily="34" charset="0"/>
                <a:ea typeface="Segoe UI Semibold" pitchFamily="34" charset="-122"/>
                <a:cs typeface="Segoe UI Semibold" pitchFamily="34" charset="-120"/>
              </a:rPr>
              <a:t>3</a:t>
            </a:r>
            <a:endParaRPr lang="en-US" sz="5400" dirty="0"/>
          </a:p>
        </p:txBody>
      </p:sp>
      <p:sp>
        <p:nvSpPr>
          <p:cNvPr id="15" name="Text 9"/>
          <p:cNvSpPr txBox="1"/>
          <p:nvPr/>
        </p:nvSpPr>
        <p:spPr>
          <a:xfrm>
            <a:off x="8366760" y="1645920"/>
            <a:ext cx="2926080" cy="365760"/>
          </a:xfrm>
          <a:prstGeom prst="rect">
            <a:avLst/>
          </a:prstGeom>
          <a:noFill/>
          <a:ln/>
        </p:spPr>
        <p:txBody>
          <a:bodyPr wrap="square" lIns="0" tIns="0" rIns="0" bIns="0" rtlCol="0" anchor="t"/>
          <a:lstStyle/>
          <a:p>
            <a:pPr indent="0" marL="0">
              <a:buNone/>
            </a:pPr>
            <a:r>
              <a:rPr lang="en-US" sz="1700" b="1" dirty="0">
                <a:solidFill>
                  <a:srgbClr val="FFFFFF"/>
                </a:solidFill>
                <a:latin typeface="Segoe UI Semibold" pitchFamily="34" charset="0"/>
                <a:ea typeface="Segoe UI Semibold" pitchFamily="34" charset="-122"/>
                <a:cs typeface="Segoe UI Semibold" pitchFamily="34" charset="-120"/>
              </a:rPr>
              <a:t>izleme kanalı</a:t>
            </a:r>
            <a:endParaRPr lang="en-US" sz="1700" dirty="0"/>
          </a:p>
        </p:txBody>
      </p:sp>
      <p:sp>
        <p:nvSpPr>
          <p:cNvPr id="16" name="Text 10"/>
          <p:cNvSpPr txBox="1"/>
          <p:nvPr/>
        </p:nvSpPr>
        <p:spPr>
          <a:xfrm>
            <a:off x="8366760" y="2029968"/>
            <a:ext cx="2926080" cy="365760"/>
          </a:xfrm>
          <a:prstGeom prst="rect">
            <a:avLst/>
          </a:prstGeom>
          <a:noFill/>
          <a:ln/>
        </p:spPr>
        <p:txBody>
          <a:bodyPr wrap="square" lIns="0" tIns="0" rIns="0" bIns="0" rtlCol="0" anchor="t"/>
          <a:lstStyle/>
          <a:p>
            <a:pPr indent="0" marL="0">
              <a:buNone/>
            </a:pPr>
            <a:r>
              <a:rPr lang="en-US" sz="1150" dirty="0">
                <a:solidFill>
                  <a:srgbClr val="C3CAE3"/>
                </a:solidFill>
                <a:latin typeface="Segoe UI" pitchFamily="34" charset="0"/>
                <a:ea typeface="Segoe UI" pitchFamily="34" charset="-122"/>
                <a:cs typeface="Segoe UI" pitchFamily="34" charset="-120"/>
              </a:rPr>
              <a:t>Resmî Gazete · Kurum siteleri · KEP</a:t>
            </a:r>
            <a:endParaRPr lang="en-US" sz="1150" dirty="0"/>
          </a:p>
        </p:txBody>
      </p:sp>
      <p:sp>
        <p:nvSpPr>
          <p:cNvPr id="17" name="Shape 11"/>
          <p:cNvSpPr/>
          <p:nvPr/>
        </p:nvSpPr>
        <p:spPr>
          <a:xfrm>
            <a:off x="7178040" y="2724912"/>
            <a:ext cx="3950208" cy="0"/>
          </a:xfrm>
          <a:prstGeom prst="line">
            <a:avLst/>
          </a:prstGeom>
          <a:noFill/>
          <a:ln w="12700">
            <a:solidFill>
              <a:srgbClr val="2E3A66"/>
            </a:solidFill>
            <a:prstDash val="solid"/>
          </a:ln>
        </p:spPr>
      </p:sp>
      <p:sp>
        <p:nvSpPr>
          <p:cNvPr id="18" name="Text 12"/>
          <p:cNvSpPr txBox="1"/>
          <p:nvPr/>
        </p:nvSpPr>
        <p:spPr>
          <a:xfrm>
            <a:off x="7178040" y="2898648"/>
            <a:ext cx="1097280" cy="914400"/>
          </a:xfrm>
          <a:prstGeom prst="rect">
            <a:avLst/>
          </a:prstGeom>
          <a:noFill/>
          <a:ln/>
        </p:spPr>
        <p:txBody>
          <a:bodyPr wrap="square" lIns="0" tIns="0" rIns="0" bIns="0" rtlCol="0" anchor="ctr"/>
          <a:lstStyle/>
          <a:p>
            <a:pPr indent="0" marL="0">
              <a:buNone/>
            </a:pPr>
            <a:r>
              <a:rPr lang="en-US" sz="5400" b="1" dirty="0">
                <a:solidFill>
                  <a:srgbClr val="FF8E38"/>
                </a:solidFill>
                <a:latin typeface="Segoe UI Semibold" pitchFamily="34" charset="0"/>
                <a:ea typeface="Segoe UI Semibold" pitchFamily="34" charset="-122"/>
                <a:cs typeface="Segoe UI Semibold" pitchFamily="34" charset="-120"/>
              </a:rPr>
              <a:t>9</a:t>
            </a:r>
            <a:endParaRPr lang="en-US" sz="5400" dirty="0"/>
          </a:p>
        </p:txBody>
      </p:sp>
      <p:sp>
        <p:nvSpPr>
          <p:cNvPr id="19" name="Text 13"/>
          <p:cNvSpPr txBox="1"/>
          <p:nvPr/>
        </p:nvSpPr>
        <p:spPr>
          <a:xfrm>
            <a:off x="8366760" y="3017520"/>
            <a:ext cx="2926080" cy="365760"/>
          </a:xfrm>
          <a:prstGeom prst="rect">
            <a:avLst/>
          </a:prstGeom>
          <a:noFill/>
          <a:ln/>
        </p:spPr>
        <p:txBody>
          <a:bodyPr wrap="square" lIns="0" tIns="0" rIns="0" bIns="0" rtlCol="0" anchor="t"/>
          <a:lstStyle/>
          <a:p>
            <a:pPr indent="0" marL="0">
              <a:buNone/>
            </a:pPr>
            <a:r>
              <a:rPr lang="en-US" sz="1700" b="1" dirty="0">
                <a:solidFill>
                  <a:srgbClr val="FFFFFF"/>
                </a:solidFill>
                <a:latin typeface="Segoe UI Semibold" pitchFamily="34" charset="0"/>
                <a:ea typeface="Segoe UI Semibold" pitchFamily="34" charset="-122"/>
                <a:cs typeface="Segoe UI Semibold" pitchFamily="34" charset="-120"/>
              </a:rPr>
              <a:t>resmî kaynak</a:t>
            </a:r>
            <a:endParaRPr lang="en-US" sz="1700" dirty="0"/>
          </a:p>
        </p:txBody>
      </p:sp>
      <p:sp>
        <p:nvSpPr>
          <p:cNvPr id="20" name="Text 14"/>
          <p:cNvSpPr txBox="1"/>
          <p:nvPr/>
        </p:nvSpPr>
        <p:spPr>
          <a:xfrm>
            <a:off x="8366760" y="3401568"/>
            <a:ext cx="2926080" cy="365760"/>
          </a:xfrm>
          <a:prstGeom prst="rect">
            <a:avLst/>
          </a:prstGeom>
          <a:noFill/>
          <a:ln/>
        </p:spPr>
        <p:txBody>
          <a:bodyPr wrap="square" lIns="0" tIns="0" rIns="0" bIns="0" rtlCol="0" anchor="t"/>
          <a:lstStyle/>
          <a:p>
            <a:pPr indent="0" marL="0">
              <a:buNone/>
            </a:pPr>
            <a:r>
              <a:rPr lang="en-US" sz="1150" dirty="0">
                <a:solidFill>
                  <a:srgbClr val="C3CAE3"/>
                </a:solidFill>
                <a:latin typeface="Segoe UI" pitchFamily="34" charset="0"/>
                <a:ea typeface="Segoe UI" pitchFamily="34" charset="-122"/>
                <a:cs typeface="Segoe UI" pitchFamily="34" charset="-120"/>
              </a:rPr>
              <a:t>Günde birden fazla otomatik tarama</a:t>
            </a:r>
            <a:endParaRPr lang="en-US" sz="1150" dirty="0"/>
          </a:p>
        </p:txBody>
      </p:sp>
      <p:sp>
        <p:nvSpPr>
          <p:cNvPr id="21" name="Shape 15"/>
          <p:cNvSpPr/>
          <p:nvPr/>
        </p:nvSpPr>
        <p:spPr>
          <a:xfrm>
            <a:off x="7178040" y="4096512"/>
            <a:ext cx="3950208" cy="0"/>
          </a:xfrm>
          <a:prstGeom prst="line">
            <a:avLst/>
          </a:prstGeom>
          <a:noFill/>
          <a:ln w="12700">
            <a:solidFill>
              <a:srgbClr val="2E3A66"/>
            </a:solidFill>
            <a:prstDash val="solid"/>
          </a:ln>
        </p:spPr>
      </p:sp>
      <p:sp>
        <p:nvSpPr>
          <p:cNvPr id="22" name="Text 16"/>
          <p:cNvSpPr txBox="1"/>
          <p:nvPr/>
        </p:nvSpPr>
        <p:spPr>
          <a:xfrm>
            <a:off x="7178040" y="4270248"/>
            <a:ext cx="1097280" cy="914400"/>
          </a:xfrm>
          <a:prstGeom prst="rect">
            <a:avLst/>
          </a:prstGeom>
          <a:noFill/>
          <a:ln/>
        </p:spPr>
        <p:txBody>
          <a:bodyPr wrap="square" lIns="0" tIns="0" rIns="0" bIns="0" rtlCol="0" anchor="ctr"/>
          <a:lstStyle/>
          <a:p>
            <a:pPr indent="0" marL="0">
              <a:buNone/>
            </a:pPr>
            <a:r>
              <a:rPr lang="en-US" sz="5400" b="1" dirty="0">
                <a:solidFill>
                  <a:srgbClr val="FF8E38"/>
                </a:solidFill>
                <a:latin typeface="Segoe UI Semibold" pitchFamily="34" charset="0"/>
                <a:ea typeface="Segoe UI Semibold" pitchFamily="34" charset="-122"/>
                <a:cs typeface="Segoe UI Semibold" pitchFamily="34" charset="-120"/>
              </a:rPr>
              <a:t>7</a:t>
            </a:r>
            <a:endParaRPr lang="en-US" sz="5400" dirty="0"/>
          </a:p>
        </p:txBody>
      </p:sp>
      <p:sp>
        <p:nvSpPr>
          <p:cNvPr id="23" name="Text 17"/>
          <p:cNvSpPr txBox="1"/>
          <p:nvPr/>
        </p:nvSpPr>
        <p:spPr>
          <a:xfrm>
            <a:off x="8366760" y="4389120"/>
            <a:ext cx="2926080" cy="365760"/>
          </a:xfrm>
          <a:prstGeom prst="rect">
            <a:avLst/>
          </a:prstGeom>
          <a:noFill/>
          <a:ln/>
        </p:spPr>
        <p:txBody>
          <a:bodyPr wrap="square" lIns="0" tIns="0" rIns="0" bIns="0" rtlCol="0" anchor="t"/>
          <a:lstStyle/>
          <a:p>
            <a:pPr indent="0" marL="0">
              <a:buNone/>
            </a:pPr>
            <a:r>
              <a:rPr lang="en-US" sz="1700" b="1" dirty="0">
                <a:solidFill>
                  <a:srgbClr val="FFFFFF"/>
                </a:solidFill>
                <a:latin typeface="Segoe UI Semibold" pitchFamily="34" charset="0"/>
                <a:ea typeface="Segoe UI Semibold" pitchFamily="34" charset="-122"/>
                <a:cs typeface="Segoe UI Semibold" pitchFamily="34" charset="-120"/>
              </a:rPr>
              <a:t>başlıklı özet</a:t>
            </a:r>
            <a:endParaRPr lang="en-US" sz="1700" dirty="0"/>
          </a:p>
        </p:txBody>
      </p:sp>
      <p:sp>
        <p:nvSpPr>
          <p:cNvPr id="24" name="Text 18"/>
          <p:cNvSpPr txBox="1"/>
          <p:nvPr/>
        </p:nvSpPr>
        <p:spPr>
          <a:xfrm>
            <a:off x="8366760" y="4773168"/>
            <a:ext cx="2926080" cy="365760"/>
          </a:xfrm>
          <a:prstGeom prst="rect">
            <a:avLst/>
          </a:prstGeom>
          <a:noFill/>
          <a:ln/>
        </p:spPr>
        <p:txBody>
          <a:bodyPr wrap="square" lIns="0" tIns="0" rIns="0" bIns="0" rtlCol="0" anchor="t"/>
          <a:lstStyle/>
          <a:p>
            <a:pPr indent="0" marL="0">
              <a:buNone/>
            </a:pPr>
            <a:r>
              <a:rPr lang="en-US" sz="1150" dirty="0">
                <a:solidFill>
                  <a:srgbClr val="C3CAE3"/>
                </a:solidFill>
                <a:latin typeface="Segoe UI" pitchFamily="34" charset="0"/>
                <a:ea typeface="Segoe UI" pitchFamily="34" charset="-122"/>
                <a:cs typeface="Segoe UI" pitchFamily="34" charset="-120"/>
              </a:rPr>
              <a:t>Başkanlığın belirlediği yapılandırılmış format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Çözüm Diyagramı</a:t>
            </a:r>
            <a:endParaRPr lang="en-US" sz="2200" dirty="0"/>
          </a:p>
        </p:txBody>
      </p:sp>
      <p:sp>
        <p:nvSpPr>
          <p:cNvPr id="3" name="Shape 1"/>
          <p:cNvSpPr/>
          <p:nvPr/>
        </p:nvSpPr>
        <p:spPr>
          <a:xfrm>
            <a:off x="548640" y="1280160"/>
            <a:ext cx="1783080" cy="4526280"/>
          </a:xfrm>
          <a:prstGeom prst="roundRect">
            <a:avLst>
              <a:gd name="adj" fmla="val 6154"/>
            </a:avLst>
          </a:prstGeom>
          <a:solidFill>
            <a:srgbClr val="F4F5F8"/>
          </a:solidFill>
          <a:ln w="12700">
            <a:solidFill>
              <a:srgbClr val="F4F5F8"/>
            </a:solidFill>
            <a:prstDash val="solid"/>
          </a:ln>
        </p:spPr>
      </p:sp>
      <p:pic>
        <p:nvPicPr>
          <p:cNvPr id="4" name="Image 0" descr="icons/news_blue.png">    </p:cNvPr>
          <p:cNvPicPr>
            <a:picLocks noChangeAspect="1"/>
          </p:cNvPicPr>
          <p:nvPr/>
        </p:nvPicPr>
        <p:blipFill>
          <a:blip r:embed="rId1"/>
          <a:stretch>
            <a:fillRect/>
          </a:stretch>
        </p:blipFill>
        <p:spPr>
          <a:xfrm>
            <a:off x="713232" y="1463040"/>
            <a:ext cx="237744" cy="237744"/>
          </a:xfrm>
          <a:prstGeom prst="rect">
            <a:avLst/>
          </a:prstGeom>
        </p:spPr>
      </p:pic>
      <p:sp>
        <p:nvSpPr>
          <p:cNvPr id="5" name="Text 2"/>
          <p:cNvSpPr txBox="1"/>
          <p:nvPr/>
        </p:nvSpPr>
        <p:spPr>
          <a:xfrm>
            <a:off x="1005840" y="1389888"/>
            <a:ext cx="1234440" cy="384048"/>
          </a:xfrm>
          <a:prstGeom prst="rect">
            <a:avLst/>
          </a:prstGeom>
          <a:noFill/>
          <a:ln/>
        </p:spPr>
        <p:txBody>
          <a:bodyPr wrap="square" lIns="0" tIns="0" rIns="0" bIns="0" rtlCol="0" anchor="ctr"/>
          <a:lstStyle/>
          <a:p>
            <a:pPr indent="0" marL="0">
              <a:buNone/>
            </a:pPr>
            <a:r>
              <a:rPr lang="en-US" sz="950" b="1" spc="50" kern="0" dirty="0">
                <a:solidFill>
                  <a:srgbClr val="0012B0"/>
                </a:solidFill>
                <a:latin typeface="Segoe UI Semibold" pitchFamily="34" charset="0"/>
                <a:ea typeface="Segoe UI Semibold" pitchFamily="34" charset="-122"/>
                <a:cs typeface="Segoe UI Semibold" pitchFamily="34" charset="-120"/>
              </a:rPr>
              <a:t>KAYNAKLAR</a:t>
            </a:r>
            <a:endParaRPr lang="en-US" sz="950" dirty="0"/>
          </a:p>
        </p:txBody>
      </p:sp>
      <p:sp>
        <p:nvSpPr>
          <p:cNvPr id="6" name="Shape 3"/>
          <p:cNvSpPr/>
          <p:nvPr/>
        </p:nvSpPr>
        <p:spPr>
          <a:xfrm>
            <a:off x="2606040" y="1280160"/>
            <a:ext cx="2103120" cy="4526280"/>
          </a:xfrm>
          <a:prstGeom prst="roundRect">
            <a:avLst>
              <a:gd name="adj" fmla="val 5217"/>
            </a:avLst>
          </a:prstGeom>
          <a:solidFill>
            <a:srgbClr val="F4F5F8"/>
          </a:solidFill>
          <a:ln w="12700">
            <a:solidFill>
              <a:srgbClr val="F4F5F8"/>
            </a:solidFill>
            <a:prstDash val="solid"/>
          </a:ln>
        </p:spPr>
      </p:sp>
      <p:pic>
        <p:nvPicPr>
          <p:cNvPr id="7" name="Image 1" descr="icons/download_blue.png">    </p:cNvPr>
          <p:cNvPicPr>
            <a:picLocks noChangeAspect="1"/>
          </p:cNvPicPr>
          <p:nvPr/>
        </p:nvPicPr>
        <p:blipFill>
          <a:blip r:embed="rId2"/>
          <a:stretch>
            <a:fillRect/>
          </a:stretch>
        </p:blipFill>
        <p:spPr>
          <a:xfrm>
            <a:off x="2770632" y="1463040"/>
            <a:ext cx="237744" cy="237744"/>
          </a:xfrm>
          <a:prstGeom prst="rect">
            <a:avLst/>
          </a:prstGeom>
        </p:spPr>
      </p:pic>
      <p:sp>
        <p:nvSpPr>
          <p:cNvPr id="8" name="Text 4"/>
          <p:cNvSpPr txBox="1"/>
          <p:nvPr/>
        </p:nvSpPr>
        <p:spPr>
          <a:xfrm>
            <a:off x="3063240" y="1389888"/>
            <a:ext cx="1554480" cy="384048"/>
          </a:xfrm>
          <a:prstGeom prst="rect">
            <a:avLst/>
          </a:prstGeom>
          <a:noFill/>
          <a:ln/>
        </p:spPr>
        <p:txBody>
          <a:bodyPr wrap="square" lIns="0" tIns="0" rIns="0" bIns="0" rtlCol="0" anchor="ctr"/>
          <a:lstStyle/>
          <a:p>
            <a:pPr indent="0" marL="0">
              <a:buNone/>
            </a:pPr>
            <a:r>
              <a:rPr lang="en-US" sz="950" b="1" spc="50" kern="0" dirty="0">
                <a:solidFill>
                  <a:srgbClr val="0012B0"/>
                </a:solidFill>
                <a:latin typeface="Segoe UI Semibold" pitchFamily="34" charset="0"/>
                <a:ea typeface="Segoe UI Semibold" pitchFamily="34" charset="-122"/>
                <a:cs typeface="Segoe UI Semibold" pitchFamily="34" charset="-120"/>
              </a:rPr>
              <a:t>TOPLAMA ve İŞLEME</a:t>
            </a:r>
            <a:endParaRPr lang="en-US" sz="950" dirty="0"/>
          </a:p>
        </p:txBody>
      </p:sp>
      <p:sp>
        <p:nvSpPr>
          <p:cNvPr id="9" name="Shape 5"/>
          <p:cNvSpPr/>
          <p:nvPr/>
        </p:nvSpPr>
        <p:spPr>
          <a:xfrm>
            <a:off x="4983480" y="1280160"/>
            <a:ext cx="2148840" cy="4526280"/>
          </a:xfrm>
          <a:prstGeom prst="roundRect">
            <a:avLst>
              <a:gd name="adj" fmla="val 5106"/>
            </a:avLst>
          </a:prstGeom>
          <a:solidFill>
            <a:srgbClr val="F4F5F8"/>
          </a:solidFill>
          <a:ln w="12700">
            <a:solidFill>
              <a:srgbClr val="F4F5F8"/>
            </a:solidFill>
            <a:prstDash val="solid"/>
          </a:ln>
        </p:spPr>
      </p:sp>
      <p:pic>
        <p:nvPicPr>
          <p:cNvPr id="10" name="Image 2" descr="icons/brain_blue.png">    </p:cNvPr>
          <p:cNvPicPr>
            <a:picLocks noChangeAspect="1"/>
          </p:cNvPicPr>
          <p:nvPr/>
        </p:nvPicPr>
        <p:blipFill>
          <a:blip r:embed="rId3"/>
          <a:stretch>
            <a:fillRect/>
          </a:stretch>
        </p:blipFill>
        <p:spPr>
          <a:xfrm>
            <a:off x="5148072" y="1463040"/>
            <a:ext cx="237744" cy="237744"/>
          </a:xfrm>
          <a:prstGeom prst="rect">
            <a:avLst/>
          </a:prstGeom>
        </p:spPr>
      </p:pic>
      <p:sp>
        <p:nvSpPr>
          <p:cNvPr id="11" name="Text 6"/>
          <p:cNvSpPr txBox="1"/>
          <p:nvPr/>
        </p:nvSpPr>
        <p:spPr>
          <a:xfrm>
            <a:off x="5440680" y="1389888"/>
            <a:ext cx="1600200" cy="384048"/>
          </a:xfrm>
          <a:prstGeom prst="rect">
            <a:avLst/>
          </a:prstGeom>
          <a:noFill/>
          <a:ln/>
        </p:spPr>
        <p:txBody>
          <a:bodyPr wrap="square" lIns="0" tIns="0" rIns="0" bIns="0" rtlCol="0" anchor="ctr"/>
          <a:lstStyle/>
          <a:p>
            <a:pPr indent="0" marL="0">
              <a:buNone/>
            </a:pPr>
            <a:r>
              <a:rPr lang="en-US" sz="950" b="1" spc="50" kern="0" dirty="0">
                <a:solidFill>
                  <a:srgbClr val="0012B0"/>
                </a:solidFill>
                <a:latin typeface="Segoe UI Semibold" pitchFamily="34" charset="0"/>
                <a:ea typeface="Segoe UI Semibold" pitchFamily="34" charset="-122"/>
                <a:cs typeface="Segoe UI Semibold" pitchFamily="34" charset="-120"/>
              </a:rPr>
              <a:t>YAPAY ZEKA ANALİZİ</a:t>
            </a:r>
            <a:endParaRPr lang="en-US" sz="950" dirty="0"/>
          </a:p>
        </p:txBody>
      </p:sp>
      <p:sp>
        <p:nvSpPr>
          <p:cNvPr id="12" name="Shape 7"/>
          <p:cNvSpPr/>
          <p:nvPr/>
        </p:nvSpPr>
        <p:spPr>
          <a:xfrm>
            <a:off x="7406640" y="1280160"/>
            <a:ext cx="2194560" cy="4526280"/>
          </a:xfrm>
          <a:prstGeom prst="roundRect">
            <a:avLst>
              <a:gd name="adj" fmla="val 5000"/>
            </a:avLst>
          </a:prstGeom>
          <a:solidFill>
            <a:srgbClr val="F4F5F8"/>
          </a:solidFill>
          <a:ln w="12700">
            <a:solidFill>
              <a:srgbClr val="F4F5F8"/>
            </a:solidFill>
            <a:prstDash val="solid"/>
          </a:ln>
        </p:spPr>
      </p:sp>
      <p:pic>
        <p:nvPicPr>
          <p:cNvPr id="13" name="Image 3" descr="icons/dash_blue.png">    </p:cNvPr>
          <p:cNvPicPr>
            <a:picLocks noChangeAspect="1"/>
          </p:cNvPicPr>
          <p:nvPr/>
        </p:nvPicPr>
        <p:blipFill>
          <a:blip r:embed="rId4"/>
          <a:stretch>
            <a:fillRect/>
          </a:stretch>
        </p:blipFill>
        <p:spPr>
          <a:xfrm>
            <a:off x="7571232" y="1463040"/>
            <a:ext cx="237744" cy="237744"/>
          </a:xfrm>
          <a:prstGeom prst="rect">
            <a:avLst/>
          </a:prstGeom>
        </p:spPr>
      </p:pic>
      <p:sp>
        <p:nvSpPr>
          <p:cNvPr id="14" name="Text 8"/>
          <p:cNvSpPr txBox="1"/>
          <p:nvPr/>
        </p:nvSpPr>
        <p:spPr>
          <a:xfrm>
            <a:off x="7863840" y="1389888"/>
            <a:ext cx="1645920" cy="384048"/>
          </a:xfrm>
          <a:prstGeom prst="rect">
            <a:avLst/>
          </a:prstGeom>
          <a:noFill/>
          <a:ln/>
        </p:spPr>
        <p:txBody>
          <a:bodyPr wrap="square" lIns="0" tIns="0" rIns="0" bIns="0" rtlCol="0" anchor="ctr"/>
          <a:lstStyle/>
          <a:p>
            <a:pPr indent="0" marL="0">
              <a:buNone/>
            </a:pPr>
            <a:r>
              <a:rPr lang="en-US" sz="950" b="1" spc="50" kern="0" dirty="0">
                <a:solidFill>
                  <a:srgbClr val="0012B0"/>
                </a:solidFill>
                <a:latin typeface="Segoe UI Semibold" pitchFamily="34" charset="0"/>
                <a:ea typeface="Segoe UI Semibold" pitchFamily="34" charset="-122"/>
                <a:cs typeface="Segoe UI Semibold" pitchFamily="34" charset="-120"/>
              </a:rPr>
              <a:t>PORTAL</a:t>
            </a:r>
            <a:endParaRPr lang="en-US" sz="950" dirty="0"/>
          </a:p>
        </p:txBody>
      </p:sp>
      <p:sp>
        <p:nvSpPr>
          <p:cNvPr id="15" name="Shape 9"/>
          <p:cNvSpPr/>
          <p:nvPr/>
        </p:nvSpPr>
        <p:spPr>
          <a:xfrm>
            <a:off x="9875520" y="1280160"/>
            <a:ext cx="1764792" cy="4526280"/>
          </a:xfrm>
          <a:prstGeom prst="roundRect">
            <a:avLst>
              <a:gd name="adj" fmla="val 6218"/>
            </a:avLst>
          </a:prstGeom>
          <a:solidFill>
            <a:srgbClr val="FDECEC"/>
          </a:solidFill>
          <a:ln w="12700">
            <a:solidFill>
              <a:srgbClr val="E9474E"/>
            </a:solidFill>
            <a:prstDash val="dash"/>
          </a:ln>
        </p:spPr>
      </p:sp>
      <p:pic>
        <p:nvPicPr>
          <p:cNvPr id="16" name="Image 4" descr="icons/send_red.png">    </p:cNvPr>
          <p:cNvPicPr>
            <a:picLocks noChangeAspect="1"/>
          </p:cNvPicPr>
          <p:nvPr/>
        </p:nvPicPr>
        <p:blipFill>
          <a:blip r:embed="rId5"/>
          <a:stretch>
            <a:fillRect/>
          </a:stretch>
        </p:blipFill>
        <p:spPr>
          <a:xfrm>
            <a:off x="10040112" y="1463040"/>
            <a:ext cx="237744" cy="237744"/>
          </a:xfrm>
          <a:prstGeom prst="rect">
            <a:avLst/>
          </a:prstGeom>
        </p:spPr>
      </p:pic>
      <p:sp>
        <p:nvSpPr>
          <p:cNvPr id="17" name="Text 10"/>
          <p:cNvSpPr txBox="1"/>
          <p:nvPr/>
        </p:nvSpPr>
        <p:spPr>
          <a:xfrm>
            <a:off x="10332720" y="1389888"/>
            <a:ext cx="1216152" cy="384048"/>
          </a:xfrm>
          <a:prstGeom prst="rect">
            <a:avLst/>
          </a:prstGeom>
          <a:noFill/>
          <a:ln/>
        </p:spPr>
        <p:txBody>
          <a:bodyPr wrap="square" lIns="0" tIns="0" rIns="0" bIns="0" rtlCol="0" anchor="ctr"/>
          <a:lstStyle/>
          <a:p>
            <a:pPr indent="0" marL="0">
              <a:buNone/>
            </a:pPr>
            <a:r>
              <a:rPr lang="en-US" sz="950" b="1" spc="50" kern="0" dirty="0">
                <a:solidFill>
                  <a:srgbClr val="E9474E"/>
                </a:solidFill>
                <a:latin typeface="Segoe UI Semibold" pitchFamily="34" charset="0"/>
                <a:ea typeface="Segoe UI Semibold" pitchFamily="34" charset="-122"/>
                <a:cs typeface="Segoe UI Semibold" pitchFamily="34" charset="-120"/>
              </a:rPr>
              <a:t>FAZ 2 · KAPSAM DIŞI</a:t>
            </a:r>
            <a:endParaRPr lang="en-US" sz="950" dirty="0"/>
          </a:p>
        </p:txBody>
      </p:sp>
      <p:sp>
        <p:nvSpPr>
          <p:cNvPr id="18" name="Shape 11"/>
          <p:cNvSpPr/>
          <p:nvPr/>
        </p:nvSpPr>
        <p:spPr>
          <a:xfrm>
            <a:off x="676656" y="1828800"/>
            <a:ext cx="1527048" cy="777240"/>
          </a:xfrm>
          <a:prstGeom prst="roundRect">
            <a:avLst>
              <a:gd name="adj" fmla="val 9412"/>
            </a:avLst>
          </a:prstGeom>
          <a:solidFill>
            <a:srgbClr val="FFFFFF"/>
          </a:solidFill>
          <a:ln w="12700">
            <a:solidFill>
              <a:srgbClr val="E1E5F0"/>
            </a:solidFill>
            <a:prstDash val="solid"/>
          </a:ln>
        </p:spPr>
      </p:sp>
      <p:sp>
        <p:nvSpPr>
          <p:cNvPr id="19" name="Text 12"/>
          <p:cNvSpPr txBox="1"/>
          <p:nvPr/>
        </p:nvSpPr>
        <p:spPr>
          <a:xfrm>
            <a:off x="786384" y="1911096"/>
            <a:ext cx="130759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Resmî Gazete</a:t>
            </a:r>
            <a:endParaRPr lang="en-US" sz="1050" dirty="0"/>
          </a:p>
        </p:txBody>
      </p:sp>
      <p:sp>
        <p:nvSpPr>
          <p:cNvPr id="20" name="Text 13"/>
          <p:cNvSpPr txBox="1"/>
          <p:nvPr/>
        </p:nvSpPr>
        <p:spPr>
          <a:xfrm>
            <a:off x="786384" y="2194560"/>
            <a:ext cx="1307592" cy="37490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Asıl ve mükerrer sayılar</a:t>
            </a:r>
            <a:endParaRPr lang="en-US" sz="950" dirty="0"/>
          </a:p>
        </p:txBody>
      </p:sp>
      <p:sp>
        <p:nvSpPr>
          <p:cNvPr id="21" name="Shape 14"/>
          <p:cNvSpPr/>
          <p:nvPr/>
        </p:nvSpPr>
        <p:spPr>
          <a:xfrm>
            <a:off x="676656" y="2743200"/>
            <a:ext cx="1527048" cy="1325880"/>
          </a:xfrm>
          <a:prstGeom prst="roundRect">
            <a:avLst>
              <a:gd name="adj" fmla="val 5517"/>
            </a:avLst>
          </a:prstGeom>
          <a:solidFill>
            <a:srgbClr val="FFFFFF"/>
          </a:solidFill>
          <a:ln w="12700">
            <a:solidFill>
              <a:srgbClr val="E1E5F0"/>
            </a:solidFill>
            <a:prstDash val="solid"/>
          </a:ln>
        </p:spPr>
      </p:sp>
      <p:sp>
        <p:nvSpPr>
          <p:cNvPr id="22" name="Text 15"/>
          <p:cNvSpPr txBox="1"/>
          <p:nvPr/>
        </p:nvSpPr>
        <p:spPr>
          <a:xfrm>
            <a:off x="786384" y="2825496"/>
            <a:ext cx="130759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Kurum Siteleri</a:t>
            </a:r>
            <a:endParaRPr lang="en-US" sz="1050" dirty="0"/>
          </a:p>
        </p:txBody>
      </p:sp>
      <p:sp>
        <p:nvSpPr>
          <p:cNvPr id="23" name="Text 16"/>
          <p:cNvSpPr txBox="1"/>
          <p:nvPr/>
        </p:nvSpPr>
        <p:spPr>
          <a:xfrm>
            <a:off x="786384" y="3108960"/>
            <a:ext cx="1307592" cy="92354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BDDK · SPK · TCMB · KVKK · MASAK · Ticaret Bakanlığı · Rekabet Kurumu · TKBB</a:t>
            </a:r>
            <a:endParaRPr lang="en-US" sz="950" dirty="0"/>
          </a:p>
        </p:txBody>
      </p:sp>
      <p:sp>
        <p:nvSpPr>
          <p:cNvPr id="24" name="Shape 17"/>
          <p:cNvSpPr/>
          <p:nvPr/>
        </p:nvSpPr>
        <p:spPr>
          <a:xfrm>
            <a:off x="676656" y="4206240"/>
            <a:ext cx="1527048" cy="777240"/>
          </a:xfrm>
          <a:prstGeom prst="roundRect">
            <a:avLst>
              <a:gd name="adj" fmla="val 9412"/>
            </a:avLst>
          </a:prstGeom>
          <a:solidFill>
            <a:srgbClr val="FFFFFF"/>
          </a:solidFill>
          <a:ln w="12700">
            <a:solidFill>
              <a:srgbClr val="E1E5F0"/>
            </a:solidFill>
            <a:prstDash val="solid"/>
          </a:ln>
        </p:spPr>
      </p:sp>
      <p:sp>
        <p:nvSpPr>
          <p:cNvPr id="25" name="Text 18"/>
          <p:cNvSpPr txBox="1"/>
          <p:nvPr/>
        </p:nvSpPr>
        <p:spPr>
          <a:xfrm>
            <a:off x="786384" y="4288536"/>
            <a:ext cx="130759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Banka KEP</a:t>
            </a:r>
            <a:endParaRPr lang="en-US" sz="1050" dirty="0"/>
          </a:p>
        </p:txBody>
      </p:sp>
      <p:sp>
        <p:nvSpPr>
          <p:cNvPr id="26" name="Text 19"/>
          <p:cNvSpPr txBox="1"/>
          <p:nvPr/>
        </p:nvSpPr>
        <p:spPr>
          <a:xfrm>
            <a:off x="786384" y="4572000"/>
            <a:ext cx="1307592" cy="37490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Mevzuat içerikli resmi yazılar</a:t>
            </a:r>
            <a:endParaRPr lang="en-US" sz="950" dirty="0"/>
          </a:p>
        </p:txBody>
      </p:sp>
      <p:sp>
        <p:nvSpPr>
          <p:cNvPr id="27" name="Shape 20"/>
          <p:cNvSpPr/>
          <p:nvPr/>
        </p:nvSpPr>
        <p:spPr>
          <a:xfrm>
            <a:off x="2734056" y="1828800"/>
            <a:ext cx="1847088" cy="914400"/>
          </a:xfrm>
          <a:prstGeom prst="roundRect">
            <a:avLst>
              <a:gd name="adj" fmla="val 8000"/>
            </a:avLst>
          </a:prstGeom>
          <a:solidFill>
            <a:srgbClr val="FFFFFF"/>
          </a:solidFill>
          <a:ln w="12700">
            <a:solidFill>
              <a:srgbClr val="E1E5F0"/>
            </a:solidFill>
            <a:prstDash val="solid"/>
          </a:ln>
        </p:spPr>
      </p:sp>
      <p:sp>
        <p:nvSpPr>
          <p:cNvPr id="28" name="Text 21"/>
          <p:cNvSpPr txBox="1"/>
          <p:nvPr/>
        </p:nvSpPr>
        <p:spPr>
          <a:xfrm>
            <a:off x="2843784" y="1911096"/>
            <a:ext cx="162763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Kaynak Adaptörleri</a:t>
            </a:r>
            <a:endParaRPr lang="en-US" sz="1050" dirty="0"/>
          </a:p>
        </p:txBody>
      </p:sp>
      <p:sp>
        <p:nvSpPr>
          <p:cNvPr id="29" name="Text 22"/>
          <p:cNvSpPr txBox="1"/>
          <p:nvPr/>
        </p:nvSpPr>
        <p:spPr>
          <a:xfrm>
            <a:off x="2843784" y="2194560"/>
            <a:ext cx="1627632" cy="51206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Periyodik tarama, değişiklik tespiti, ham arşiv</a:t>
            </a:r>
            <a:endParaRPr lang="en-US" sz="950" dirty="0"/>
          </a:p>
        </p:txBody>
      </p:sp>
      <p:sp>
        <p:nvSpPr>
          <p:cNvPr id="30" name="Shape 23"/>
          <p:cNvSpPr/>
          <p:nvPr/>
        </p:nvSpPr>
        <p:spPr>
          <a:xfrm>
            <a:off x="2734056" y="2880360"/>
            <a:ext cx="1847088" cy="777240"/>
          </a:xfrm>
          <a:prstGeom prst="roundRect">
            <a:avLst>
              <a:gd name="adj" fmla="val 9412"/>
            </a:avLst>
          </a:prstGeom>
          <a:solidFill>
            <a:srgbClr val="FFFFFF"/>
          </a:solidFill>
          <a:ln w="12700">
            <a:solidFill>
              <a:srgbClr val="E1E5F0"/>
            </a:solidFill>
            <a:prstDash val="solid"/>
          </a:ln>
        </p:spPr>
      </p:sp>
      <p:sp>
        <p:nvSpPr>
          <p:cNvPr id="31" name="Text 24"/>
          <p:cNvSpPr txBox="1"/>
          <p:nvPr/>
        </p:nvSpPr>
        <p:spPr>
          <a:xfrm>
            <a:off x="2843784" y="2962656"/>
            <a:ext cx="162763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Metne Dönüştürme</a:t>
            </a:r>
            <a:endParaRPr lang="en-US" sz="1050" dirty="0"/>
          </a:p>
        </p:txBody>
      </p:sp>
      <p:sp>
        <p:nvSpPr>
          <p:cNvPr id="32" name="Text 25"/>
          <p:cNvSpPr txBox="1"/>
          <p:nvPr/>
        </p:nvSpPr>
        <p:spPr>
          <a:xfrm>
            <a:off x="2843784" y="3246120"/>
            <a:ext cx="1627632" cy="37490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PDF/HTML ayrıştırma, OCR</a:t>
            </a:r>
            <a:endParaRPr lang="en-US" sz="950" dirty="0"/>
          </a:p>
        </p:txBody>
      </p:sp>
      <p:sp>
        <p:nvSpPr>
          <p:cNvPr id="33" name="Shape 26"/>
          <p:cNvSpPr/>
          <p:nvPr/>
        </p:nvSpPr>
        <p:spPr>
          <a:xfrm>
            <a:off x="2734056" y="3794760"/>
            <a:ext cx="1847088" cy="777240"/>
          </a:xfrm>
          <a:prstGeom prst="roundRect">
            <a:avLst>
              <a:gd name="adj" fmla="val 9412"/>
            </a:avLst>
          </a:prstGeom>
          <a:solidFill>
            <a:srgbClr val="FFFFFF"/>
          </a:solidFill>
          <a:ln w="12700">
            <a:solidFill>
              <a:srgbClr val="E1E5F0"/>
            </a:solidFill>
            <a:prstDash val="solid"/>
          </a:ln>
        </p:spPr>
      </p:sp>
      <p:sp>
        <p:nvSpPr>
          <p:cNvPr id="34" name="Text 27"/>
          <p:cNvSpPr txBox="1"/>
          <p:nvPr/>
        </p:nvSpPr>
        <p:spPr>
          <a:xfrm>
            <a:off x="2843784" y="3877056"/>
            <a:ext cx="162763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Tekilleştirme</a:t>
            </a:r>
            <a:endParaRPr lang="en-US" sz="1050" dirty="0"/>
          </a:p>
        </p:txBody>
      </p:sp>
      <p:sp>
        <p:nvSpPr>
          <p:cNvPr id="35" name="Text 28"/>
          <p:cNvSpPr txBox="1"/>
          <p:nvPr/>
        </p:nvSpPr>
        <p:spPr>
          <a:xfrm>
            <a:off x="2843784" y="4160520"/>
            <a:ext cx="1627632" cy="37490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Aynı düzenleme tek kayıt</a:t>
            </a:r>
            <a:endParaRPr lang="en-US" sz="950" dirty="0"/>
          </a:p>
        </p:txBody>
      </p:sp>
      <p:sp>
        <p:nvSpPr>
          <p:cNvPr id="36" name="Shape 29"/>
          <p:cNvSpPr/>
          <p:nvPr/>
        </p:nvSpPr>
        <p:spPr>
          <a:xfrm>
            <a:off x="2734056" y="4754880"/>
            <a:ext cx="1847088" cy="731520"/>
          </a:xfrm>
          <a:prstGeom prst="roundRect">
            <a:avLst>
              <a:gd name="adj" fmla="val 10000"/>
            </a:avLst>
          </a:prstGeom>
          <a:solidFill>
            <a:srgbClr val="FFFFFF"/>
          </a:solidFill>
          <a:ln w="12700">
            <a:solidFill>
              <a:srgbClr val="9AA3C0"/>
            </a:solidFill>
            <a:prstDash val="dash"/>
          </a:ln>
        </p:spPr>
      </p:sp>
      <p:sp>
        <p:nvSpPr>
          <p:cNvPr id="37" name="Text 30"/>
          <p:cNvSpPr txBox="1"/>
          <p:nvPr/>
        </p:nvSpPr>
        <p:spPr>
          <a:xfrm>
            <a:off x="2843784" y="4837176"/>
            <a:ext cx="162763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Kaynak Sağlığı</a:t>
            </a:r>
            <a:endParaRPr lang="en-US" sz="1050" dirty="0"/>
          </a:p>
        </p:txBody>
      </p:sp>
      <p:sp>
        <p:nvSpPr>
          <p:cNvPr id="38" name="Text 31"/>
          <p:cNvSpPr txBox="1"/>
          <p:nvPr/>
        </p:nvSpPr>
        <p:spPr>
          <a:xfrm>
            <a:off x="2843784" y="5120640"/>
            <a:ext cx="1627632" cy="32918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İzleme ve alarm</a:t>
            </a:r>
            <a:endParaRPr lang="en-US" sz="950" dirty="0"/>
          </a:p>
        </p:txBody>
      </p:sp>
      <p:sp>
        <p:nvSpPr>
          <p:cNvPr id="39" name="Shape 32"/>
          <p:cNvSpPr/>
          <p:nvPr/>
        </p:nvSpPr>
        <p:spPr>
          <a:xfrm>
            <a:off x="5111496" y="1828800"/>
            <a:ext cx="1892808" cy="777240"/>
          </a:xfrm>
          <a:prstGeom prst="roundRect">
            <a:avLst>
              <a:gd name="adj" fmla="val 9412"/>
            </a:avLst>
          </a:prstGeom>
          <a:solidFill>
            <a:srgbClr val="FFFFFF"/>
          </a:solidFill>
          <a:ln w="12700">
            <a:solidFill>
              <a:srgbClr val="E1E5F0"/>
            </a:solidFill>
            <a:prstDash val="solid"/>
          </a:ln>
        </p:spPr>
      </p:sp>
      <p:sp>
        <p:nvSpPr>
          <p:cNvPr id="40" name="Text 33"/>
          <p:cNvSpPr txBox="1"/>
          <p:nvPr/>
        </p:nvSpPr>
        <p:spPr>
          <a:xfrm>
            <a:off x="5221224" y="1911096"/>
            <a:ext cx="167335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İlgililik Tespiti</a:t>
            </a:r>
            <a:endParaRPr lang="en-US" sz="1050" dirty="0"/>
          </a:p>
        </p:txBody>
      </p:sp>
      <p:sp>
        <p:nvSpPr>
          <p:cNvPr id="41" name="Text 34"/>
          <p:cNvSpPr txBox="1"/>
          <p:nvPr/>
        </p:nvSpPr>
        <p:spPr>
          <a:xfrm>
            <a:off x="5221224" y="2194560"/>
            <a:ext cx="1673352" cy="37490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Bankayı ilgilendirir mi? + güven skoru</a:t>
            </a:r>
            <a:endParaRPr lang="en-US" sz="950" dirty="0"/>
          </a:p>
        </p:txBody>
      </p:sp>
      <p:sp>
        <p:nvSpPr>
          <p:cNvPr id="42" name="Shape 35"/>
          <p:cNvSpPr/>
          <p:nvPr/>
        </p:nvSpPr>
        <p:spPr>
          <a:xfrm>
            <a:off x="5111496" y="2697480"/>
            <a:ext cx="1892808" cy="749808"/>
          </a:xfrm>
          <a:prstGeom prst="roundRect">
            <a:avLst>
              <a:gd name="adj" fmla="val 9756"/>
            </a:avLst>
          </a:prstGeom>
          <a:solidFill>
            <a:srgbClr val="FFFFFF"/>
          </a:solidFill>
          <a:ln w="12700">
            <a:solidFill>
              <a:srgbClr val="E1E5F0"/>
            </a:solidFill>
            <a:prstDash val="solid"/>
          </a:ln>
        </p:spPr>
      </p:sp>
      <p:sp>
        <p:nvSpPr>
          <p:cNvPr id="43" name="Text 36"/>
          <p:cNvSpPr txBox="1"/>
          <p:nvPr/>
        </p:nvSpPr>
        <p:spPr>
          <a:xfrm>
            <a:off x="5221224" y="2779776"/>
            <a:ext cx="167335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Önceliklendirme</a:t>
            </a:r>
            <a:endParaRPr lang="en-US" sz="1050" dirty="0"/>
          </a:p>
        </p:txBody>
      </p:sp>
      <p:sp>
        <p:nvSpPr>
          <p:cNvPr id="44" name="Text 37"/>
          <p:cNvSpPr txBox="1"/>
          <p:nvPr/>
        </p:nvSpPr>
        <p:spPr>
          <a:xfrm>
            <a:off x="5221224" y="3063240"/>
            <a:ext cx="1673352" cy="347472"/>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Kritik · Yüksek · Orta · Düşük</a:t>
            </a:r>
            <a:endParaRPr lang="en-US" sz="950" dirty="0"/>
          </a:p>
        </p:txBody>
      </p:sp>
      <p:sp>
        <p:nvSpPr>
          <p:cNvPr id="45" name="Shape 38"/>
          <p:cNvSpPr/>
          <p:nvPr/>
        </p:nvSpPr>
        <p:spPr>
          <a:xfrm>
            <a:off x="5111496" y="3547872"/>
            <a:ext cx="1892808" cy="749808"/>
          </a:xfrm>
          <a:prstGeom prst="roundRect">
            <a:avLst>
              <a:gd name="adj" fmla="val 9756"/>
            </a:avLst>
          </a:prstGeom>
          <a:solidFill>
            <a:srgbClr val="FFFFFF"/>
          </a:solidFill>
          <a:ln w="12700">
            <a:solidFill>
              <a:srgbClr val="E1E5F0"/>
            </a:solidFill>
            <a:prstDash val="solid"/>
          </a:ln>
        </p:spPr>
      </p:sp>
      <p:sp>
        <p:nvSpPr>
          <p:cNvPr id="46" name="Text 39"/>
          <p:cNvSpPr txBox="1"/>
          <p:nvPr/>
        </p:nvSpPr>
        <p:spPr>
          <a:xfrm>
            <a:off x="5221224" y="3630168"/>
            <a:ext cx="167335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Özet Üretimi</a:t>
            </a:r>
            <a:endParaRPr lang="en-US" sz="1050" dirty="0"/>
          </a:p>
        </p:txBody>
      </p:sp>
      <p:sp>
        <p:nvSpPr>
          <p:cNvPr id="47" name="Text 40"/>
          <p:cNvSpPr txBox="1"/>
          <p:nvPr/>
        </p:nvSpPr>
        <p:spPr>
          <a:xfrm>
            <a:off x="5221224" y="3913632"/>
            <a:ext cx="1673352" cy="347472"/>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7 başlık, kaynak doğrulamalı</a:t>
            </a:r>
            <a:endParaRPr lang="en-US" sz="950" dirty="0"/>
          </a:p>
        </p:txBody>
      </p:sp>
      <p:sp>
        <p:nvSpPr>
          <p:cNvPr id="48" name="Shape 41"/>
          <p:cNvSpPr/>
          <p:nvPr/>
        </p:nvSpPr>
        <p:spPr>
          <a:xfrm>
            <a:off x="5111496" y="4398264"/>
            <a:ext cx="1892808" cy="777240"/>
          </a:xfrm>
          <a:prstGeom prst="roundRect">
            <a:avLst>
              <a:gd name="adj" fmla="val 9412"/>
            </a:avLst>
          </a:prstGeom>
          <a:solidFill>
            <a:srgbClr val="FFFFFF"/>
          </a:solidFill>
          <a:ln w="12700">
            <a:solidFill>
              <a:srgbClr val="E1E5F0"/>
            </a:solidFill>
            <a:prstDash val="solid"/>
          </a:ln>
        </p:spPr>
      </p:sp>
      <p:sp>
        <p:nvSpPr>
          <p:cNvPr id="49" name="Text 42"/>
          <p:cNvSpPr txBox="1"/>
          <p:nvPr/>
        </p:nvSpPr>
        <p:spPr>
          <a:xfrm>
            <a:off x="5221224" y="4480560"/>
            <a:ext cx="1673352" cy="256032"/>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Birim Eşleştirme</a:t>
            </a:r>
            <a:endParaRPr lang="en-US" sz="1050" dirty="0"/>
          </a:p>
        </p:txBody>
      </p:sp>
      <p:sp>
        <p:nvSpPr>
          <p:cNvPr id="50" name="Text 43"/>
          <p:cNvSpPr txBox="1"/>
          <p:nvPr/>
        </p:nvSpPr>
        <p:spPr>
          <a:xfrm>
            <a:off x="5221224" y="4764024"/>
            <a:ext cx="1673352" cy="37490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Görev tanımlarına göre gerekçeli öneri</a:t>
            </a:r>
            <a:endParaRPr lang="en-US" sz="950" dirty="0"/>
          </a:p>
        </p:txBody>
      </p:sp>
      <p:sp>
        <p:nvSpPr>
          <p:cNvPr id="51" name="Shape 44"/>
          <p:cNvSpPr/>
          <p:nvPr/>
        </p:nvSpPr>
        <p:spPr>
          <a:xfrm>
            <a:off x="5257800" y="5321808"/>
            <a:ext cx="1600200" cy="310896"/>
          </a:xfrm>
          <a:prstGeom prst="roundRect">
            <a:avLst>
              <a:gd name="adj" fmla="val 50000"/>
            </a:avLst>
          </a:prstGeom>
          <a:solidFill>
            <a:srgbClr val="EEF0FB"/>
          </a:solidFill>
          <a:ln w="12700">
            <a:solidFill>
              <a:srgbClr val="EEF0FB"/>
            </a:solidFill>
            <a:prstDash val="solid"/>
          </a:ln>
        </p:spPr>
      </p:sp>
      <p:sp>
        <p:nvSpPr>
          <p:cNvPr id="52" name="Text 45"/>
          <p:cNvSpPr txBox="1"/>
          <p:nvPr/>
        </p:nvSpPr>
        <p:spPr>
          <a:xfrm>
            <a:off x="5257800" y="5321808"/>
            <a:ext cx="1600200" cy="310896"/>
          </a:xfrm>
          <a:prstGeom prst="rect">
            <a:avLst/>
          </a:prstGeom>
          <a:noFill/>
          <a:ln/>
        </p:spPr>
        <p:txBody>
          <a:bodyPr wrap="square" lIns="0" tIns="0" rIns="0" bIns="0" rtlCol="0" anchor="ctr"/>
          <a:lstStyle/>
          <a:p>
            <a:pPr algn="ctr" indent="0" marL="0">
              <a:buNone/>
            </a:pPr>
            <a:r>
              <a:rPr lang="en-US" sz="950" dirty="0">
                <a:solidFill>
                  <a:srgbClr val="0012B0"/>
                </a:solidFill>
                <a:latin typeface="Segoe UI" pitchFamily="34" charset="0"/>
                <a:ea typeface="Segoe UI" pitchFamily="34" charset="-122"/>
                <a:cs typeface="Segoe UI" pitchFamily="34" charset="-120"/>
              </a:rPr>
              <a:t>Kurum içi LLM · few-shot</a:t>
            </a:r>
            <a:endParaRPr lang="en-US" sz="950" dirty="0"/>
          </a:p>
        </p:txBody>
      </p:sp>
      <p:sp>
        <p:nvSpPr>
          <p:cNvPr id="53" name="Shape 46"/>
          <p:cNvSpPr/>
          <p:nvPr/>
        </p:nvSpPr>
        <p:spPr>
          <a:xfrm>
            <a:off x="7534656" y="1828800"/>
            <a:ext cx="1938528" cy="1371600"/>
          </a:xfrm>
          <a:prstGeom prst="roundRect">
            <a:avLst>
              <a:gd name="adj" fmla="val 5333"/>
            </a:avLst>
          </a:prstGeom>
          <a:solidFill>
            <a:srgbClr val="FFFFFF"/>
          </a:solidFill>
          <a:ln w="12700">
            <a:solidFill>
              <a:srgbClr val="E1E5F0"/>
            </a:solidFill>
            <a:prstDash val="solid"/>
          </a:ln>
        </p:spPr>
      </p:sp>
      <p:sp>
        <p:nvSpPr>
          <p:cNvPr id="54" name="Text 47"/>
          <p:cNvSpPr txBox="1"/>
          <p:nvPr/>
        </p:nvSpPr>
        <p:spPr>
          <a:xfrm>
            <a:off x="7644384" y="1911096"/>
            <a:ext cx="1719072" cy="420624"/>
          </a:xfrm>
          <a:prstGeom prst="rect">
            <a:avLst/>
          </a:prstGeom>
          <a:noFill/>
          <a:ln/>
        </p:spPr>
        <p:txBody>
          <a:bodyPr wrap="square" lIns="0" tIns="0" rIns="0" bIns="0" rtlCol="0" anchor="t"/>
          <a:lstStyle/>
          <a:p>
            <a:pPr indent="0" marL="0">
              <a:buNone/>
            </a:pPr>
            <a:r>
              <a:rPr lang="en-US" sz="1050" b="1" dirty="0">
                <a:solidFill>
                  <a:srgbClr val="172144"/>
                </a:solidFill>
                <a:latin typeface="Segoe UI Semibold" pitchFamily="34" charset="0"/>
                <a:ea typeface="Segoe UI Semibold" pitchFamily="34" charset="-122"/>
                <a:cs typeface="Segoe UI Semibold" pitchFamily="34" charset="-120"/>
              </a:rPr>
              <a:t>Mevzuat Takip Portalı</a:t>
            </a:r>
            <a:endParaRPr lang="en-US" sz="1050" dirty="0"/>
          </a:p>
        </p:txBody>
      </p:sp>
      <p:sp>
        <p:nvSpPr>
          <p:cNvPr id="55" name="Text 48"/>
          <p:cNvSpPr txBox="1"/>
          <p:nvPr/>
        </p:nvSpPr>
        <p:spPr>
          <a:xfrm>
            <a:off x="7644384" y="2359152"/>
            <a:ext cx="1719072" cy="804672"/>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Liste, detay, onay/red, birim değiştirme, denetim izi</a:t>
            </a:r>
            <a:endParaRPr lang="en-US" sz="950" dirty="0"/>
          </a:p>
        </p:txBody>
      </p:sp>
      <p:sp>
        <p:nvSpPr>
          <p:cNvPr id="56" name="Shape 49"/>
          <p:cNvSpPr/>
          <p:nvPr/>
        </p:nvSpPr>
        <p:spPr>
          <a:xfrm>
            <a:off x="7534656" y="3383280"/>
            <a:ext cx="1938528" cy="868680"/>
          </a:xfrm>
          <a:prstGeom prst="roundRect">
            <a:avLst>
              <a:gd name="adj" fmla="val 8421"/>
            </a:avLst>
          </a:prstGeom>
          <a:solidFill>
            <a:srgbClr val="172144"/>
          </a:solidFill>
          <a:ln w="12700">
            <a:solidFill>
              <a:srgbClr val="172144"/>
            </a:solidFill>
            <a:prstDash val="solid"/>
          </a:ln>
        </p:spPr>
      </p:sp>
      <p:sp>
        <p:nvSpPr>
          <p:cNvPr id="57" name="Text 50"/>
          <p:cNvSpPr txBox="1"/>
          <p:nvPr/>
        </p:nvSpPr>
        <p:spPr>
          <a:xfrm>
            <a:off x="7644384" y="3465576"/>
            <a:ext cx="1719072" cy="256032"/>
          </a:xfrm>
          <a:prstGeom prst="rect">
            <a:avLst/>
          </a:prstGeom>
          <a:noFill/>
          <a:ln/>
        </p:spPr>
        <p:txBody>
          <a:bodyPr wrap="square" lIns="0" tIns="0" rIns="0" bIns="0" rtlCol="0" anchor="t"/>
          <a:lstStyle/>
          <a:p>
            <a:pPr indent="0" marL="0">
              <a:buNone/>
            </a:pPr>
            <a:r>
              <a:rPr lang="en-US" sz="1050" b="1" dirty="0">
                <a:solidFill>
                  <a:srgbClr val="FFFFFF"/>
                </a:solidFill>
                <a:latin typeface="Segoe UI Semibold" pitchFamily="34" charset="0"/>
                <a:ea typeface="Segoe UI Semibold" pitchFamily="34" charset="-122"/>
                <a:cs typeface="Segoe UI Semibold" pitchFamily="34" charset="-120"/>
              </a:rPr>
              <a:t>Başkanlık Kararı</a:t>
            </a:r>
            <a:endParaRPr lang="en-US" sz="1050" dirty="0"/>
          </a:p>
        </p:txBody>
      </p:sp>
      <p:sp>
        <p:nvSpPr>
          <p:cNvPr id="58" name="Text 51"/>
          <p:cNvSpPr txBox="1"/>
          <p:nvPr/>
        </p:nvSpPr>
        <p:spPr>
          <a:xfrm>
            <a:off x="7644384" y="3749040"/>
            <a:ext cx="1719072" cy="466344"/>
          </a:xfrm>
          <a:prstGeom prst="rect">
            <a:avLst/>
          </a:prstGeom>
          <a:noFill/>
          <a:ln/>
        </p:spPr>
        <p:txBody>
          <a:bodyPr wrap="square" lIns="0" tIns="0" rIns="0" bIns="0" rtlCol="0" anchor="t"/>
          <a:lstStyle/>
          <a:p>
            <a:pPr indent="0" marL="0">
              <a:buNone/>
            </a:pPr>
            <a:r>
              <a:rPr lang="en-US" sz="950" dirty="0">
                <a:solidFill>
                  <a:srgbClr val="C3CAE3"/>
                </a:solidFill>
                <a:latin typeface="Segoe UI" pitchFamily="34" charset="0"/>
                <a:ea typeface="Segoe UI" pitchFamily="34" charset="-122"/>
                <a:cs typeface="Segoe UI" pitchFamily="34" charset="-120"/>
              </a:rPr>
              <a:t>Nihai karar insan uzmanda</a:t>
            </a:r>
            <a:endParaRPr lang="en-US" sz="950" dirty="0"/>
          </a:p>
        </p:txBody>
      </p:sp>
      <p:sp>
        <p:nvSpPr>
          <p:cNvPr id="59" name="Shape 52"/>
          <p:cNvSpPr/>
          <p:nvPr/>
        </p:nvSpPr>
        <p:spPr>
          <a:xfrm>
            <a:off x="10003536" y="1828800"/>
            <a:ext cx="1508760" cy="960120"/>
          </a:xfrm>
          <a:prstGeom prst="roundRect">
            <a:avLst>
              <a:gd name="adj" fmla="val 7619"/>
            </a:avLst>
          </a:prstGeom>
          <a:solidFill>
            <a:srgbClr val="FFFFFF"/>
          </a:solidFill>
          <a:ln w="12700">
            <a:solidFill>
              <a:srgbClr val="E9474E"/>
            </a:solidFill>
            <a:prstDash val="dash"/>
          </a:ln>
        </p:spPr>
      </p:sp>
      <p:sp>
        <p:nvSpPr>
          <p:cNvPr id="60" name="Text 53"/>
          <p:cNvSpPr txBox="1"/>
          <p:nvPr/>
        </p:nvSpPr>
        <p:spPr>
          <a:xfrm>
            <a:off x="10113264" y="1911096"/>
            <a:ext cx="1289304" cy="256032"/>
          </a:xfrm>
          <a:prstGeom prst="rect">
            <a:avLst/>
          </a:prstGeom>
          <a:noFill/>
          <a:ln/>
        </p:spPr>
        <p:txBody>
          <a:bodyPr wrap="square" lIns="0" tIns="0" rIns="0" bIns="0" rtlCol="0" anchor="t"/>
          <a:lstStyle/>
          <a:p>
            <a:pPr indent="0" marL="0">
              <a:buNone/>
            </a:pPr>
            <a:r>
              <a:rPr lang="en-US" sz="1050" b="1" dirty="0">
                <a:solidFill>
                  <a:srgbClr val="B4232A"/>
                </a:solidFill>
                <a:latin typeface="Segoe UI Semibold" pitchFamily="34" charset="0"/>
                <a:ea typeface="Segoe UI Semibold" pitchFamily="34" charset="-122"/>
                <a:cs typeface="Segoe UI Semibold" pitchFamily="34" charset="-120"/>
              </a:rPr>
              <a:t>Outlook Bildirimi</a:t>
            </a:r>
            <a:endParaRPr lang="en-US" sz="1050" dirty="0"/>
          </a:p>
        </p:txBody>
      </p:sp>
      <p:sp>
        <p:nvSpPr>
          <p:cNvPr id="61" name="Text 54"/>
          <p:cNvSpPr txBox="1"/>
          <p:nvPr/>
        </p:nvSpPr>
        <p:spPr>
          <a:xfrm>
            <a:off x="10113264" y="2194560"/>
            <a:ext cx="1289304" cy="55778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Mevzuat Servisi e-posta adresine</a:t>
            </a:r>
            <a:endParaRPr lang="en-US" sz="950" dirty="0"/>
          </a:p>
        </p:txBody>
      </p:sp>
      <p:sp>
        <p:nvSpPr>
          <p:cNvPr id="62" name="Shape 55"/>
          <p:cNvSpPr/>
          <p:nvPr/>
        </p:nvSpPr>
        <p:spPr>
          <a:xfrm>
            <a:off x="10003536" y="2926080"/>
            <a:ext cx="1508760" cy="1143000"/>
          </a:xfrm>
          <a:prstGeom prst="roundRect">
            <a:avLst>
              <a:gd name="adj" fmla="val 6400"/>
            </a:avLst>
          </a:prstGeom>
          <a:solidFill>
            <a:srgbClr val="FFFFFF"/>
          </a:solidFill>
          <a:ln w="12700">
            <a:solidFill>
              <a:srgbClr val="E9474E"/>
            </a:solidFill>
            <a:prstDash val="dash"/>
          </a:ln>
        </p:spPr>
      </p:sp>
      <p:sp>
        <p:nvSpPr>
          <p:cNvPr id="63" name="Text 56"/>
          <p:cNvSpPr txBox="1"/>
          <p:nvPr/>
        </p:nvSpPr>
        <p:spPr>
          <a:xfrm>
            <a:off x="10113264" y="3008376"/>
            <a:ext cx="1289304" cy="420624"/>
          </a:xfrm>
          <a:prstGeom prst="rect">
            <a:avLst/>
          </a:prstGeom>
          <a:noFill/>
          <a:ln/>
        </p:spPr>
        <p:txBody>
          <a:bodyPr wrap="square" lIns="0" tIns="0" rIns="0" bIns="0" rtlCol="0" anchor="t"/>
          <a:lstStyle/>
          <a:p>
            <a:pPr indent="0" marL="0">
              <a:buNone/>
            </a:pPr>
            <a:r>
              <a:rPr lang="en-US" sz="1050" b="1" dirty="0">
                <a:solidFill>
                  <a:srgbClr val="B4232A"/>
                </a:solidFill>
                <a:latin typeface="Segoe UI Semibold" pitchFamily="34" charset="0"/>
                <a:ea typeface="Segoe UI Semibold" pitchFamily="34" charset="-122"/>
                <a:cs typeface="Segoe UI Semibold" pitchFamily="34" charset="-120"/>
              </a:rPr>
              <a:t>Otomatik Yönlendirme</a:t>
            </a:r>
            <a:endParaRPr lang="en-US" sz="1050" dirty="0"/>
          </a:p>
        </p:txBody>
      </p:sp>
      <p:sp>
        <p:nvSpPr>
          <p:cNvPr id="64" name="Text 57"/>
          <p:cNvSpPr txBox="1"/>
          <p:nvPr/>
        </p:nvSpPr>
        <p:spPr>
          <a:xfrm>
            <a:off x="10113264" y="3456432"/>
            <a:ext cx="1289304" cy="576072"/>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Onay sonrası ilgili birime</a:t>
            </a:r>
            <a:endParaRPr lang="en-US" sz="950" dirty="0"/>
          </a:p>
        </p:txBody>
      </p:sp>
      <p:sp>
        <p:nvSpPr>
          <p:cNvPr id="65" name="Shape 58"/>
          <p:cNvSpPr/>
          <p:nvPr/>
        </p:nvSpPr>
        <p:spPr>
          <a:xfrm>
            <a:off x="10003536" y="4206240"/>
            <a:ext cx="1508760" cy="1005840"/>
          </a:xfrm>
          <a:prstGeom prst="roundRect">
            <a:avLst>
              <a:gd name="adj" fmla="val 7273"/>
            </a:avLst>
          </a:prstGeom>
          <a:solidFill>
            <a:srgbClr val="FFFFFF"/>
          </a:solidFill>
          <a:ln w="12700">
            <a:solidFill>
              <a:srgbClr val="E9474E"/>
            </a:solidFill>
            <a:prstDash val="dash"/>
          </a:ln>
        </p:spPr>
      </p:sp>
      <p:sp>
        <p:nvSpPr>
          <p:cNvPr id="66" name="Text 59"/>
          <p:cNvSpPr txBox="1"/>
          <p:nvPr/>
        </p:nvSpPr>
        <p:spPr>
          <a:xfrm>
            <a:off x="10113264" y="4288536"/>
            <a:ext cx="1289304" cy="256032"/>
          </a:xfrm>
          <a:prstGeom prst="rect">
            <a:avLst/>
          </a:prstGeom>
          <a:noFill/>
          <a:ln/>
        </p:spPr>
        <p:txBody>
          <a:bodyPr wrap="square" lIns="0" tIns="0" rIns="0" bIns="0" rtlCol="0" anchor="t"/>
          <a:lstStyle/>
          <a:p>
            <a:pPr indent="0" marL="0">
              <a:buNone/>
            </a:pPr>
            <a:r>
              <a:rPr lang="en-US" sz="1050" b="1" dirty="0">
                <a:solidFill>
                  <a:srgbClr val="B4232A"/>
                </a:solidFill>
                <a:latin typeface="Segoe UI Semibold" pitchFamily="34" charset="0"/>
                <a:ea typeface="Segoe UI Semibold" pitchFamily="34" charset="-122"/>
                <a:cs typeface="Segoe UI Semibold" pitchFamily="34" charset="-120"/>
              </a:rPr>
              <a:t>Birim Bildirimi</a:t>
            </a:r>
            <a:endParaRPr lang="en-US" sz="1050" dirty="0"/>
          </a:p>
        </p:txBody>
      </p:sp>
      <p:sp>
        <p:nvSpPr>
          <p:cNvPr id="67" name="Text 60"/>
          <p:cNvSpPr txBox="1"/>
          <p:nvPr/>
        </p:nvSpPr>
        <p:spPr>
          <a:xfrm>
            <a:off x="10113264" y="4572000"/>
            <a:ext cx="1289304" cy="603504"/>
          </a:xfrm>
          <a:prstGeom prst="rect">
            <a:avLst/>
          </a:prstGeom>
          <a:noFill/>
          <a:ln/>
        </p:spPr>
        <p:txBody>
          <a:bodyPr wrap="square" lIns="0" tIns="0" rIns="0" bIns="0" rtlCol="0" anchor="t"/>
          <a:lstStyle/>
          <a:p>
            <a:pPr indent="0" marL="0">
              <a:buNone/>
            </a:pPr>
            <a:r>
              <a:rPr lang="en-US" sz="950" dirty="0">
                <a:solidFill>
                  <a:srgbClr val="6B7280"/>
                </a:solidFill>
                <a:latin typeface="Segoe UI" pitchFamily="34" charset="0"/>
                <a:ea typeface="Segoe UI" pitchFamily="34" charset="-122"/>
                <a:cs typeface="Segoe UI" pitchFamily="34" charset="-120"/>
              </a:rPr>
              <a:t>Onaylanan kaydın birime iletilmesi</a:t>
            </a:r>
            <a:endParaRPr lang="en-US" sz="950" dirty="0"/>
          </a:p>
        </p:txBody>
      </p:sp>
      <p:sp>
        <p:nvSpPr>
          <p:cNvPr id="68" name="Shape 61"/>
          <p:cNvSpPr/>
          <p:nvPr/>
        </p:nvSpPr>
        <p:spPr>
          <a:xfrm>
            <a:off x="2359152" y="3429000"/>
            <a:ext cx="219456" cy="0"/>
          </a:xfrm>
          <a:prstGeom prst="line">
            <a:avLst/>
          </a:prstGeom>
          <a:noFill/>
          <a:ln w="19050">
            <a:solidFill>
              <a:srgbClr val="9AA3C0"/>
            </a:solidFill>
            <a:prstDash val="solid"/>
            <a:tailEnd type="triangle"/>
          </a:ln>
        </p:spPr>
      </p:sp>
      <p:sp>
        <p:nvSpPr>
          <p:cNvPr id="69" name="Shape 62"/>
          <p:cNvSpPr/>
          <p:nvPr/>
        </p:nvSpPr>
        <p:spPr>
          <a:xfrm>
            <a:off x="4736592" y="3429000"/>
            <a:ext cx="219456" cy="0"/>
          </a:xfrm>
          <a:prstGeom prst="line">
            <a:avLst/>
          </a:prstGeom>
          <a:noFill/>
          <a:ln w="19050">
            <a:solidFill>
              <a:srgbClr val="9AA3C0"/>
            </a:solidFill>
            <a:prstDash val="solid"/>
            <a:tailEnd type="triangle"/>
          </a:ln>
        </p:spPr>
      </p:sp>
      <p:sp>
        <p:nvSpPr>
          <p:cNvPr id="70" name="Shape 63"/>
          <p:cNvSpPr/>
          <p:nvPr/>
        </p:nvSpPr>
        <p:spPr>
          <a:xfrm>
            <a:off x="7159752" y="3429000"/>
            <a:ext cx="219456" cy="0"/>
          </a:xfrm>
          <a:prstGeom prst="line">
            <a:avLst/>
          </a:prstGeom>
          <a:noFill/>
          <a:ln w="19050">
            <a:solidFill>
              <a:srgbClr val="9AA3C0"/>
            </a:solidFill>
            <a:prstDash val="solid"/>
            <a:tailEnd type="triangle"/>
          </a:ln>
        </p:spPr>
      </p:sp>
      <p:sp>
        <p:nvSpPr>
          <p:cNvPr id="71" name="Shape 64"/>
          <p:cNvSpPr/>
          <p:nvPr/>
        </p:nvSpPr>
        <p:spPr>
          <a:xfrm>
            <a:off x="9628632" y="3429000"/>
            <a:ext cx="219456" cy="0"/>
          </a:xfrm>
          <a:prstGeom prst="line">
            <a:avLst/>
          </a:prstGeom>
          <a:noFill/>
          <a:ln w="19050">
            <a:solidFill>
              <a:srgbClr val="E9474E"/>
            </a:solidFill>
            <a:prstDash val="dash"/>
            <a:tailEnd type="triangle"/>
          </a:ln>
        </p:spPr>
      </p:sp>
      <p:sp>
        <p:nvSpPr>
          <p:cNvPr id="72" name="Shape 65"/>
          <p:cNvSpPr/>
          <p:nvPr/>
        </p:nvSpPr>
        <p:spPr>
          <a:xfrm>
            <a:off x="548640" y="6035040"/>
            <a:ext cx="256032" cy="182880"/>
          </a:xfrm>
          <a:prstGeom prst="roundRect">
            <a:avLst>
              <a:gd name="adj" fmla="val 20000"/>
            </a:avLst>
          </a:prstGeom>
          <a:solidFill>
            <a:srgbClr val="F4F5F8"/>
          </a:solidFill>
          <a:ln w="12700">
            <a:solidFill>
              <a:srgbClr val="9AA3C0"/>
            </a:solidFill>
            <a:prstDash val="solid"/>
          </a:ln>
        </p:spPr>
      </p:sp>
      <p:sp>
        <p:nvSpPr>
          <p:cNvPr id="73" name="Text 66"/>
          <p:cNvSpPr txBox="1"/>
          <p:nvPr/>
        </p:nvSpPr>
        <p:spPr>
          <a:xfrm>
            <a:off x="896112" y="598932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Kapsam içi (Faz 1)</a:t>
            </a:r>
            <a:endParaRPr lang="en-US" sz="1000" dirty="0"/>
          </a:p>
        </p:txBody>
      </p:sp>
      <p:sp>
        <p:nvSpPr>
          <p:cNvPr id="74" name="Shape 67"/>
          <p:cNvSpPr/>
          <p:nvPr/>
        </p:nvSpPr>
        <p:spPr>
          <a:xfrm>
            <a:off x="2651760" y="6035040"/>
            <a:ext cx="256032" cy="182880"/>
          </a:xfrm>
          <a:prstGeom prst="roundRect">
            <a:avLst>
              <a:gd name="adj" fmla="val 20000"/>
            </a:avLst>
          </a:prstGeom>
          <a:solidFill>
            <a:srgbClr val="FDECEC"/>
          </a:solidFill>
          <a:ln w="12700">
            <a:solidFill>
              <a:srgbClr val="E9474E"/>
            </a:solidFill>
            <a:prstDash val="dash"/>
          </a:ln>
        </p:spPr>
      </p:sp>
      <p:sp>
        <p:nvSpPr>
          <p:cNvPr id="75" name="Text 68"/>
          <p:cNvSpPr txBox="1"/>
          <p:nvPr/>
        </p:nvSpPr>
        <p:spPr>
          <a:xfrm>
            <a:off x="2999232" y="598932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Segoe UI" pitchFamily="34" charset="0"/>
                <a:ea typeface="Segoe UI" pitchFamily="34" charset="-122"/>
                <a:cs typeface="Segoe UI" pitchFamily="34" charset="-120"/>
              </a:rPr>
              <a:t>Kapsam dışı (Faz 2)</a:t>
            </a:r>
            <a:endParaRPr lang="en-US" sz="1000" dirty="0"/>
          </a:p>
        </p:txBody>
      </p:sp>
      <p:sp>
        <p:nvSpPr>
          <p:cNvPr id="76" name="Text 69"/>
          <p:cNvSpPr txBox="1"/>
          <p:nvPr/>
        </p:nvSpPr>
        <p:spPr>
          <a:xfrm>
            <a:off x="5669280" y="5989320"/>
            <a:ext cx="5971032" cy="274320"/>
          </a:xfrm>
          <a:prstGeom prst="rect">
            <a:avLst/>
          </a:prstGeom>
          <a:noFill/>
          <a:ln/>
        </p:spPr>
        <p:txBody>
          <a:bodyPr wrap="square" lIns="0" tIns="0" rIns="0" bIns="0" rtlCol="0" anchor="ctr"/>
          <a:lstStyle/>
          <a:p>
            <a:pPr algn="r" indent="0" marL="0">
              <a:buNone/>
            </a:pPr>
            <a:r>
              <a:rPr lang="en-US" sz="1000" dirty="0">
                <a:solidFill>
                  <a:srgbClr val="6B7280"/>
                </a:solidFill>
                <a:latin typeface="Segoe UI" pitchFamily="34" charset="0"/>
                <a:ea typeface="Segoe UI" pitchFamily="34" charset="-122"/>
                <a:cs typeface="Segoe UI" pitchFamily="34" charset="-120"/>
              </a:rPr>
              <a:t>Kurum içi (on-prem) altyapı  ·  Dış kaynaklara DMZ üzerinden kontrollü erişim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Proje Kapsamı: 5 Ana Fonksiyon</a:t>
            </a:r>
            <a:endParaRPr lang="en-US" sz="2200" dirty="0"/>
          </a:p>
        </p:txBody>
      </p:sp>
      <p:sp>
        <p:nvSpPr>
          <p:cNvPr id="3" name="Text 1"/>
          <p:cNvSpPr txBox="1"/>
          <p:nvPr/>
        </p:nvSpPr>
        <p:spPr>
          <a:xfrm>
            <a:off x="694944" y="1097280"/>
            <a:ext cx="9144000" cy="320040"/>
          </a:xfrm>
          <a:prstGeom prst="rect">
            <a:avLst/>
          </a:prstGeom>
          <a:noFill/>
          <a:ln/>
        </p:spPr>
        <p:txBody>
          <a:bodyPr wrap="square" lIns="0" tIns="0" rIns="0" bIns="0" rtlCol="0" anchor="t"/>
          <a:lstStyle/>
          <a:p>
            <a:pPr indent="0" marL="0">
              <a:buNone/>
            </a:pPr>
            <a:r>
              <a:rPr lang="en-US" sz="1300" dirty="0">
                <a:solidFill>
                  <a:srgbClr val="6B7280"/>
                </a:solidFill>
                <a:latin typeface="Segoe UI" pitchFamily="34" charset="0"/>
                <a:ea typeface="Segoe UI" pitchFamily="34" charset="-122"/>
                <a:cs typeface="Segoe UI" pitchFamily="34" charset="-120"/>
              </a:rPr>
              <a:t>Talep kapsamında geliştirilecek uygulamanın temel fonksiyonları</a:t>
            </a:r>
            <a:endParaRPr lang="en-US" sz="1300" dirty="0"/>
          </a:p>
        </p:txBody>
      </p:sp>
      <p:sp>
        <p:nvSpPr>
          <p:cNvPr id="4" name="Shape 2"/>
          <p:cNvSpPr/>
          <p:nvPr/>
        </p:nvSpPr>
        <p:spPr>
          <a:xfrm>
            <a:off x="548640" y="1645920"/>
            <a:ext cx="2066544" cy="3246120"/>
          </a:xfrm>
          <a:prstGeom prst="roundRect">
            <a:avLst>
              <a:gd name="adj" fmla="val 6195"/>
            </a:avLst>
          </a:prstGeom>
          <a:solidFill>
            <a:srgbClr val="172144"/>
          </a:solidFill>
          <a:ln w="12700">
            <a:solidFill>
              <a:srgbClr val="172144"/>
            </a:solidFill>
            <a:prstDash val="solid"/>
          </a:ln>
        </p:spPr>
      </p:sp>
      <p:sp>
        <p:nvSpPr>
          <p:cNvPr id="5" name="Text 3"/>
          <p:cNvSpPr txBox="1"/>
          <p:nvPr/>
        </p:nvSpPr>
        <p:spPr>
          <a:xfrm>
            <a:off x="777240" y="1874520"/>
            <a:ext cx="548640" cy="274320"/>
          </a:xfrm>
          <a:prstGeom prst="rect">
            <a:avLst/>
          </a:prstGeom>
          <a:noFill/>
          <a:ln/>
        </p:spPr>
        <p:txBody>
          <a:bodyPr wrap="square" lIns="0" tIns="0" rIns="0" bIns="0" rtlCol="0" anchor="t"/>
          <a:lstStyle/>
          <a:p>
            <a:pPr indent="0" marL="0">
              <a:buNone/>
            </a:pPr>
            <a:r>
              <a:rPr lang="en-US" sz="1100" b="1" dirty="0">
                <a:solidFill>
                  <a:srgbClr val="FF8E38"/>
                </a:solidFill>
                <a:latin typeface="Segoe UI Semibold" pitchFamily="34" charset="0"/>
                <a:ea typeface="Segoe UI Semibold" pitchFamily="34" charset="-122"/>
                <a:cs typeface="Segoe UI Semibold" pitchFamily="34" charset="-120"/>
              </a:rPr>
              <a:t>01</a:t>
            </a:r>
            <a:endParaRPr lang="en-US" sz="1100" dirty="0"/>
          </a:p>
        </p:txBody>
      </p:sp>
      <p:sp>
        <p:nvSpPr>
          <p:cNvPr id="6" name="Shape 4"/>
          <p:cNvSpPr/>
          <p:nvPr/>
        </p:nvSpPr>
        <p:spPr>
          <a:xfrm>
            <a:off x="777240" y="2240280"/>
            <a:ext cx="658368" cy="658368"/>
          </a:xfrm>
          <a:prstGeom prst="ellipse">
            <a:avLst/>
          </a:prstGeom>
          <a:solidFill>
            <a:srgbClr val="2A3668"/>
          </a:solidFill>
          <a:ln w="12700">
            <a:solidFill>
              <a:srgbClr val="2A3668"/>
            </a:solidFill>
            <a:prstDash val="solid"/>
          </a:ln>
        </p:spPr>
      </p:sp>
      <p:pic>
        <p:nvPicPr>
          <p:cNvPr id="7" name="Image 0" descr="icons/radar_white.png">    </p:cNvPr>
          <p:cNvPicPr>
            <a:picLocks noChangeAspect="1"/>
          </p:cNvPicPr>
          <p:nvPr/>
        </p:nvPicPr>
        <p:blipFill>
          <a:blip r:embed="rId1"/>
          <a:stretch>
            <a:fillRect/>
          </a:stretch>
        </p:blipFill>
        <p:spPr>
          <a:xfrm>
            <a:off x="935248" y="2398288"/>
            <a:ext cx="342351" cy="342351"/>
          </a:xfrm>
          <a:prstGeom prst="rect">
            <a:avLst/>
          </a:prstGeom>
        </p:spPr>
      </p:pic>
      <p:sp>
        <p:nvSpPr>
          <p:cNvPr id="8" name="Text 5"/>
          <p:cNvSpPr txBox="1"/>
          <p:nvPr/>
        </p:nvSpPr>
        <p:spPr>
          <a:xfrm>
            <a:off x="777240" y="3063240"/>
            <a:ext cx="1655064" cy="566928"/>
          </a:xfrm>
          <a:prstGeom prst="rect">
            <a:avLst/>
          </a:prstGeom>
          <a:noFill/>
          <a:ln/>
        </p:spPr>
        <p:txBody>
          <a:bodyPr wrap="square" lIns="0" tIns="0" rIns="0" bIns="0" rtlCol="0" anchor="t"/>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Otomatik Kaynak Tarama</a:t>
            </a:r>
            <a:endParaRPr lang="en-US" sz="1400" dirty="0"/>
          </a:p>
        </p:txBody>
      </p:sp>
      <p:sp>
        <p:nvSpPr>
          <p:cNvPr id="9" name="Text 6"/>
          <p:cNvSpPr txBox="1"/>
          <p:nvPr/>
        </p:nvSpPr>
        <p:spPr>
          <a:xfrm>
            <a:off x="777240" y="3703320"/>
            <a:ext cx="1655064" cy="1051560"/>
          </a:xfrm>
          <a:prstGeom prst="rect">
            <a:avLst/>
          </a:prstGeom>
          <a:noFill/>
          <a:ln/>
        </p:spPr>
        <p:txBody>
          <a:bodyPr wrap="square" lIns="0" tIns="0" rIns="0" bIns="0" rtlCol="0" anchor="t"/>
          <a:lstStyle/>
          <a:p>
            <a:pPr indent="0" marL="0">
              <a:lnSpc>
                <a:spcPct val="110000"/>
              </a:lnSpc>
              <a:buNone/>
            </a:pPr>
            <a:r>
              <a:rPr lang="en-US" sz="1100" dirty="0">
                <a:solidFill>
                  <a:srgbClr val="C9D1EA"/>
                </a:solidFill>
                <a:latin typeface="Segoe UI" pitchFamily="34" charset="0"/>
                <a:ea typeface="Segoe UI" pitchFamily="34" charset="-122"/>
                <a:cs typeface="Segoe UI" pitchFamily="34" charset="-120"/>
              </a:rPr>
              <a:t>Resmî Gazete, 8 kurum sitesi ve KEP yazıları günde birden fazla pencerede otomatik taranır.</a:t>
            </a:r>
            <a:endParaRPr lang="en-US" sz="1100" dirty="0"/>
          </a:p>
        </p:txBody>
      </p:sp>
      <p:sp>
        <p:nvSpPr>
          <p:cNvPr id="10" name="Shape 7"/>
          <p:cNvSpPr/>
          <p:nvPr/>
        </p:nvSpPr>
        <p:spPr>
          <a:xfrm>
            <a:off x="2798064" y="1645920"/>
            <a:ext cx="2066544" cy="3246120"/>
          </a:xfrm>
          <a:prstGeom prst="roundRect">
            <a:avLst>
              <a:gd name="adj" fmla="val 6195"/>
            </a:avLst>
          </a:prstGeom>
          <a:solidFill>
            <a:srgbClr val="172144"/>
          </a:solidFill>
          <a:ln w="12700">
            <a:solidFill>
              <a:srgbClr val="172144"/>
            </a:solidFill>
            <a:prstDash val="solid"/>
          </a:ln>
        </p:spPr>
      </p:sp>
      <p:sp>
        <p:nvSpPr>
          <p:cNvPr id="11" name="Text 8"/>
          <p:cNvSpPr txBox="1"/>
          <p:nvPr/>
        </p:nvSpPr>
        <p:spPr>
          <a:xfrm>
            <a:off x="3026664" y="1874520"/>
            <a:ext cx="548640" cy="274320"/>
          </a:xfrm>
          <a:prstGeom prst="rect">
            <a:avLst/>
          </a:prstGeom>
          <a:noFill/>
          <a:ln/>
        </p:spPr>
        <p:txBody>
          <a:bodyPr wrap="square" lIns="0" tIns="0" rIns="0" bIns="0" rtlCol="0" anchor="t"/>
          <a:lstStyle/>
          <a:p>
            <a:pPr indent="0" marL="0">
              <a:buNone/>
            </a:pPr>
            <a:r>
              <a:rPr lang="en-US" sz="1100" b="1" dirty="0">
                <a:solidFill>
                  <a:srgbClr val="FF8E38"/>
                </a:solidFill>
                <a:latin typeface="Segoe UI Semibold" pitchFamily="34" charset="0"/>
                <a:ea typeface="Segoe UI Semibold" pitchFamily="34" charset="-122"/>
                <a:cs typeface="Segoe UI Semibold" pitchFamily="34" charset="-120"/>
              </a:rPr>
              <a:t>02</a:t>
            </a:r>
            <a:endParaRPr lang="en-US" sz="1100" dirty="0"/>
          </a:p>
        </p:txBody>
      </p:sp>
      <p:sp>
        <p:nvSpPr>
          <p:cNvPr id="12" name="Shape 9"/>
          <p:cNvSpPr/>
          <p:nvPr/>
        </p:nvSpPr>
        <p:spPr>
          <a:xfrm>
            <a:off x="3026664" y="2240280"/>
            <a:ext cx="658368" cy="658368"/>
          </a:xfrm>
          <a:prstGeom prst="ellipse">
            <a:avLst/>
          </a:prstGeom>
          <a:solidFill>
            <a:srgbClr val="2A3668"/>
          </a:solidFill>
          <a:ln w="12700">
            <a:solidFill>
              <a:srgbClr val="2A3668"/>
            </a:solidFill>
            <a:prstDash val="solid"/>
          </a:ln>
        </p:spPr>
      </p:sp>
      <p:pic>
        <p:nvPicPr>
          <p:cNvPr id="13" name="Image 1" descr="icons/search_white.png">    </p:cNvPr>
          <p:cNvPicPr>
            <a:picLocks noChangeAspect="1"/>
          </p:cNvPicPr>
          <p:nvPr/>
        </p:nvPicPr>
        <p:blipFill>
          <a:blip r:embed="rId2"/>
          <a:stretch>
            <a:fillRect/>
          </a:stretch>
        </p:blipFill>
        <p:spPr>
          <a:xfrm>
            <a:off x="3184672" y="2398288"/>
            <a:ext cx="342351" cy="342351"/>
          </a:xfrm>
          <a:prstGeom prst="rect">
            <a:avLst/>
          </a:prstGeom>
        </p:spPr>
      </p:pic>
      <p:sp>
        <p:nvSpPr>
          <p:cNvPr id="14" name="Text 10"/>
          <p:cNvSpPr txBox="1"/>
          <p:nvPr/>
        </p:nvSpPr>
        <p:spPr>
          <a:xfrm>
            <a:off x="3026664" y="3063240"/>
            <a:ext cx="1655064" cy="566928"/>
          </a:xfrm>
          <a:prstGeom prst="rect">
            <a:avLst/>
          </a:prstGeom>
          <a:noFill/>
          <a:ln/>
        </p:spPr>
        <p:txBody>
          <a:bodyPr wrap="square" lIns="0" tIns="0" rIns="0" bIns="0" rtlCol="0" anchor="t"/>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Tespit ve Önceliklendirme</a:t>
            </a:r>
            <a:endParaRPr lang="en-US" sz="1400" dirty="0"/>
          </a:p>
        </p:txBody>
      </p:sp>
      <p:sp>
        <p:nvSpPr>
          <p:cNvPr id="15" name="Text 11"/>
          <p:cNvSpPr txBox="1"/>
          <p:nvPr/>
        </p:nvSpPr>
        <p:spPr>
          <a:xfrm>
            <a:off x="3026664" y="3703320"/>
            <a:ext cx="1655064" cy="1051560"/>
          </a:xfrm>
          <a:prstGeom prst="rect">
            <a:avLst/>
          </a:prstGeom>
          <a:noFill/>
          <a:ln/>
        </p:spPr>
        <p:txBody>
          <a:bodyPr wrap="square" lIns="0" tIns="0" rIns="0" bIns="0" rtlCol="0" anchor="t"/>
          <a:lstStyle/>
          <a:p>
            <a:pPr indent="0" marL="0">
              <a:lnSpc>
                <a:spcPct val="110000"/>
              </a:lnSpc>
              <a:buNone/>
            </a:pPr>
            <a:r>
              <a:rPr lang="en-US" sz="1100" dirty="0">
                <a:solidFill>
                  <a:srgbClr val="C9D1EA"/>
                </a:solidFill>
                <a:latin typeface="Segoe UI" pitchFamily="34" charset="0"/>
                <a:ea typeface="Segoe UI" pitchFamily="34" charset="-122"/>
                <a:cs typeface="Segoe UI" pitchFamily="34" charset="-120"/>
              </a:rPr>
              <a:t>Her içerik için bankayı ilgilendirme kararı, güven skoru ve önem derecesi üretilir.</a:t>
            </a:r>
            <a:endParaRPr lang="en-US" sz="1100" dirty="0"/>
          </a:p>
        </p:txBody>
      </p:sp>
      <p:sp>
        <p:nvSpPr>
          <p:cNvPr id="16" name="Shape 12"/>
          <p:cNvSpPr/>
          <p:nvPr/>
        </p:nvSpPr>
        <p:spPr>
          <a:xfrm>
            <a:off x="5047488" y="1645920"/>
            <a:ext cx="2066544" cy="3246120"/>
          </a:xfrm>
          <a:prstGeom prst="roundRect">
            <a:avLst>
              <a:gd name="adj" fmla="val 6195"/>
            </a:avLst>
          </a:prstGeom>
          <a:solidFill>
            <a:srgbClr val="172144"/>
          </a:solidFill>
          <a:ln w="12700">
            <a:solidFill>
              <a:srgbClr val="172144"/>
            </a:solidFill>
            <a:prstDash val="solid"/>
          </a:ln>
        </p:spPr>
      </p:sp>
      <p:sp>
        <p:nvSpPr>
          <p:cNvPr id="17" name="Text 13"/>
          <p:cNvSpPr txBox="1"/>
          <p:nvPr/>
        </p:nvSpPr>
        <p:spPr>
          <a:xfrm>
            <a:off x="5276088" y="1874520"/>
            <a:ext cx="548640" cy="274320"/>
          </a:xfrm>
          <a:prstGeom prst="rect">
            <a:avLst/>
          </a:prstGeom>
          <a:noFill/>
          <a:ln/>
        </p:spPr>
        <p:txBody>
          <a:bodyPr wrap="square" lIns="0" tIns="0" rIns="0" bIns="0" rtlCol="0" anchor="t"/>
          <a:lstStyle/>
          <a:p>
            <a:pPr indent="0" marL="0">
              <a:buNone/>
            </a:pPr>
            <a:r>
              <a:rPr lang="en-US" sz="1100" b="1" dirty="0">
                <a:solidFill>
                  <a:srgbClr val="FF8E38"/>
                </a:solidFill>
                <a:latin typeface="Segoe UI Semibold" pitchFamily="34" charset="0"/>
                <a:ea typeface="Segoe UI Semibold" pitchFamily="34" charset="-122"/>
                <a:cs typeface="Segoe UI Semibold" pitchFamily="34" charset="-120"/>
              </a:rPr>
              <a:t>03</a:t>
            </a:r>
            <a:endParaRPr lang="en-US" sz="1100" dirty="0"/>
          </a:p>
        </p:txBody>
      </p:sp>
      <p:sp>
        <p:nvSpPr>
          <p:cNvPr id="18" name="Shape 14"/>
          <p:cNvSpPr/>
          <p:nvPr/>
        </p:nvSpPr>
        <p:spPr>
          <a:xfrm>
            <a:off x="5276088" y="2240280"/>
            <a:ext cx="658368" cy="658368"/>
          </a:xfrm>
          <a:prstGeom prst="ellipse">
            <a:avLst/>
          </a:prstGeom>
          <a:solidFill>
            <a:srgbClr val="2A3668"/>
          </a:solidFill>
          <a:ln w="12700">
            <a:solidFill>
              <a:srgbClr val="2A3668"/>
            </a:solidFill>
            <a:prstDash val="solid"/>
          </a:ln>
        </p:spPr>
      </p:sp>
      <p:pic>
        <p:nvPicPr>
          <p:cNvPr id="19" name="Image 2" descr="icons/file_white.png">    </p:cNvPr>
          <p:cNvPicPr>
            <a:picLocks noChangeAspect="1"/>
          </p:cNvPicPr>
          <p:nvPr/>
        </p:nvPicPr>
        <p:blipFill>
          <a:blip r:embed="rId3"/>
          <a:stretch>
            <a:fillRect/>
          </a:stretch>
        </p:blipFill>
        <p:spPr>
          <a:xfrm>
            <a:off x="5434096" y="2398288"/>
            <a:ext cx="342351" cy="342351"/>
          </a:xfrm>
          <a:prstGeom prst="rect">
            <a:avLst/>
          </a:prstGeom>
        </p:spPr>
      </p:pic>
      <p:sp>
        <p:nvSpPr>
          <p:cNvPr id="20" name="Text 15"/>
          <p:cNvSpPr txBox="1"/>
          <p:nvPr/>
        </p:nvSpPr>
        <p:spPr>
          <a:xfrm>
            <a:off x="5276088" y="3063240"/>
            <a:ext cx="1655064" cy="566928"/>
          </a:xfrm>
          <a:prstGeom prst="rect">
            <a:avLst/>
          </a:prstGeom>
          <a:noFill/>
          <a:ln/>
        </p:spPr>
        <p:txBody>
          <a:bodyPr wrap="square" lIns="0" tIns="0" rIns="0" bIns="0" rtlCol="0" anchor="t"/>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İçerik Analizi ve Özet</a:t>
            </a:r>
            <a:endParaRPr lang="en-US" sz="1400" dirty="0"/>
          </a:p>
        </p:txBody>
      </p:sp>
      <p:sp>
        <p:nvSpPr>
          <p:cNvPr id="21" name="Text 16"/>
          <p:cNvSpPr txBox="1"/>
          <p:nvPr/>
        </p:nvSpPr>
        <p:spPr>
          <a:xfrm>
            <a:off x="5276088" y="3703320"/>
            <a:ext cx="1655064" cy="1051560"/>
          </a:xfrm>
          <a:prstGeom prst="rect">
            <a:avLst/>
          </a:prstGeom>
          <a:noFill/>
          <a:ln/>
        </p:spPr>
        <p:txBody>
          <a:bodyPr wrap="square" lIns="0" tIns="0" rIns="0" bIns="0" rtlCol="0" anchor="t"/>
          <a:lstStyle/>
          <a:p>
            <a:pPr indent="0" marL="0">
              <a:lnSpc>
                <a:spcPct val="110000"/>
              </a:lnSpc>
              <a:buNone/>
            </a:pPr>
            <a:r>
              <a:rPr lang="en-US" sz="1100" dirty="0">
                <a:solidFill>
                  <a:srgbClr val="C9D1EA"/>
                </a:solidFill>
                <a:latin typeface="Segoe UI" pitchFamily="34" charset="0"/>
                <a:ea typeface="Segoe UI" pitchFamily="34" charset="-122"/>
                <a:cs typeface="Segoe UI" pitchFamily="34" charset="-120"/>
              </a:rPr>
              <a:t>Başkanlığın belirlediği başlıklarla, kaynak metne dayandırılmış yapılandırılmış özet.</a:t>
            </a:r>
            <a:endParaRPr lang="en-US" sz="1100" dirty="0"/>
          </a:p>
        </p:txBody>
      </p:sp>
      <p:sp>
        <p:nvSpPr>
          <p:cNvPr id="22" name="Shape 17"/>
          <p:cNvSpPr/>
          <p:nvPr/>
        </p:nvSpPr>
        <p:spPr>
          <a:xfrm>
            <a:off x="7296912" y="1645920"/>
            <a:ext cx="2066544" cy="3246120"/>
          </a:xfrm>
          <a:prstGeom prst="roundRect">
            <a:avLst>
              <a:gd name="adj" fmla="val 6195"/>
            </a:avLst>
          </a:prstGeom>
          <a:solidFill>
            <a:srgbClr val="172144"/>
          </a:solidFill>
          <a:ln w="12700">
            <a:solidFill>
              <a:srgbClr val="172144"/>
            </a:solidFill>
            <a:prstDash val="solid"/>
          </a:ln>
        </p:spPr>
      </p:sp>
      <p:sp>
        <p:nvSpPr>
          <p:cNvPr id="23" name="Text 18"/>
          <p:cNvSpPr txBox="1"/>
          <p:nvPr/>
        </p:nvSpPr>
        <p:spPr>
          <a:xfrm>
            <a:off x="7525512" y="1874520"/>
            <a:ext cx="548640" cy="274320"/>
          </a:xfrm>
          <a:prstGeom prst="rect">
            <a:avLst/>
          </a:prstGeom>
          <a:noFill/>
          <a:ln/>
        </p:spPr>
        <p:txBody>
          <a:bodyPr wrap="square" lIns="0" tIns="0" rIns="0" bIns="0" rtlCol="0" anchor="t"/>
          <a:lstStyle/>
          <a:p>
            <a:pPr indent="0" marL="0">
              <a:buNone/>
            </a:pPr>
            <a:r>
              <a:rPr lang="en-US" sz="1100" b="1" dirty="0">
                <a:solidFill>
                  <a:srgbClr val="FF8E38"/>
                </a:solidFill>
                <a:latin typeface="Segoe UI Semibold" pitchFamily="34" charset="0"/>
                <a:ea typeface="Segoe UI Semibold" pitchFamily="34" charset="-122"/>
                <a:cs typeface="Segoe UI Semibold" pitchFamily="34" charset="-120"/>
              </a:rPr>
              <a:t>04</a:t>
            </a:r>
            <a:endParaRPr lang="en-US" sz="1100" dirty="0"/>
          </a:p>
        </p:txBody>
      </p:sp>
      <p:sp>
        <p:nvSpPr>
          <p:cNvPr id="24" name="Shape 19"/>
          <p:cNvSpPr/>
          <p:nvPr/>
        </p:nvSpPr>
        <p:spPr>
          <a:xfrm>
            <a:off x="7525512" y="2240280"/>
            <a:ext cx="658368" cy="658368"/>
          </a:xfrm>
          <a:prstGeom prst="ellipse">
            <a:avLst/>
          </a:prstGeom>
          <a:solidFill>
            <a:srgbClr val="2A3668"/>
          </a:solidFill>
          <a:ln w="12700">
            <a:solidFill>
              <a:srgbClr val="2A3668"/>
            </a:solidFill>
            <a:prstDash val="solid"/>
          </a:ln>
        </p:spPr>
      </p:sp>
      <p:pic>
        <p:nvPicPr>
          <p:cNvPr id="25" name="Image 3" descr="icons/network_white.png">    </p:cNvPr>
          <p:cNvPicPr>
            <a:picLocks noChangeAspect="1"/>
          </p:cNvPicPr>
          <p:nvPr/>
        </p:nvPicPr>
        <p:blipFill>
          <a:blip r:embed="rId4"/>
          <a:stretch>
            <a:fillRect/>
          </a:stretch>
        </p:blipFill>
        <p:spPr>
          <a:xfrm>
            <a:off x="7683520" y="2398288"/>
            <a:ext cx="342351" cy="342351"/>
          </a:xfrm>
          <a:prstGeom prst="rect">
            <a:avLst/>
          </a:prstGeom>
        </p:spPr>
      </p:pic>
      <p:sp>
        <p:nvSpPr>
          <p:cNvPr id="26" name="Text 20"/>
          <p:cNvSpPr txBox="1"/>
          <p:nvPr/>
        </p:nvSpPr>
        <p:spPr>
          <a:xfrm>
            <a:off x="7525512" y="3063240"/>
            <a:ext cx="1655064" cy="566928"/>
          </a:xfrm>
          <a:prstGeom prst="rect">
            <a:avLst/>
          </a:prstGeom>
          <a:noFill/>
          <a:ln/>
        </p:spPr>
        <p:txBody>
          <a:bodyPr wrap="square" lIns="0" tIns="0" rIns="0" bIns="0" rtlCol="0" anchor="t"/>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Birim Eşleştirme Önerisi</a:t>
            </a:r>
            <a:endParaRPr lang="en-US" sz="1400" dirty="0"/>
          </a:p>
        </p:txBody>
      </p:sp>
      <p:sp>
        <p:nvSpPr>
          <p:cNvPr id="27" name="Text 21"/>
          <p:cNvSpPr txBox="1"/>
          <p:nvPr/>
        </p:nvSpPr>
        <p:spPr>
          <a:xfrm>
            <a:off x="7525512" y="3703320"/>
            <a:ext cx="1655064" cy="1051560"/>
          </a:xfrm>
          <a:prstGeom prst="rect">
            <a:avLst/>
          </a:prstGeom>
          <a:noFill/>
          <a:ln/>
        </p:spPr>
        <p:txBody>
          <a:bodyPr wrap="square" lIns="0" tIns="0" rIns="0" bIns="0" rtlCol="0" anchor="t"/>
          <a:lstStyle/>
          <a:p>
            <a:pPr indent="0" marL="0">
              <a:lnSpc>
                <a:spcPct val="110000"/>
              </a:lnSpc>
              <a:buNone/>
            </a:pPr>
            <a:r>
              <a:rPr lang="en-US" sz="1100" dirty="0">
                <a:solidFill>
                  <a:srgbClr val="C9D1EA"/>
                </a:solidFill>
                <a:latin typeface="Segoe UI" pitchFamily="34" charset="0"/>
                <a:ea typeface="Segoe UI" pitchFamily="34" charset="-122"/>
                <a:cs typeface="Segoe UI" pitchFamily="34" charset="-120"/>
              </a:rPr>
              <a:t>Görev tanımlarına göre bir veya birden fazla birim, gerekçesiyle önerilir.</a:t>
            </a:r>
            <a:endParaRPr lang="en-US" sz="1100" dirty="0"/>
          </a:p>
        </p:txBody>
      </p:sp>
      <p:sp>
        <p:nvSpPr>
          <p:cNvPr id="28" name="Shape 22"/>
          <p:cNvSpPr/>
          <p:nvPr/>
        </p:nvSpPr>
        <p:spPr>
          <a:xfrm>
            <a:off x="9546336" y="1645920"/>
            <a:ext cx="2066544" cy="3246120"/>
          </a:xfrm>
          <a:prstGeom prst="roundRect">
            <a:avLst>
              <a:gd name="adj" fmla="val 6195"/>
            </a:avLst>
          </a:prstGeom>
          <a:solidFill>
            <a:srgbClr val="172144"/>
          </a:solidFill>
          <a:ln w="12700">
            <a:solidFill>
              <a:srgbClr val="172144"/>
            </a:solidFill>
            <a:prstDash val="solid"/>
          </a:ln>
        </p:spPr>
      </p:sp>
      <p:sp>
        <p:nvSpPr>
          <p:cNvPr id="29" name="Text 23"/>
          <p:cNvSpPr txBox="1"/>
          <p:nvPr/>
        </p:nvSpPr>
        <p:spPr>
          <a:xfrm>
            <a:off x="9774936" y="1874520"/>
            <a:ext cx="548640" cy="274320"/>
          </a:xfrm>
          <a:prstGeom prst="rect">
            <a:avLst/>
          </a:prstGeom>
          <a:noFill/>
          <a:ln/>
        </p:spPr>
        <p:txBody>
          <a:bodyPr wrap="square" lIns="0" tIns="0" rIns="0" bIns="0" rtlCol="0" anchor="t"/>
          <a:lstStyle/>
          <a:p>
            <a:pPr indent="0" marL="0">
              <a:buNone/>
            </a:pPr>
            <a:r>
              <a:rPr lang="en-US" sz="1100" b="1" dirty="0">
                <a:solidFill>
                  <a:srgbClr val="FF8E38"/>
                </a:solidFill>
                <a:latin typeface="Segoe UI Semibold" pitchFamily="34" charset="0"/>
                <a:ea typeface="Segoe UI Semibold" pitchFamily="34" charset="-122"/>
                <a:cs typeface="Segoe UI Semibold" pitchFamily="34" charset="-120"/>
              </a:rPr>
              <a:t>05</a:t>
            </a:r>
            <a:endParaRPr lang="en-US" sz="1100" dirty="0"/>
          </a:p>
        </p:txBody>
      </p:sp>
      <p:sp>
        <p:nvSpPr>
          <p:cNvPr id="30" name="Shape 24"/>
          <p:cNvSpPr/>
          <p:nvPr/>
        </p:nvSpPr>
        <p:spPr>
          <a:xfrm>
            <a:off x="9774936" y="2240280"/>
            <a:ext cx="658368" cy="658368"/>
          </a:xfrm>
          <a:prstGeom prst="ellipse">
            <a:avLst/>
          </a:prstGeom>
          <a:solidFill>
            <a:srgbClr val="2A3668"/>
          </a:solidFill>
          <a:ln w="12700">
            <a:solidFill>
              <a:srgbClr val="2A3668"/>
            </a:solidFill>
            <a:prstDash val="solid"/>
          </a:ln>
        </p:spPr>
      </p:sp>
      <p:pic>
        <p:nvPicPr>
          <p:cNvPr id="31" name="Image 4" descr="icons/dash_white.png">    </p:cNvPr>
          <p:cNvPicPr>
            <a:picLocks noChangeAspect="1"/>
          </p:cNvPicPr>
          <p:nvPr/>
        </p:nvPicPr>
        <p:blipFill>
          <a:blip r:embed="rId5"/>
          <a:stretch>
            <a:fillRect/>
          </a:stretch>
        </p:blipFill>
        <p:spPr>
          <a:xfrm>
            <a:off x="9932944" y="2398288"/>
            <a:ext cx="342351" cy="342351"/>
          </a:xfrm>
          <a:prstGeom prst="rect">
            <a:avLst/>
          </a:prstGeom>
        </p:spPr>
      </p:pic>
      <p:sp>
        <p:nvSpPr>
          <p:cNvPr id="32" name="Text 25"/>
          <p:cNvSpPr txBox="1"/>
          <p:nvPr/>
        </p:nvSpPr>
        <p:spPr>
          <a:xfrm>
            <a:off x="9774936" y="3063240"/>
            <a:ext cx="1655064" cy="566928"/>
          </a:xfrm>
          <a:prstGeom prst="rect">
            <a:avLst/>
          </a:prstGeom>
          <a:noFill/>
          <a:ln/>
        </p:spPr>
        <p:txBody>
          <a:bodyPr wrap="square" lIns="0" tIns="0" rIns="0" bIns="0" rtlCol="0" anchor="t"/>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Portal</a:t>
            </a:r>
            <a:endParaRPr lang="en-US" sz="1400" dirty="0"/>
          </a:p>
        </p:txBody>
      </p:sp>
      <p:sp>
        <p:nvSpPr>
          <p:cNvPr id="33" name="Text 26"/>
          <p:cNvSpPr txBox="1"/>
          <p:nvPr/>
        </p:nvSpPr>
        <p:spPr>
          <a:xfrm>
            <a:off x="9774936" y="3703320"/>
            <a:ext cx="1655064" cy="1051560"/>
          </a:xfrm>
          <a:prstGeom prst="rect">
            <a:avLst/>
          </a:prstGeom>
          <a:noFill/>
          <a:ln/>
        </p:spPr>
        <p:txBody>
          <a:bodyPr wrap="square" lIns="0" tIns="0" rIns="0" bIns="0" rtlCol="0" anchor="t"/>
          <a:lstStyle/>
          <a:p>
            <a:pPr indent="0" marL="0">
              <a:lnSpc>
                <a:spcPct val="110000"/>
              </a:lnSpc>
              <a:buNone/>
            </a:pPr>
            <a:r>
              <a:rPr lang="en-US" sz="1100" dirty="0">
                <a:solidFill>
                  <a:srgbClr val="C9D1EA"/>
                </a:solidFill>
                <a:latin typeface="Segoe UI" pitchFamily="34" charset="0"/>
                <a:ea typeface="Segoe UI" pitchFamily="34" charset="-122"/>
                <a:cs typeface="Segoe UI" pitchFamily="34" charset="-120"/>
              </a:rPr>
              <a:t>Tespit edilen düzenlemelerin listelendiği, onaylandığı ve denetim izinin tutulduğu arayüz.</a:t>
            </a:r>
            <a:endParaRPr lang="en-US" sz="1100" dirty="0"/>
          </a:p>
        </p:txBody>
      </p:sp>
      <p:sp>
        <p:nvSpPr>
          <p:cNvPr id="34" name="Shape 27"/>
          <p:cNvSpPr/>
          <p:nvPr/>
        </p:nvSpPr>
        <p:spPr>
          <a:xfrm>
            <a:off x="548640" y="5212080"/>
            <a:ext cx="11091672" cy="685800"/>
          </a:xfrm>
          <a:prstGeom prst="roundRect">
            <a:avLst>
              <a:gd name="adj" fmla="val 13333"/>
            </a:avLst>
          </a:prstGeom>
          <a:solidFill>
            <a:srgbClr val="FDECEC"/>
          </a:solidFill>
          <a:ln w="12700">
            <a:solidFill>
              <a:srgbClr val="FDECEC"/>
            </a:solidFill>
            <a:prstDash val="solid"/>
          </a:ln>
        </p:spPr>
      </p:sp>
      <p:pic>
        <p:nvPicPr>
          <p:cNvPr id="35" name="Image 5" descr="icons/ban_red.png">    </p:cNvPr>
          <p:cNvPicPr>
            <a:picLocks noChangeAspect="1"/>
          </p:cNvPicPr>
          <p:nvPr/>
        </p:nvPicPr>
        <p:blipFill>
          <a:blip r:embed="rId6"/>
          <a:stretch>
            <a:fillRect/>
          </a:stretch>
        </p:blipFill>
        <p:spPr>
          <a:xfrm>
            <a:off x="777240" y="5394960"/>
            <a:ext cx="310896" cy="310896"/>
          </a:xfrm>
          <a:prstGeom prst="rect">
            <a:avLst/>
          </a:prstGeom>
        </p:spPr>
      </p:pic>
      <p:sp>
        <p:nvSpPr>
          <p:cNvPr id="36" name="Text 28"/>
          <p:cNvSpPr txBox="1"/>
          <p:nvPr/>
        </p:nvSpPr>
        <p:spPr>
          <a:xfrm>
            <a:off x="1234440" y="5212080"/>
            <a:ext cx="10241280" cy="685800"/>
          </a:xfrm>
          <a:prstGeom prst="rect">
            <a:avLst/>
          </a:prstGeom>
          <a:noFill/>
          <a:ln/>
        </p:spPr>
        <p:txBody>
          <a:bodyPr wrap="square" lIns="0" tIns="0" rIns="0" bIns="0" rtlCol="0" anchor="ctr"/>
          <a:lstStyle/>
          <a:p>
            <a:pPr indent="0" marL="0">
              <a:buNone/>
            </a:pPr>
            <a:r>
              <a:rPr lang="en-US" sz="1200" b="1" dirty="0">
                <a:solidFill>
                  <a:srgbClr val="B4232A"/>
                </a:solidFill>
                <a:latin typeface="Segoe UI Semibold" pitchFamily="34" charset="0"/>
                <a:ea typeface="Segoe UI Semibold" pitchFamily="34" charset="-122"/>
                <a:cs typeface="Segoe UI Semibold" pitchFamily="34" charset="-120"/>
              </a:rPr>
              <a:t>Kapsam dışı — Faz 2: </a:t>
            </a:r>
            <a:pPr indent="0" marL="0">
              <a:buNone/>
            </a:pPr>
            <a:r>
              <a:rPr lang="en-US" sz="1200" dirty="0">
                <a:solidFill>
                  <a:srgbClr val="B4232A"/>
                </a:solidFill>
                <a:latin typeface="Segoe UI" pitchFamily="34" charset="0"/>
                <a:ea typeface="Segoe UI" pitchFamily="34" charset="-122"/>
                <a:cs typeface="Segoe UI" pitchFamily="34" charset="-120"/>
              </a:rPr>
              <a:t>Outlook üzerinden e-posta bildirimi ve Başkanlık onayı sonrasında ilgili birimlere otomatik yönlendirme ayrı bir faz olarak ele alınacaktır.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İzlenen Kaynaklar ve Veri Toplama</a:t>
            </a:r>
            <a:endParaRPr lang="en-US" sz="2200" dirty="0"/>
          </a:p>
        </p:txBody>
      </p:sp>
      <p:sp>
        <p:nvSpPr>
          <p:cNvPr id="3" name="Text 1"/>
          <p:cNvSpPr txBox="1"/>
          <p:nvPr/>
        </p:nvSpPr>
        <p:spPr>
          <a:xfrm>
            <a:off x="694944" y="1234440"/>
            <a:ext cx="4572000" cy="320040"/>
          </a:xfrm>
          <a:prstGeom prst="rect">
            <a:avLst/>
          </a:prstGeom>
          <a:noFill/>
          <a:ln/>
        </p:spPr>
        <p:txBody>
          <a:bodyPr wrap="square" lIns="0" tIns="0" rIns="0" bIns="0" rtlCol="0" anchor="t"/>
          <a:lstStyle/>
          <a:p>
            <a:pPr indent="0" marL="0">
              <a:buNone/>
            </a:pPr>
            <a:r>
              <a:rPr lang="en-US" sz="1400" b="1" dirty="0">
                <a:solidFill>
                  <a:srgbClr val="0012B0"/>
                </a:solidFill>
                <a:latin typeface="Segoe UI Semibold" pitchFamily="34" charset="0"/>
                <a:ea typeface="Segoe UI Semibold" pitchFamily="34" charset="-122"/>
                <a:cs typeface="Segoe UI Semibold" pitchFamily="34" charset="-120"/>
              </a:rPr>
              <a:t>İzlenen kaynaklar</a:t>
            </a:r>
            <a:endParaRPr lang="en-US" sz="1400" dirty="0"/>
          </a:p>
        </p:txBody>
      </p:sp>
      <p:sp>
        <p:nvSpPr>
          <p:cNvPr id="4" name="Shape 2"/>
          <p:cNvSpPr/>
          <p:nvPr/>
        </p:nvSpPr>
        <p:spPr>
          <a:xfrm>
            <a:off x="548640" y="1691640"/>
            <a:ext cx="1719072" cy="822960"/>
          </a:xfrm>
          <a:prstGeom prst="roundRect">
            <a:avLst>
              <a:gd name="adj" fmla="val 11111"/>
            </a:avLst>
          </a:prstGeom>
          <a:solidFill>
            <a:srgbClr val="172144"/>
          </a:solidFill>
          <a:ln w="12700">
            <a:solidFill>
              <a:srgbClr val="172144"/>
            </a:solidFill>
            <a:prstDash val="solid"/>
          </a:ln>
        </p:spPr>
      </p:sp>
      <p:pic>
        <p:nvPicPr>
          <p:cNvPr id="5" name="Image 0" descr="icons/news_white.png">    </p:cNvPr>
          <p:cNvPicPr>
            <a:picLocks noChangeAspect="1"/>
          </p:cNvPicPr>
          <p:nvPr/>
        </p:nvPicPr>
        <p:blipFill>
          <a:blip r:embed="rId1"/>
          <a:stretch>
            <a:fillRect/>
          </a:stretch>
        </p:blipFill>
        <p:spPr>
          <a:xfrm>
            <a:off x="694944" y="1847088"/>
            <a:ext cx="274320" cy="274320"/>
          </a:xfrm>
          <a:prstGeom prst="rect">
            <a:avLst/>
          </a:prstGeom>
        </p:spPr>
      </p:pic>
      <p:sp>
        <p:nvSpPr>
          <p:cNvPr id="6" name="Text 3"/>
          <p:cNvSpPr txBox="1"/>
          <p:nvPr/>
        </p:nvSpPr>
        <p:spPr>
          <a:xfrm>
            <a:off x="1051560" y="1801368"/>
            <a:ext cx="1152144" cy="365760"/>
          </a:xfrm>
          <a:prstGeom prst="rect">
            <a:avLst/>
          </a:prstGeom>
          <a:noFill/>
          <a:ln/>
        </p:spPr>
        <p:txBody>
          <a:bodyPr wrap="square" lIns="0" tIns="0" rIns="0" bIns="0" rtlCol="0" anchor="t"/>
          <a:lstStyle/>
          <a:p>
            <a:pPr indent="0" marL="0">
              <a:buNone/>
            </a:pPr>
            <a:r>
              <a:rPr lang="en-US" sz="1150" b="1" dirty="0">
                <a:solidFill>
                  <a:srgbClr val="FFFFFF"/>
                </a:solidFill>
                <a:latin typeface="Segoe UI Semibold" pitchFamily="34" charset="0"/>
                <a:ea typeface="Segoe UI Semibold" pitchFamily="34" charset="-122"/>
                <a:cs typeface="Segoe UI Semibold" pitchFamily="34" charset="-120"/>
              </a:rPr>
              <a:t>Resmî Gazete</a:t>
            </a:r>
            <a:endParaRPr lang="en-US" sz="1150" dirty="0"/>
          </a:p>
        </p:txBody>
      </p:sp>
      <p:sp>
        <p:nvSpPr>
          <p:cNvPr id="7" name="Text 4"/>
          <p:cNvSpPr txBox="1"/>
          <p:nvPr/>
        </p:nvSpPr>
        <p:spPr>
          <a:xfrm>
            <a:off x="1051560" y="2130552"/>
            <a:ext cx="1152144" cy="274320"/>
          </a:xfrm>
          <a:prstGeom prst="rect">
            <a:avLst/>
          </a:prstGeom>
          <a:noFill/>
          <a:ln/>
        </p:spPr>
        <p:txBody>
          <a:bodyPr wrap="square" lIns="0" tIns="0" rIns="0" bIns="0" rtlCol="0" anchor="t"/>
          <a:lstStyle/>
          <a:p>
            <a:pPr indent="0" marL="0">
              <a:buNone/>
            </a:pPr>
            <a:r>
              <a:rPr lang="en-US" sz="950" dirty="0">
                <a:solidFill>
                  <a:srgbClr val="C3CAE3"/>
                </a:solidFill>
                <a:latin typeface="Segoe UI" pitchFamily="34" charset="0"/>
                <a:ea typeface="Segoe UI" pitchFamily="34" charset="-122"/>
                <a:cs typeface="Segoe UI" pitchFamily="34" charset="-120"/>
              </a:rPr>
              <a:t>Asıl + mükerrer</a:t>
            </a:r>
            <a:endParaRPr lang="en-US" sz="950" dirty="0"/>
          </a:p>
        </p:txBody>
      </p:sp>
      <p:sp>
        <p:nvSpPr>
          <p:cNvPr id="8" name="Shape 5"/>
          <p:cNvSpPr/>
          <p:nvPr/>
        </p:nvSpPr>
        <p:spPr>
          <a:xfrm>
            <a:off x="2377440" y="1691640"/>
            <a:ext cx="1719072" cy="822960"/>
          </a:xfrm>
          <a:prstGeom prst="roundRect">
            <a:avLst>
              <a:gd name="adj" fmla="val 11111"/>
            </a:avLst>
          </a:prstGeom>
          <a:solidFill>
            <a:srgbClr val="FFFFFF"/>
          </a:solidFill>
          <a:ln w="12700">
            <a:solidFill>
              <a:srgbClr val="E1E5F0"/>
            </a:solidFill>
            <a:prstDash val="solid"/>
          </a:ln>
        </p:spPr>
      </p:sp>
      <p:pic>
        <p:nvPicPr>
          <p:cNvPr id="9" name="Image 1" descr="icons/landmark_blue.png">    </p:cNvPr>
          <p:cNvPicPr>
            <a:picLocks noChangeAspect="1"/>
          </p:cNvPicPr>
          <p:nvPr/>
        </p:nvPicPr>
        <p:blipFill>
          <a:blip r:embed="rId2"/>
          <a:stretch>
            <a:fillRect/>
          </a:stretch>
        </p:blipFill>
        <p:spPr>
          <a:xfrm>
            <a:off x="2523744" y="1965960"/>
            <a:ext cx="274320" cy="274320"/>
          </a:xfrm>
          <a:prstGeom prst="rect">
            <a:avLst/>
          </a:prstGeom>
        </p:spPr>
      </p:pic>
      <p:sp>
        <p:nvSpPr>
          <p:cNvPr id="10" name="Text 6"/>
          <p:cNvSpPr txBox="1"/>
          <p:nvPr/>
        </p:nvSpPr>
        <p:spPr>
          <a:xfrm>
            <a:off x="2880360" y="1783080"/>
            <a:ext cx="1152144" cy="640080"/>
          </a:xfrm>
          <a:prstGeom prst="rect">
            <a:avLst/>
          </a:prstGeom>
          <a:noFill/>
          <a:ln/>
        </p:spPr>
        <p:txBody>
          <a:bodyPr wrap="square" lIns="0" tIns="0" rIns="0" bIns="0" rtlCol="0" anchor="ctr"/>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BDDK</a:t>
            </a:r>
            <a:endParaRPr lang="en-US" sz="1150" dirty="0"/>
          </a:p>
        </p:txBody>
      </p:sp>
      <p:sp>
        <p:nvSpPr>
          <p:cNvPr id="11" name="Shape 7"/>
          <p:cNvSpPr/>
          <p:nvPr/>
        </p:nvSpPr>
        <p:spPr>
          <a:xfrm>
            <a:off x="4206240" y="1691640"/>
            <a:ext cx="1719072" cy="822960"/>
          </a:xfrm>
          <a:prstGeom prst="roundRect">
            <a:avLst>
              <a:gd name="adj" fmla="val 11111"/>
            </a:avLst>
          </a:prstGeom>
          <a:solidFill>
            <a:srgbClr val="FFFFFF"/>
          </a:solidFill>
          <a:ln w="12700">
            <a:solidFill>
              <a:srgbClr val="E1E5F0"/>
            </a:solidFill>
            <a:prstDash val="solid"/>
          </a:ln>
        </p:spPr>
      </p:sp>
      <p:pic>
        <p:nvPicPr>
          <p:cNvPr id="12" name="Image 2" descr="icons/landmark_blue.png">    </p:cNvPr>
          <p:cNvPicPr>
            <a:picLocks noChangeAspect="1"/>
          </p:cNvPicPr>
          <p:nvPr/>
        </p:nvPicPr>
        <p:blipFill>
          <a:blip r:embed="rId3"/>
          <a:stretch>
            <a:fillRect/>
          </a:stretch>
        </p:blipFill>
        <p:spPr>
          <a:xfrm>
            <a:off x="4352544" y="1965960"/>
            <a:ext cx="274320" cy="274320"/>
          </a:xfrm>
          <a:prstGeom prst="rect">
            <a:avLst/>
          </a:prstGeom>
        </p:spPr>
      </p:pic>
      <p:sp>
        <p:nvSpPr>
          <p:cNvPr id="13" name="Text 8"/>
          <p:cNvSpPr txBox="1"/>
          <p:nvPr/>
        </p:nvSpPr>
        <p:spPr>
          <a:xfrm>
            <a:off x="4709160" y="1783080"/>
            <a:ext cx="1152144" cy="640080"/>
          </a:xfrm>
          <a:prstGeom prst="rect">
            <a:avLst/>
          </a:prstGeom>
          <a:noFill/>
          <a:ln/>
        </p:spPr>
        <p:txBody>
          <a:bodyPr wrap="square" lIns="0" tIns="0" rIns="0" bIns="0" rtlCol="0" anchor="ctr"/>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SPK</a:t>
            </a:r>
            <a:endParaRPr lang="en-US" sz="1150" dirty="0"/>
          </a:p>
        </p:txBody>
      </p:sp>
      <p:sp>
        <p:nvSpPr>
          <p:cNvPr id="14" name="Shape 9"/>
          <p:cNvSpPr/>
          <p:nvPr/>
        </p:nvSpPr>
        <p:spPr>
          <a:xfrm>
            <a:off x="548640" y="2651760"/>
            <a:ext cx="1719072" cy="822960"/>
          </a:xfrm>
          <a:prstGeom prst="roundRect">
            <a:avLst>
              <a:gd name="adj" fmla="val 11111"/>
            </a:avLst>
          </a:prstGeom>
          <a:solidFill>
            <a:srgbClr val="FFFFFF"/>
          </a:solidFill>
          <a:ln w="12700">
            <a:solidFill>
              <a:srgbClr val="E1E5F0"/>
            </a:solidFill>
            <a:prstDash val="solid"/>
          </a:ln>
        </p:spPr>
      </p:sp>
      <p:pic>
        <p:nvPicPr>
          <p:cNvPr id="15" name="Image 3" descr="icons/landmark_blue.png">    </p:cNvPr>
          <p:cNvPicPr>
            <a:picLocks noChangeAspect="1"/>
          </p:cNvPicPr>
          <p:nvPr/>
        </p:nvPicPr>
        <p:blipFill>
          <a:blip r:embed="rId4"/>
          <a:stretch>
            <a:fillRect/>
          </a:stretch>
        </p:blipFill>
        <p:spPr>
          <a:xfrm>
            <a:off x="694944" y="2926080"/>
            <a:ext cx="274320" cy="274320"/>
          </a:xfrm>
          <a:prstGeom prst="rect">
            <a:avLst/>
          </a:prstGeom>
        </p:spPr>
      </p:pic>
      <p:sp>
        <p:nvSpPr>
          <p:cNvPr id="16" name="Text 10"/>
          <p:cNvSpPr txBox="1"/>
          <p:nvPr/>
        </p:nvSpPr>
        <p:spPr>
          <a:xfrm>
            <a:off x="1051560" y="2743200"/>
            <a:ext cx="1152144" cy="640080"/>
          </a:xfrm>
          <a:prstGeom prst="rect">
            <a:avLst/>
          </a:prstGeom>
          <a:noFill/>
          <a:ln/>
        </p:spPr>
        <p:txBody>
          <a:bodyPr wrap="square" lIns="0" tIns="0" rIns="0" bIns="0" rtlCol="0" anchor="ctr"/>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TCMB</a:t>
            </a:r>
            <a:endParaRPr lang="en-US" sz="1150" dirty="0"/>
          </a:p>
        </p:txBody>
      </p:sp>
      <p:sp>
        <p:nvSpPr>
          <p:cNvPr id="17" name="Shape 11"/>
          <p:cNvSpPr/>
          <p:nvPr/>
        </p:nvSpPr>
        <p:spPr>
          <a:xfrm>
            <a:off x="2377440" y="2651760"/>
            <a:ext cx="1719072" cy="822960"/>
          </a:xfrm>
          <a:prstGeom prst="roundRect">
            <a:avLst>
              <a:gd name="adj" fmla="val 11111"/>
            </a:avLst>
          </a:prstGeom>
          <a:solidFill>
            <a:srgbClr val="FFFFFF"/>
          </a:solidFill>
          <a:ln w="12700">
            <a:solidFill>
              <a:srgbClr val="E1E5F0"/>
            </a:solidFill>
            <a:prstDash val="solid"/>
          </a:ln>
        </p:spPr>
      </p:sp>
      <p:pic>
        <p:nvPicPr>
          <p:cNvPr id="18" name="Image 4" descr="icons/landmark_blue.png">    </p:cNvPr>
          <p:cNvPicPr>
            <a:picLocks noChangeAspect="1"/>
          </p:cNvPicPr>
          <p:nvPr/>
        </p:nvPicPr>
        <p:blipFill>
          <a:blip r:embed="rId5"/>
          <a:stretch>
            <a:fillRect/>
          </a:stretch>
        </p:blipFill>
        <p:spPr>
          <a:xfrm>
            <a:off x="2523744" y="2926080"/>
            <a:ext cx="274320" cy="274320"/>
          </a:xfrm>
          <a:prstGeom prst="rect">
            <a:avLst/>
          </a:prstGeom>
        </p:spPr>
      </p:pic>
      <p:sp>
        <p:nvSpPr>
          <p:cNvPr id="19" name="Text 12"/>
          <p:cNvSpPr txBox="1"/>
          <p:nvPr/>
        </p:nvSpPr>
        <p:spPr>
          <a:xfrm>
            <a:off x="2880360" y="2743200"/>
            <a:ext cx="1152144" cy="640080"/>
          </a:xfrm>
          <a:prstGeom prst="rect">
            <a:avLst/>
          </a:prstGeom>
          <a:noFill/>
          <a:ln/>
        </p:spPr>
        <p:txBody>
          <a:bodyPr wrap="square" lIns="0" tIns="0" rIns="0" bIns="0" rtlCol="0" anchor="ctr"/>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KVKK</a:t>
            </a:r>
            <a:endParaRPr lang="en-US" sz="1150" dirty="0"/>
          </a:p>
        </p:txBody>
      </p:sp>
      <p:sp>
        <p:nvSpPr>
          <p:cNvPr id="20" name="Shape 13"/>
          <p:cNvSpPr/>
          <p:nvPr/>
        </p:nvSpPr>
        <p:spPr>
          <a:xfrm>
            <a:off x="4206240" y="2651760"/>
            <a:ext cx="1719072" cy="822960"/>
          </a:xfrm>
          <a:prstGeom prst="roundRect">
            <a:avLst>
              <a:gd name="adj" fmla="val 11111"/>
            </a:avLst>
          </a:prstGeom>
          <a:solidFill>
            <a:srgbClr val="FFFFFF"/>
          </a:solidFill>
          <a:ln w="12700">
            <a:solidFill>
              <a:srgbClr val="E1E5F0"/>
            </a:solidFill>
            <a:prstDash val="solid"/>
          </a:ln>
        </p:spPr>
      </p:sp>
      <p:pic>
        <p:nvPicPr>
          <p:cNvPr id="21" name="Image 5" descr="icons/landmark_blue.png">    </p:cNvPr>
          <p:cNvPicPr>
            <a:picLocks noChangeAspect="1"/>
          </p:cNvPicPr>
          <p:nvPr/>
        </p:nvPicPr>
        <p:blipFill>
          <a:blip r:embed="rId6"/>
          <a:stretch>
            <a:fillRect/>
          </a:stretch>
        </p:blipFill>
        <p:spPr>
          <a:xfrm>
            <a:off x="4352544" y="2926080"/>
            <a:ext cx="274320" cy="274320"/>
          </a:xfrm>
          <a:prstGeom prst="rect">
            <a:avLst/>
          </a:prstGeom>
        </p:spPr>
      </p:pic>
      <p:sp>
        <p:nvSpPr>
          <p:cNvPr id="22" name="Text 14"/>
          <p:cNvSpPr txBox="1"/>
          <p:nvPr/>
        </p:nvSpPr>
        <p:spPr>
          <a:xfrm>
            <a:off x="4709160" y="2743200"/>
            <a:ext cx="1152144" cy="640080"/>
          </a:xfrm>
          <a:prstGeom prst="rect">
            <a:avLst/>
          </a:prstGeom>
          <a:noFill/>
          <a:ln/>
        </p:spPr>
        <p:txBody>
          <a:bodyPr wrap="square" lIns="0" tIns="0" rIns="0" bIns="0" rtlCol="0" anchor="ctr"/>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MASAK</a:t>
            </a:r>
            <a:endParaRPr lang="en-US" sz="1150" dirty="0"/>
          </a:p>
        </p:txBody>
      </p:sp>
      <p:sp>
        <p:nvSpPr>
          <p:cNvPr id="23" name="Shape 15"/>
          <p:cNvSpPr/>
          <p:nvPr/>
        </p:nvSpPr>
        <p:spPr>
          <a:xfrm>
            <a:off x="548640" y="3611880"/>
            <a:ext cx="1719072" cy="822960"/>
          </a:xfrm>
          <a:prstGeom prst="roundRect">
            <a:avLst>
              <a:gd name="adj" fmla="val 11111"/>
            </a:avLst>
          </a:prstGeom>
          <a:solidFill>
            <a:srgbClr val="FFFFFF"/>
          </a:solidFill>
          <a:ln w="12700">
            <a:solidFill>
              <a:srgbClr val="E1E5F0"/>
            </a:solidFill>
            <a:prstDash val="solid"/>
          </a:ln>
        </p:spPr>
      </p:sp>
      <p:pic>
        <p:nvPicPr>
          <p:cNvPr id="24" name="Image 6" descr="icons/landmark_blue.png">    </p:cNvPr>
          <p:cNvPicPr>
            <a:picLocks noChangeAspect="1"/>
          </p:cNvPicPr>
          <p:nvPr/>
        </p:nvPicPr>
        <p:blipFill>
          <a:blip r:embed="rId7"/>
          <a:stretch>
            <a:fillRect/>
          </a:stretch>
        </p:blipFill>
        <p:spPr>
          <a:xfrm>
            <a:off x="694944" y="3886200"/>
            <a:ext cx="274320" cy="274320"/>
          </a:xfrm>
          <a:prstGeom prst="rect">
            <a:avLst/>
          </a:prstGeom>
        </p:spPr>
      </p:pic>
      <p:sp>
        <p:nvSpPr>
          <p:cNvPr id="25" name="Text 16"/>
          <p:cNvSpPr txBox="1"/>
          <p:nvPr/>
        </p:nvSpPr>
        <p:spPr>
          <a:xfrm>
            <a:off x="1051560" y="3703320"/>
            <a:ext cx="1152144" cy="640080"/>
          </a:xfrm>
          <a:prstGeom prst="rect">
            <a:avLst/>
          </a:prstGeom>
          <a:noFill/>
          <a:ln/>
        </p:spPr>
        <p:txBody>
          <a:bodyPr wrap="square" lIns="0" tIns="0" rIns="0" bIns="0" rtlCol="0" anchor="ctr"/>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Ticaret Bakanlığı</a:t>
            </a:r>
            <a:endParaRPr lang="en-US" sz="1150" dirty="0"/>
          </a:p>
        </p:txBody>
      </p:sp>
      <p:sp>
        <p:nvSpPr>
          <p:cNvPr id="26" name="Shape 17"/>
          <p:cNvSpPr/>
          <p:nvPr/>
        </p:nvSpPr>
        <p:spPr>
          <a:xfrm>
            <a:off x="2377440" y="3611880"/>
            <a:ext cx="1719072" cy="822960"/>
          </a:xfrm>
          <a:prstGeom prst="roundRect">
            <a:avLst>
              <a:gd name="adj" fmla="val 11111"/>
            </a:avLst>
          </a:prstGeom>
          <a:solidFill>
            <a:srgbClr val="FFFFFF"/>
          </a:solidFill>
          <a:ln w="12700">
            <a:solidFill>
              <a:srgbClr val="E1E5F0"/>
            </a:solidFill>
            <a:prstDash val="solid"/>
          </a:ln>
        </p:spPr>
      </p:sp>
      <p:pic>
        <p:nvPicPr>
          <p:cNvPr id="27" name="Image 7" descr="icons/landmark_blue.png">    </p:cNvPr>
          <p:cNvPicPr>
            <a:picLocks noChangeAspect="1"/>
          </p:cNvPicPr>
          <p:nvPr/>
        </p:nvPicPr>
        <p:blipFill>
          <a:blip r:embed="rId8"/>
          <a:stretch>
            <a:fillRect/>
          </a:stretch>
        </p:blipFill>
        <p:spPr>
          <a:xfrm>
            <a:off x="2523744" y="3886200"/>
            <a:ext cx="274320" cy="274320"/>
          </a:xfrm>
          <a:prstGeom prst="rect">
            <a:avLst/>
          </a:prstGeom>
        </p:spPr>
      </p:pic>
      <p:sp>
        <p:nvSpPr>
          <p:cNvPr id="28" name="Text 18"/>
          <p:cNvSpPr txBox="1"/>
          <p:nvPr/>
        </p:nvSpPr>
        <p:spPr>
          <a:xfrm>
            <a:off x="2880360" y="3703320"/>
            <a:ext cx="1152144" cy="640080"/>
          </a:xfrm>
          <a:prstGeom prst="rect">
            <a:avLst/>
          </a:prstGeom>
          <a:noFill/>
          <a:ln/>
        </p:spPr>
        <p:txBody>
          <a:bodyPr wrap="square" lIns="0" tIns="0" rIns="0" bIns="0" rtlCol="0" anchor="ctr"/>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Rekabet Kurumu</a:t>
            </a:r>
            <a:endParaRPr lang="en-US" sz="1150" dirty="0"/>
          </a:p>
        </p:txBody>
      </p:sp>
      <p:sp>
        <p:nvSpPr>
          <p:cNvPr id="29" name="Shape 19"/>
          <p:cNvSpPr/>
          <p:nvPr/>
        </p:nvSpPr>
        <p:spPr>
          <a:xfrm>
            <a:off x="4206240" y="3611880"/>
            <a:ext cx="1719072" cy="822960"/>
          </a:xfrm>
          <a:prstGeom prst="roundRect">
            <a:avLst>
              <a:gd name="adj" fmla="val 11111"/>
            </a:avLst>
          </a:prstGeom>
          <a:solidFill>
            <a:srgbClr val="FFFFFF"/>
          </a:solidFill>
          <a:ln w="12700">
            <a:solidFill>
              <a:srgbClr val="E1E5F0"/>
            </a:solidFill>
            <a:prstDash val="solid"/>
          </a:ln>
        </p:spPr>
      </p:sp>
      <p:pic>
        <p:nvPicPr>
          <p:cNvPr id="30" name="Image 8" descr="icons/landmark_blue.png">    </p:cNvPr>
          <p:cNvPicPr>
            <a:picLocks noChangeAspect="1"/>
          </p:cNvPicPr>
          <p:nvPr/>
        </p:nvPicPr>
        <p:blipFill>
          <a:blip r:embed="rId9"/>
          <a:stretch>
            <a:fillRect/>
          </a:stretch>
        </p:blipFill>
        <p:spPr>
          <a:xfrm>
            <a:off x="4352544" y="3886200"/>
            <a:ext cx="274320" cy="274320"/>
          </a:xfrm>
          <a:prstGeom prst="rect">
            <a:avLst/>
          </a:prstGeom>
        </p:spPr>
      </p:pic>
      <p:sp>
        <p:nvSpPr>
          <p:cNvPr id="31" name="Text 20"/>
          <p:cNvSpPr txBox="1"/>
          <p:nvPr/>
        </p:nvSpPr>
        <p:spPr>
          <a:xfrm>
            <a:off x="4709160" y="3703320"/>
            <a:ext cx="1152144" cy="640080"/>
          </a:xfrm>
          <a:prstGeom prst="rect">
            <a:avLst/>
          </a:prstGeom>
          <a:noFill/>
          <a:ln/>
        </p:spPr>
        <p:txBody>
          <a:bodyPr wrap="square" lIns="0" tIns="0" rIns="0" bIns="0" rtlCol="0" anchor="ctr"/>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TKBB</a:t>
            </a:r>
            <a:endParaRPr lang="en-US" sz="1150" dirty="0"/>
          </a:p>
        </p:txBody>
      </p:sp>
      <p:sp>
        <p:nvSpPr>
          <p:cNvPr id="32" name="Shape 21"/>
          <p:cNvSpPr/>
          <p:nvPr/>
        </p:nvSpPr>
        <p:spPr>
          <a:xfrm>
            <a:off x="548640" y="4617720"/>
            <a:ext cx="5376672" cy="868680"/>
          </a:xfrm>
          <a:prstGeom prst="roundRect">
            <a:avLst>
              <a:gd name="adj" fmla="val 10526"/>
            </a:avLst>
          </a:prstGeom>
          <a:solidFill>
            <a:srgbClr val="EEF0FB"/>
          </a:solidFill>
          <a:ln w="12700">
            <a:solidFill>
              <a:srgbClr val="EEF0FB"/>
            </a:solidFill>
            <a:prstDash val="solid"/>
          </a:ln>
        </p:spPr>
      </p:sp>
      <p:pic>
        <p:nvPicPr>
          <p:cNvPr id="33" name="Image 9" descr="icons/mail_blue.png">    </p:cNvPr>
          <p:cNvPicPr>
            <a:picLocks noChangeAspect="1"/>
          </p:cNvPicPr>
          <p:nvPr/>
        </p:nvPicPr>
        <p:blipFill>
          <a:blip r:embed="rId10"/>
          <a:stretch>
            <a:fillRect/>
          </a:stretch>
        </p:blipFill>
        <p:spPr>
          <a:xfrm>
            <a:off x="749808" y="4873752"/>
            <a:ext cx="347472" cy="347472"/>
          </a:xfrm>
          <a:prstGeom prst="rect">
            <a:avLst/>
          </a:prstGeom>
        </p:spPr>
      </p:pic>
      <p:sp>
        <p:nvSpPr>
          <p:cNvPr id="34" name="Text 22"/>
          <p:cNvSpPr txBox="1"/>
          <p:nvPr/>
        </p:nvSpPr>
        <p:spPr>
          <a:xfrm>
            <a:off x="1280160" y="4709160"/>
            <a:ext cx="4297680" cy="292608"/>
          </a:xfrm>
          <a:prstGeom prst="rect">
            <a:avLst/>
          </a:prstGeom>
          <a:noFill/>
          <a:ln/>
        </p:spPr>
        <p:txBody>
          <a:bodyPr wrap="square" lIns="0" tIns="0" rIns="0" bIns="0" rtlCol="0" anchor="t"/>
          <a:lstStyle/>
          <a:p>
            <a:pPr indent="0" marL="0">
              <a:buNone/>
            </a:pPr>
            <a:r>
              <a:rPr lang="en-US" sz="1250" b="1" dirty="0">
                <a:solidFill>
                  <a:srgbClr val="172144"/>
                </a:solidFill>
                <a:latin typeface="Segoe UI Semibold" pitchFamily="34" charset="0"/>
                <a:ea typeface="Segoe UI Semibold" pitchFamily="34" charset="-122"/>
                <a:cs typeface="Segoe UI Semibold" pitchFamily="34" charset="-120"/>
              </a:rPr>
              <a:t>Banka KEP Adresi</a:t>
            </a:r>
            <a:endParaRPr lang="en-US" sz="1250" dirty="0"/>
          </a:p>
        </p:txBody>
      </p:sp>
      <p:sp>
        <p:nvSpPr>
          <p:cNvPr id="35" name="Text 23"/>
          <p:cNvSpPr txBox="1"/>
          <p:nvPr/>
        </p:nvSpPr>
        <p:spPr>
          <a:xfrm>
            <a:off x="1280160" y="5029200"/>
            <a:ext cx="4389120" cy="320040"/>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Muhaberat üzerinden gelen mevzuat içerikli resmi yazılar</a:t>
            </a:r>
            <a:endParaRPr lang="en-US" sz="1100" dirty="0"/>
          </a:p>
        </p:txBody>
      </p:sp>
      <p:sp>
        <p:nvSpPr>
          <p:cNvPr id="36" name="Text 24"/>
          <p:cNvSpPr txBox="1"/>
          <p:nvPr/>
        </p:nvSpPr>
        <p:spPr>
          <a:xfrm>
            <a:off x="6355080" y="1234440"/>
            <a:ext cx="4572000" cy="320040"/>
          </a:xfrm>
          <a:prstGeom prst="rect">
            <a:avLst/>
          </a:prstGeom>
          <a:noFill/>
          <a:ln/>
        </p:spPr>
        <p:txBody>
          <a:bodyPr wrap="square" lIns="0" tIns="0" rIns="0" bIns="0" rtlCol="0" anchor="t"/>
          <a:lstStyle/>
          <a:p>
            <a:pPr indent="0" marL="0">
              <a:buNone/>
            </a:pPr>
            <a:r>
              <a:rPr lang="en-US" sz="1400" b="1" dirty="0">
                <a:solidFill>
                  <a:srgbClr val="0012B0"/>
                </a:solidFill>
                <a:latin typeface="Segoe UI Semibold" pitchFamily="34" charset="0"/>
                <a:ea typeface="Segoe UI Semibold" pitchFamily="34" charset="-122"/>
                <a:cs typeface="Segoe UI Semibold" pitchFamily="34" charset="-120"/>
              </a:rPr>
              <a:t>Nasıl çalışır?</a:t>
            </a:r>
            <a:endParaRPr lang="en-US" sz="1400" dirty="0"/>
          </a:p>
        </p:txBody>
      </p:sp>
      <p:sp>
        <p:nvSpPr>
          <p:cNvPr id="37" name="Shape 25"/>
          <p:cNvSpPr/>
          <p:nvPr/>
        </p:nvSpPr>
        <p:spPr>
          <a:xfrm>
            <a:off x="6583680" y="2011680"/>
            <a:ext cx="0" cy="3063240"/>
          </a:xfrm>
          <a:prstGeom prst="line">
            <a:avLst/>
          </a:prstGeom>
          <a:noFill/>
          <a:ln w="19050">
            <a:solidFill>
              <a:srgbClr val="CBD2E6"/>
            </a:solidFill>
            <a:prstDash val="solid"/>
          </a:ln>
        </p:spPr>
      </p:sp>
      <p:sp>
        <p:nvSpPr>
          <p:cNvPr id="38" name="Shape 26"/>
          <p:cNvSpPr/>
          <p:nvPr/>
        </p:nvSpPr>
        <p:spPr>
          <a:xfrm>
            <a:off x="6355080" y="1737360"/>
            <a:ext cx="457200" cy="457200"/>
          </a:xfrm>
          <a:prstGeom prst="ellipse">
            <a:avLst/>
          </a:prstGeom>
          <a:solidFill>
            <a:srgbClr val="172144"/>
          </a:solidFill>
          <a:ln w="12700">
            <a:solidFill>
              <a:srgbClr val="172144"/>
            </a:solidFill>
            <a:prstDash val="solid"/>
          </a:ln>
        </p:spPr>
      </p:sp>
      <p:sp>
        <p:nvSpPr>
          <p:cNvPr id="39" name="Text 27"/>
          <p:cNvSpPr txBox="1"/>
          <p:nvPr/>
        </p:nvSpPr>
        <p:spPr>
          <a:xfrm>
            <a:off x="6355080" y="1737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40" name="Text 28"/>
          <p:cNvSpPr txBox="1"/>
          <p:nvPr/>
        </p:nvSpPr>
        <p:spPr>
          <a:xfrm>
            <a:off x="6995160" y="1755648"/>
            <a:ext cx="4617720"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Periyodik tarama</a:t>
            </a:r>
            <a:endParaRPr lang="en-US" sz="1300" dirty="0"/>
          </a:p>
        </p:txBody>
      </p:sp>
      <p:sp>
        <p:nvSpPr>
          <p:cNvPr id="41" name="Text 29"/>
          <p:cNvSpPr txBox="1"/>
          <p:nvPr/>
        </p:nvSpPr>
        <p:spPr>
          <a:xfrm>
            <a:off x="6995160" y="2084832"/>
            <a:ext cx="4617720" cy="56692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Kaynaklar gün içinde birden fazla pencerede taranır; Resmî Gazete'nin geç saatte yayımlanan mükerrer sayıları da yakalanır.</a:t>
            </a:r>
            <a:endParaRPr lang="en-US" sz="1100" dirty="0"/>
          </a:p>
        </p:txBody>
      </p:sp>
      <p:sp>
        <p:nvSpPr>
          <p:cNvPr id="42" name="Shape 30"/>
          <p:cNvSpPr/>
          <p:nvPr/>
        </p:nvSpPr>
        <p:spPr>
          <a:xfrm>
            <a:off x="6355080" y="2761488"/>
            <a:ext cx="457200" cy="457200"/>
          </a:xfrm>
          <a:prstGeom prst="ellipse">
            <a:avLst/>
          </a:prstGeom>
          <a:solidFill>
            <a:srgbClr val="172144"/>
          </a:solidFill>
          <a:ln w="12700">
            <a:solidFill>
              <a:srgbClr val="172144"/>
            </a:solidFill>
            <a:prstDash val="solid"/>
          </a:ln>
        </p:spPr>
      </p:sp>
      <p:sp>
        <p:nvSpPr>
          <p:cNvPr id="43" name="Text 31"/>
          <p:cNvSpPr txBox="1"/>
          <p:nvPr/>
        </p:nvSpPr>
        <p:spPr>
          <a:xfrm>
            <a:off x="6355080" y="2761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44" name="Text 32"/>
          <p:cNvSpPr txBox="1"/>
          <p:nvPr/>
        </p:nvSpPr>
        <p:spPr>
          <a:xfrm>
            <a:off x="6995160" y="2779776"/>
            <a:ext cx="4617720"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Değişiklik tespiti ve arşiv</a:t>
            </a:r>
            <a:endParaRPr lang="en-US" sz="1300" dirty="0"/>
          </a:p>
        </p:txBody>
      </p:sp>
      <p:sp>
        <p:nvSpPr>
          <p:cNvPr id="45" name="Text 33"/>
          <p:cNvSpPr txBox="1"/>
          <p:nvPr/>
        </p:nvSpPr>
        <p:spPr>
          <a:xfrm>
            <a:off x="6995160" y="3108960"/>
            <a:ext cx="4617720" cy="56692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Yalnızca yeni veya değişen içerik işlenir; tüm ham içerik tarih ve kaynak bilgisiyle arşivlenir.</a:t>
            </a:r>
            <a:endParaRPr lang="en-US" sz="1100" dirty="0"/>
          </a:p>
        </p:txBody>
      </p:sp>
      <p:sp>
        <p:nvSpPr>
          <p:cNvPr id="46" name="Shape 34"/>
          <p:cNvSpPr/>
          <p:nvPr/>
        </p:nvSpPr>
        <p:spPr>
          <a:xfrm>
            <a:off x="6355080" y="3785616"/>
            <a:ext cx="457200" cy="457200"/>
          </a:xfrm>
          <a:prstGeom prst="ellipse">
            <a:avLst/>
          </a:prstGeom>
          <a:solidFill>
            <a:srgbClr val="172144"/>
          </a:solidFill>
          <a:ln w="12700">
            <a:solidFill>
              <a:srgbClr val="172144"/>
            </a:solidFill>
            <a:prstDash val="solid"/>
          </a:ln>
        </p:spPr>
      </p:sp>
      <p:sp>
        <p:nvSpPr>
          <p:cNvPr id="47" name="Text 35"/>
          <p:cNvSpPr txBox="1"/>
          <p:nvPr/>
        </p:nvSpPr>
        <p:spPr>
          <a:xfrm>
            <a:off x="6355080" y="3785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48" name="Text 36"/>
          <p:cNvSpPr txBox="1"/>
          <p:nvPr/>
        </p:nvSpPr>
        <p:spPr>
          <a:xfrm>
            <a:off x="6995160" y="3803904"/>
            <a:ext cx="4617720"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Metne dönüştürme</a:t>
            </a:r>
            <a:endParaRPr lang="en-US" sz="1300" dirty="0"/>
          </a:p>
        </p:txBody>
      </p:sp>
      <p:sp>
        <p:nvSpPr>
          <p:cNvPr id="49" name="Text 37"/>
          <p:cNvSpPr txBox="1"/>
          <p:nvPr/>
        </p:nvSpPr>
        <p:spPr>
          <a:xfrm>
            <a:off x="6995160" y="4133088"/>
            <a:ext cx="4617720" cy="56692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Web sayfaları ve PDF'ler metne çevrilir; taranmış belgeler OCR ile okunur.</a:t>
            </a:r>
            <a:endParaRPr lang="en-US" sz="1100" dirty="0"/>
          </a:p>
        </p:txBody>
      </p:sp>
      <p:sp>
        <p:nvSpPr>
          <p:cNvPr id="50" name="Shape 38"/>
          <p:cNvSpPr/>
          <p:nvPr/>
        </p:nvSpPr>
        <p:spPr>
          <a:xfrm>
            <a:off x="6355080" y="4809744"/>
            <a:ext cx="457200" cy="457200"/>
          </a:xfrm>
          <a:prstGeom prst="ellipse">
            <a:avLst/>
          </a:prstGeom>
          <a:solidFill>
            <a:srgbClr val="172144"/>
          </a:solidFill>
          <a:ln w="12700">
            <a:solidFill>
              <a:srgbClr val="172144"/>
            </a:solidFill>
            <a:prstDash val="solid"/>
          </a:ln>
        </p:spPr>
      </p:sp>
      <p:sp>
        <p:nvSpPr>
          <p:cNvPr id="51" name="Text 39"/>
          <p:cNvSpPr txBox="1"/>
          <p:nvPr/>
        </p:nvSpPr>
        <p:spPr>
          <a:xfrm>
            <a:off x="6355080" y="48097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52" name="Text 40"/>
          <p:cNvSpPr txBox="1"/>
          <p:nvPr/>
        </p:nvSpPr>
        <p:spPr>
          <a:xfrm>
            <a:off x="6995160" y="4828032"/>
            <a:ext cx="4617720"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Tekilleştirme</a:t>
            </a:r>
            <a:endParaRPr lang="en-US" sz="1300" dirty="0"/>
          </a:p>
        </p:txBody>
      </p:sp>
      <p:sp>
        <p:nvSpPr>
          <p:cNvPr id="53" name="Text 41"/>
          <p:cNvSpPr txBox="1"/>
          <p:nvPr/>
        </p:nvSpPr>
        <p:spPr>
          <a:xfrm>
            <a:off x="6995160" y="5157216"/>
            <a:ext cx="4617720" cy="56692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Aynı düzenleme birden fazla kaynakta yayımlansa da tek kayıt olarak ilerler; mükerrer bildirim oluşmaz.</a:t>
            </a:r>
            <a:endParaRPr lang="en-US" sz="1100" dirty="0"/>
          </a:p>
        </p:txBody>
      </p:sp>
      <p:sp>
        <p:nvSpPr>
          <p:cNvPr id="54" name="Shape 42"/>
          <p:cNvSpPr/>
          <p:nvPr/>
        </p:nvSpPr>
        <p:spPr>
          <a:xfrm>
            <a:off x="548640" y="5806440"/>
            <a:ext cx="11091672" cy="457200"/>
          </a:xfrm>
          <a:prstGeom prst="roundRect">
            <a:avLst>
              <a:gd name="adj" fmla="val 16000"/>
            </a:avLst>
          </a:prstGeom>
          <a:solidFill>
            <a:srgbClr val="F4F5F8"/>
          </a:solidFill>
          <a:ln w="12700">
            <a:solidFill>
              <a:srgbClr val="F4F5F8"/>
            </a:solidFill>
            <a:prstDash val="solid"/>
          </a:ln>
        </p:spPr>
      </p:sp>
      <p:pic>
        <p:nvPicPr>
          <p:cNvPr id="55" name="Image 10" descr="icons/clock_gray.png">    </p:cNvPr>
          <p:cNvPicPr>
            <a:picLocks noChangeAspect="1"/>
          </p:cNvPicPr>
          <p:nvPr/>
        </p:nvPicPr>
        <p:blipFill>
          <a:blip r:embed="rId11"/>
          <a:stretch>
            <a:fillRect/>
          </a:stretch>
        </p:blipFill>
        <p:spPr>
          <a:xfrm>
            <a:off x="731520" y="5907024"/>
            <a:ext cx="237744" cy="237744"/>
          </a:xfrm>
          <a:prstGeom prst="rect">
            <a:avLst/>
          </a:prstGeom>
        </p:spPr>
      </p:pic>
      <p:sp>
        <p:nvSpPr>
          <p:cNvPr id="56" name="Text 43"/>
          <p:cNvSpPr txBox="1"/>
          <p:nvPr/>
        </p:nvSpPr>
        <p:spPr>
          <a:xfrm>
            <a:off x="1097280" y="5806440"/>
            <a:ext cx="10424160" cy="457200"/>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Tarama periyotları, keşif aşamasında her kaynağın yayın alışkanlığına göre belirlenecektir.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Yapay Zeka ile Tespit ve Önceliklendirme</a:t>
            </a:r>
            <a:endParaRPr lang="en-US" sz="2200" dirty="0"/>
          </a:p>
        </p:txBody>
      </p:sp>
      <p:sp>
        <p:nvSpPr>
          <p:cNvPr id="3" name="Shape 1"/>
          <p:cNvSpPr/>
          <p:nvPr/>
        </p:nvSpPr>
        <p:spPr>
          <a:xfrm>
            <a:off x="640080" y="1371600"/>
            <a:ext cx="5303520" cy="749808"/>
          </a:xfrm>
          <a:prstGeom prst="roundRect">
            <a:avLst>
              <a:gd name="adj" fmla="val 12195"/>
            </a:avLst>
          </a:prstGeom>
          <a:solidFill>
            <a:srgbClr val="E7EBF7"/>
          </a:solidFill>
          <a:ln w="12700">
            <a:solidFill>
              <a:srgbClr val="E7EBF7"/>
            </a:solidFill>
            <a:prstDash val="solid"/>
          </a:ln>
        </p:spPr>
      </p:sp>
      <p:sp>
        <p:nvSpPr>
          <p:cNvPr id="4" name="Text 2"/>
          <p:cNvSpPr txBox="1"/>
          <p:nvPr/>
        </p:nvSpPr>
        <p:spPr>
          <a:xfrm>
            <a:off x="640080" y="1463040"/>
            <a:ext cx="5303520" cy="292608"/>
          </a:xfrm>
          <a:prstGeom prst="rect">
            <a:avLst/>
          </a:prstGeom>
          <a:noFill/>
          <a:ln/>
        </p:spPr>
        <p:txBody>
          <a:bodyPr wrap="square" lIns="0" tIns="0" rIns="0" bIns="0" rtlCol="0" anchor="t"/>
          <a:lstStyle/>
          <a:p>
            <a:pPr algn="ctr" indent="0" marL="0">
              <a:buNone/>
            </a:pPr>
            <a:r>
              <a:rPr lang="en-US" sz="1300" b="1" dirty="0">
                <a:solidFill>
                  <a:srgbClr val="172144"/>
                </a:solidFill>
                <a:latin typeface="Segoe UI Semibold" pitchFamily="34" charset="0"/>
                <a:ea typeface="Segoe UI Semibold" pitchFamily="34" charset="-122"/>
                <a:cs typeface="Segoe UI Semibold" pitchFamily="34" charset="-120"/>
              </a:rPr>
              <a:t>Tüm yeni içerik</a:t>
            </a:r>
            <a:endParaRPr lang="en-US" sz="1300" dirty="0"/>
          </a:p>
        </p:txBody>
      </p:sp>
      <p:sp>
        <p:nvSpPr>
          <p:cNvPr id="5" name="Text 3"/>
          <p:cNvSpPr txBox="1"/>
          <p:nvPr/>
        </p:nvSpPr>
        <p:spPr>
          <a:xfrm>
            <a:off x="640080" y="1773936"/>
            <a:ext cx="5303520" cy="274320"/>
          </a:xfrm>
          <a:prstGeom prst="rect">
            <a:avLst/>
          </a:prstGeom>
          <a:noFill/>
          <a:ln/>
        </p:spPr>
        <p:txBody>
          <a:bodyPr wrap="square" lIns="0" tIns="0" rIns="0" bIns="0" rtlCol="0" anchor="t"/>
          <a:lstStyle/>
          <a:p>
            <a:pPr algn="ctr" indent="0" marL="0">
              <a:buNone/>
            </a:pPr>
            <a:r>
              <a:rPr lang="en-US" sz="1050" dirty="0">
                <a:solidFill>
                  <a:srgbClr val="6B7280"/>
                </a:solidFill>
                <a:latin typeface="Segoe UI" pitchFamily="34" charset="0"/>
                <a:ea typeface="Segoe UI" pitchFamily="34" charset="-122"/>
                <a:cs typeface="Segoe UI" pitchFamily="34" charset="-120"/>
              </a:rPr>
              <a:t>Resmî Gazete, kurum siteleri ve KEP</a:t>
            </a:r>
            <a:endParaRPr lang="en-US" sz="1050" dirty="0"/>
          </a:p>
        </p:txBody>
      </p:sp>
      <p:sp>
        <p:nvSpPr>
          <p:cNvPr id="6" name="Shape 4"/>
          <p:cNvSpPr/>
          <p:nvPr/>
        </p:nvSpPr>
        <p:spPr>
          <a:xfrm>
            <a:off x="3291840" y="2148840"/>
            <a:ext cx="0" cy="219456"/>
          </a:xfrm>
          <a:prstGeom prst="line">
            <a:avLst/>
          </a:prstGeom>
          <a:noFill/>
          <a:ln w="19050">
            <a:solidFill>
              <a:srgbClr val="9AA3C0"/>
            </a:solidFill>
            <a:prstDash val="solid"/>
            <a:tailEnd type="triangle"/>
          </a:ln>
        </p:spPr>
      </p:sp>
      <p:sp>
        <p:nvSpPr>
          <p:cNvPr id="7" name="Shape 5"/>
          <p:cNvSpPr/>
          <p:nvPr/>
        </p:nvSpPr>
        <p:spPr>
          <a:xfrm>
            <a:off x="1188720" y="2395728"/>
            <a:ext cx="4206240" cy="749808"/>
          </a:xfrm>
          <a:prstGeom prst="roundRect">
            <a:avLst>
              <a:gd name="adj" fmla="val 12195"/>
            </a:avLst>
          </a:prstGeom>
          <a:solidFill>
            <a:srgbClr val="2A3A8F"/>
          </a:solidFill>
          <a:ln w="12700">
            <a:solidFill>
              <a:srgbClr val="2A3A8F"/>
            </a:solidFill>
            <a:prstDash val="solid"/>
          </a:ln>
        </p:spPr>
      </p:sp>
      <p:sp>
        <p:nvSpPr>
          <p:cNvPr id="8" name="Text 6"/>
          <p:cNvSpPr txBox="1"/>
          <p:nvPr/>
        </p:nvSpPr>
        <p:spPr>
          <a:xfrm>
            <a:off x="1188720" y="2487168"/>
            <a:ext cx="420624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İlgililik tespiti</a:t>
            </a:r>
            <a:endParaRPr lang="en-US" sz="1300" dirty="0"/>
          </a:p>
        </p:txBody>
      </p:sp>
      <p:sp>
        <p:nvSpPr>
          <p:cNvPr id="9" name="Text 7"/>
          <p:cNvSpPr txBox="1"/>
          <p:nvPr/>
        </p:nvSpPr>
        <p:spPr>
          <a:xfrm>
            <a:off x="1188720" y="2798064"/>
            <a:ext cx="4206240" cy="274320"/>
          </a:xfrm>
          <a:prstGeom prst="rect">
            <a:avLst/>
          </a:prstGeom>
          <a:noFill/>
          <a:ln/>
        </p:spPr>
        <p:txBody>
          <a:bodyPr wrap="square" lIns="0" tIns="0" rIns="0" bIns="0" rtlCol="0" anchor="t"/>
          <a:lstStyle/>
          <a:p>
            <a:pPr algn="ctr" indent="0" marL="0">
              <a:buNone/>
            </a:pPr>
            <a:r>
              <a:rPr lang="en-US" sz="1050" dirty="0">
                <a:solidFill>
                  <a:srgbClr val="C9D1EA"/>
                </a:solidFill>
                <a:latin typeface="Segoe UI" pitchFamily="34" charset="0"/>
                <a:ea typeface="Segoe UI" pitchFamily="34" charset="-122"/>
                <a:cs typeface="Segoe UI" pitchFamily="34" charset="-120"/>
              </a:rPr>
              <a:t>Bankayı ilgilendirir mi? · güven skoru</a:t>
            </a:r>
            <a:endParaRPr lang="en-US" sz="1050" dirty="0"/>
          </a:p>
        </p:txBody>
      </p:sp>
      <p:sp>
        <p:nvSpPr>
          <p:cNvPr id="10" name="Shape 8"/>
          <p:cNvSpPr/>
          <p:nvPr/>
        </p:nvSpPr>
        <p:spPr>
          <a:xfrm>
            <a:off x="3291840" y="3172968"/>
            <a:ext cx="0" cy="219456"/>
          </a:xfrm>
          <a:prstGeom prst="line">
            <a:avLst/>
          </a:prstGeom>
          <a:noFill/>
          <a:ln w="19050">
            <a:solidFill>
              <a:srgbClr val="9AA3C0"/>
            </a:solidFill>
            <a:prstDash val="solid"/>
            <a:tailEnd type="triangle"/>
          </a:ln>
        </p:spPr>
      </p:sp>
      <p:sp>
        <p:nvSpPr>
          <p:cNvPr id="11" name="Shape 9"/>
          <p:cNvSpPr/>
          <p:nvPr/>
        </p:nvSpPr>
        <p:spPr>
          <a:xfrm>
            <a:off x="1737360" y="3419856"/>
            <a:ext cx="3108960" cy="749808"/>
          </a:xfrm>
          <a:prstGeom prst="roundRect">
            <a:avLst>
              <a:gd name="adj" fmla="val 12195"/>
            </a:avLst>
          </a:prstGeom>
          <a:solidFill>
            <a:srgbClr val="172144"/>
          </a:solidFill>
          <a:ln w="12700">
            <a:solidFill>
              <a:srgbClr val="172144"/>
            </a:solidFill>
            <a:prstDash val="solid"/>
          </a:ln>
        </p:spPr>
      </p:sp>
      <p:sp>
        <p:nvSpPr>
          <p:cNvPr id="12" name="Text 10"/>
          <p:cNvSpPr txBox="1"/>
          <p:nvPr/>
        </p:nvSpPr>
        <p:spPr>
          <a:xfrm>
            <a:off x="1737360" y="3511296"/>
            <a:ext cx="310896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Başkanlığa sunulan kayıtlar</a:t>
            </a:r>
            <a:endParaRPr lang="en-US" sz="1300" dirty="0"/>
          </a:p>
        </p:txBody>
      </p:sp>
      <p:sp>
        <p:nvSpPr>
          <p:cNvPr id="13" name="Text 11"/>
          <p:cNvSpPr txBox="1"/>
          <p:nvPr/>
        </p:nvSpPr>
        <p:spPr>
          <a:xfrm>
            <a:off x="1737360" y="3822192"/>
            <a:ext cx="3108960" cy="274320"/>
          </a:xfrm>
          <a:prstGeom prst="rect">
            <a:avLst/>
          </a:prstGeom>
          <a:noFill/>
          <a:ln/>
        </p:spPr>
        <p:txBody>
          <a:bodyPr wrap="square" lIns="0" tIns="0" rIns="0" bIns="0" rtlCol="0" anchor="t"/>
          <a:lstStyle/>
          <a:p>
            <a:pPr algn="ctr" indent="0" marL="0">
              <a:buNone/>
            </a:pPr>
            <a:r>
              <a:rPr lang="en-US" sz="1050" dirty="0">
                <a:solidFill>
                  <a:srgbClr val="C9D1EA"/>
                </a:solidFill>
                <a:latin typeface="Segoe UI" pitchFamily="34" charset="0"/>
                <a:ea typeface="Segoe UI" pitchFamily="34" charset="-122"/>
                <a:cs typeface="Segoe UI" pitchFamily="34" charset="-120"/>
              </a:rPr>
              <a:t>Önem derecesi ve özetle birlikte</a:t>
            </a:r>
            <a:endParaRPr lang="en-US" sz="1050" dirty="0"/>
          </a:p>
        </p:txBody>
      </p:sp>
      <p:sp>
        <p:nvSpPr>
          <p:cNvPr id="14" name="Shape 12"/>
          <p:cNvSpPr/>
          <p:nvPr/>
        </p:nvSpPr>
        <p:spPr>
          <a:xfrm>
            <a:off x="640080" y="4526280"/>
            <a:ext cx="5303520" cy="1234440"/>
          </a:xfrm>
          <a:prstGeom prst="roundRect">
            <a:avLst>
              <a:gd name="adj" fmla="val 7407"/>
            </a:avLst>
          </a:prstGeom>
          <a:solidFill>
            <a:srgbClr val="EEF0FB"/>
          </a:solidFill>
          <a:ln w="12700">
            <a:solidFill>
              <a:srgbClr val="EEF0FB"/>
            </a:solidFill>
            <a:prstDash val="solid"/>
          </a:ln>
        </p:spPr>
      </p:sp>
      <p:pic>
        <p:nvPicPr>
          <p:cNvPr id="15" name="Image 0" descr="icons/target_blue.png">    </p:cNvPr>
          <p:cNvPicPr>
            <a:picLocks noChangeAspect="1"/>
          </p:cNvPicPr>
          <p:nvPr/>
        </p:nvPicPr>
        <p:blipFill>
          <a:blip r:embed="rId1"/>
          <a:stretch>
            <a:fillRect/>
          </a:stretch>
        </p:blipFill>
        <p:spPr>
          <a:xfrm>
            <a:off x="841248" y="4727448"/>
            <a:ext cx="329184" cy="329184"/>
          </a:xfrm>
          <a:prstGeom prst="rect">
            <a:avLst/>
          </a:prstGeom>
        </p:spPr>
      </p:pic>
      <p:sp>
        <p:nvSpPr>
          <p:cNvPr id="16" name="Text 13"/>
          <p:cNvSpPr txBox="1"/>
          <p:nvPr/>
        </p:nvSpPr>
        <p:spPr>
          <a:xfrm>
            <a:off x="1325880" y="4636008"/>
            <a:ext cx="4480560" cy="1005840"/>
          </a:xfrm>
          <a:prstGeom prst="rect">
            <a:avLst/>
          </a:prstGeom>
          <a:noFill/>
          <a:ln/>
        </p:spPr>
        <p:txBody>
          <a:bodyPr wrap="square" lIns="0" tIns="0" rIns="0" bIns="0" rtlCol="0" anchor="ctr"/>
          <a:lstStyle/>
          <a:p>
            <a:pPr indent="0" marL="0">
              <a:lnSpc>
                <a:spcPct val="115000"/>
              </a:lnSpc>
              <a:buNone/>
            </a:pPr>
            <a:r>
              <a:rPr lang="en-US" sz="1150" b="1" dirty="0">
                <a:solidFill>
                  <a:srgbClr val="172144"/>
                </a:solidFill>
                <a:latin typeface="Segoe UI Semibold" pitchFamily="34" charset="0"/>
                <a:ea typeface="Segoe UI Semibold" pitchFamily="34" charset="-122"/>
                <a:cs typeface="Segoe UI Semibold" pitchFamily="34" charset="-120"/>
              </a:rPr>
              <a:t>Yüksek duyarlılık ilkesi: </a:t>
            </a:r>
            <a:pPr indent="0" marL="0">
              <a:lnSpc>
                <a:spcPct val="115000"/>
              </a:lnSpc>
              <a:buNone/>
            </a:pPr>
            <a:r>
              <a:rPr lang="en-US" sz="1150" dirty="0">
                <a:solidFill>
                  <a:srgbClr val="1F2937"/>
                </a:solidFill>
                <a:latin typeface="Segoe UI" pitchFamily="34" charset="0"/>
                <a:ea typeface="Segoe UI" pitchFamily="34" charset="-122"/>
                <a:cs typeface="Segoe UI" pitchFamily="34" charset="-120"/>
              </a:rPr>
              <a:t>Tereddütlü durumlarda kayıt elenmez, Başkanlığın değerlendirmesine sunulur. Amaç, ilgili bir düzenlemenin gözden kaçmamasıdır.</a:t>
            </a:r>
            <a:endParaRPr lang="en-US" sz="1150" dirty="0"/>
          </a:p>
        </p:txBody>
      </p:sp>
      <p:sp>
        <p:nvSpPr>
          <p:cNvPr id="17" name="Text 14"/>
          <p:cNvSpPr txBox="1"/>
          <p:nvPr/>
        </p:nvSpPr>
        <p:spPr>
          <a:xfrm>
            <a:off x="6537960" y="1325880"/>
            <a:ext cx="4572000" cy="320040"/>
          </a:xfrm>
          <a:prstGeom prst="rect">
            <a:avLst/>
          </a:prstGeom>
          <a:noFill/>
          <a:ln/>
        </p:spPr>
        <p:txBody>
          <a:bodyPr wrap="square" lIns="0" tIns="0" rIns="0" bIns="0" rtlCol="0" anchor="t"/>
          <a:lstStyle/>
          <a:p>
            <a:pPr indent="0" marL="0">
              <a:buNone/>
            </a:pPr>
            <a:r>
              <a:rPr lang="en-US" sz="1400" b="1" dirty="0">
                <a:solidFill>
                  <a:srgbClr val="0012B0"/>
                </a:solidFill>
                <a:latin typeface="Segoe UI Semibold" pitchFamily="34" charset="0"/>
                <a:ea typeface="Segoe UI Semibold" pitchFamily="34" charset="-122"/>
                <a:cs typeface="Segoe UI Semibold" pitchFamily="34" charset="-120"/>
              </a:rPr>
              <a:t>Önem dereceleri</a:t>
            </a:r>
            <a:endParaRPr lang="en-US" sz="1400" dirty="0"/>
          </a:p>
        </p:txBody>
      </p:sp>
      <p:sp>
        <p:nvSpPr>
          <p:cNvPr id="18" name="Shape 15"/>
          <p:cNvSpPr/>
          <p:nvPr/>
        </p:nvSpPr>
        <p:spPr>
          <a:xfrm>
            <a:off x="6537960" y="1783080"/>
            <a:ext cx="960120" cy="329184"/>
          </a:xfrm>
          <a:prstGeom prst="roundRect">
            <a:avLst>
              <a:gd name="adj" fmla="val 50000"/>
            </a:avLst>
          </a:prstGeom>
          <a:solidFill>
            <a:srgbClr val="FDE2E2"/>
          </a:solidFill>
          <a:ln w="12700">
            <a:solidFill>
              <a:srgbClr val="FDE2E2"/>
            </a:solidFill>
            <a:prstDash val="solid"/>
          </a:ln>
        </p:spPr>
      </p:sp>
      <p:sp>
        <p:nvSpPr>
          <p:cNvPr id="19" name="Text 16"/>
          <p:cNvSpPr txBox="1"/>
          <p:nvPr/>
        </p:nvSpPr>
        <p:spPr>
          <a:xfrm>
            <a:off x="6537960" y="1783080"/>
            <a:ext cx="960120" cy="329184"/>
          </a:xfrm>
          <a:prstGeom prst="rect">
            <a:avLst/>
          </a:prstGeom>
          <a:noFill/>
          <a:ln/>
        </p:spPr>
        <p:txBody>
          <a:bodyPr wrap="square" lIns="0" tIns="0" rIns="0" bIns="0" rtlCol="0" anchor="ctr"/>
          <a:lstStyle/>
          <a:p>
            <a:pPr algn="ctr" indent="0" marL="0">
              <a:buNone/>
            </a:pPr>
            <a:r>
              <a:rPr lang="en-US" sz="1050" b="1" dirty="0">
                <a:solidFill>
                  <a:srgbClr val="B91C1C"/>
                </a:solidFill>
                <a:latin typeface="Segoe UI Semibold" pitchFamily="34" charset="0"/>
                <a:ea typeface="Segoe UI Semibold" pitchFamily="34" charset="-122"/>
                <a:cs typeface="Segoe UI Semibold" pitchFamily="34" charset="-120"/>
              </a:rPr>
              <a:t>Kritik</a:t>
            </a:r>
            <a:endParaRPr lang="en-US" sz="1050" dirty="0"/>
          </a:p>
        </p:txBody>
      </p:sp>
      <p:sp>
        <p:nvSpPr>
          <p:cNvPr id="20" name="Text 17"/>
          <p:cNvSpPr txBox="1"/>
          <p:nvPr/>
        </p:nvSpPr>
        <p:spPr>
          <a:xfrm>
            <a:off x="7680960" y="1783080"/>
            <a:ext cx="3931920" cy="329184"/>
          </a:xfrm>
          <a:prstGeom prst="rect">
            <a:avLst/>
          </a:prstGeom>
          <a:noFill/>
          <a:ln/>
        </p:spPr>
        <p:txBody>
          <a:bodyPr wrap="square" lIns="0" tIns="0" rIns="0" bIns="0" rtlCol="0" anchor="ctr"/>
          <a:lstStyle/>
          <a:p>
            <a:pPr indent="0" marL="0">
              <a:buNone/>
            </a:pPr>
            <a:r>
              <a:rPr lang="en-US" sz="1150" dirty="0">
                <a:solidFill>
                  <a:srgbClr val="1F2937"/>
                </a:solidFill>
                <a:latin typeface="Segoe UI" pitchFamily="34" charset="0"/>
                <a:ea typeface="Segoe UI" pitchFamily="34" charset="-122"/>
                <a:cs typeface="Segoe UI" pitchFamily="34" charset="-120"/>
              </a:rPr>
              <a:t>Acil değerlendirme gerektirebilecek düzenlemeler</a:t>
            </a:r>
            <a:endParaRPr lang="en-US" sz="1150" dirty="0"/>
          </a:p>
        </p:txBody>
      </p:sp>
      <p:sp>
        <p:nvSpPr>
          <p:cNvPr id="21" name="Shape 18"/>
          <p:cNvSpPr/>
          <p:nvPr/>
        </p:nvSpPr>
        <p:spPr>
          <a:xfrm>
            <a:off x="6537960" y="2258568"/>
            <a:ext cx="960120" cy="329184"/>
          </a:xfrm>
          <a:prstGeom prst="roundRect">
            <a:avLst>
              <a:gd name="adj" fmla="val 50000"/>
            </a:avLst>
          </a:prstGeom>
          <a:solidFill>
            <a:srgbClr val="FEF0DC"/>
          </a:solidFill>
          <a:ln w="12700">
            <a:solidFill>
              <a:srgbClr val="FEF0DC"/>
            </a:solidFill>
            <a:prstDash val="solid"/>
          </a:ln>
        </p:spPr>
      </p:sp>
      <p:sp>
        <p:nvSpPr>
          <p:cNvPr id="22" name="Text 19"/>
          <p:cNvSpPr txBox="1"/>
          <p:nvPr/>
        </p:nvSpPr>
        <p:spPr>
          <a:xfrm>
            <a:off x="6537960" y="2258568"/>
            <a:ext cx="960120" cy="329184"/>
          </a:xfrm>
          <a:prstGeom prst="rect">
            <a:avLst/>
          </a:prstGeom>
          <a:noFill/>
          <a:ln/>
        </p:spPr>
        <p:txBody>
          <a:bodyPr wrap="square" lIns="0" tIns="0" rIns="0" bIns="0" rtlCol="0" anchor="ctr"/>
          <a:lstStyle/>
          <a:p>
            <a:pPr algn="ctr" indent="0" marL="0">
              <a:buNone/>
            </a:pPr>
            <a:r>
              <a:rPr lang="en-US" sz="1050" b="1" dirty="0">
                <a:solidFill>
                  <a:srgbClr val="B45309"/>
                </a:solidFill>
                <a:latin typeface="Segoe UI Semibold" pitchFamily="34" charset="0"/>
                <a:ea typeface="Segoe UI Semibold" pitchFamily="34" charset="-122"/>
                <a:cs typeface="Segoe UI Semibold" pitchFamily="34" charset="-120"/>
              </a:rPr>
              <a:t>Yüksek</a:t>
            </a:r>
            <a:endParaRPr lang="en-US" sz="1050" dirty="0"/>
          </a:p>
        </p:txBody>
      </p:sp>
      <p:sp>
        <p:nvSpPr>
          <p:cNvPr id="23" name="Text 20"/>
          <p:cNvSpPr txBox="1"/>
          <p:nvPr/>
        </p:nvSpPr>
        <p:spPr>
          <a:xfrm>
            <a:off x="7680960" y="2258568"/>
            <a:ext cx="3931920" cy="329184"/>
          </a:xfrm>
          <a:prstGeom prst="rect">
            <a:avLst/>
          </a:prstGeom>
          <a:noFill/>
          <a:ln/>
        </p:spPr>
        <p:txBody>
          <a:bodyPr wrap="square" lIns="0" tIns="0" rIns="0" bIns="0" rtlCol="0" anchor="ctr"/>
          <a:lstStyle/>
          <a:p>
            <a:pPr indent="0" marL="0">
              <a:buNone/>
            </a:pPr>
            <a:r>
              <a:rPr lang="en-US" sz="1150" dirty="0">
                <a:solidFill>
                  <a:srgbClr val="1F2937"/>
                </a:solidFill>
                <a:latin typeface="Segoe UI" pitchFamily="34" charset="0"/>
                <a:ea typeface="Segoe UI" pitchFamily="34" charset="-122"/>
                <a:cs typeface="Segoe UI" pitchFamily="34" charset="-120"/>
              </a:rPr>
              <a:t>Kısa vadede ele alınması gerekenler</a:t>
            </a:r>
            <a:endParaRPr lang="en-US" sz="1150" dirty="0"/>
          </a:p>
        </p:txBody>
      </p:sp>
      <p:sp>
        <p:nvSpPr>
          <p:cNvPr id="24" name="Shape 21"/>
          <p:cNvSpPr/>
          <p:nvPr/>
        </p:nvSpPr>
        <p:spPr>
          <a:xfrm>
            <a:off x="6537960" y="2734056"/>
            <a:ext cx="960120" cy="329184"/>
          </a:xfrm>
          <a:prstGeom prst="roundRect">
            <a:avLst>
              <a:gd name="adj" fmla="val 50000"/>
            </a:avLst>
          </a:prstGeom>
          <a:solidFill>
            <a:srgbClr val="E0EDFF"/>
          </a:solidFill>
          <a:ln w="12700">
            <a:solidFill>
              <a:srgbClr val="E0EDFF"/>
            </a:solidFill>
            <a:prstDash val="solid"/>
          </a:ln>
        </p:spPr>
      </p:sp>
      <p:sp>
        <p:nvSpPr>
          <p:cNvPr id="25" name="Text 22"/>
          <p:cNvSpPr txBox="1"/>
          <p:nvPr/>
        </p:nvSpPr>
        <p:spPr>
          <a:xfrm>
            <a:off x="6537960" y="2734056"/>
            <a:ext cx="960120" cy="329184"/>
          </a:xfrm>
          <a:prstGeom prst="rect">
            <a:avLst/>
          </a:prstGeom>
          <a:noFill/>
          <a:ln/>
        </p:spPr>
        <p:txBody>
          <a:bodyPr wrap="square" lIns="0" tIns="0" rIns="0" bIns="0" rtlCol="0" anchor="ctr"/>
          <a:lstStyle/>
          <a:p>
            <a:pPr algn="ctr" indent="0" marL="0">
              <a:buNone/>
            </a:pPr>
            <a:r>
              <a:rPr lang="en-US" sz="1050" b="1" dirty="0">
                <a:solidFill>
                  <a:srgbClr val="1D4ED8"/>
                </a:solidFill>
                <a:latin typeface="Segoe UI Semibold" pitchFamily="34" charset="0"/>
                <a:ea typeface="Segoe UI Semibold" pitchFamily="34" charset="-122"/>
                <a:cs typeface="Segoe UI Semibold" pitchFamily="34" charset="-120"/>
              </a:rPr>
              <a:t>Orta</a:t>
            </a:r>
            <a:endParaRPr lang="en-US" sz="1050" dirty="0"/>
          </a:p>
        </p:txBody>
      </p:sp>
      <p:sp>
        <p:nvSpPr>
          <p:cNvPr id="26" name="Text 23"/>
          <p:cNvSpPr txBox="1"/>
          <p:nvPr/>
        </p:nvSpPr>
        <p:spPr>
          <a:xfrm>
            <a:off x="7680960" y="2734056"/>
            <a:ext cx="3931920" cy="329184"/>
          </a:xfrm>
          <a:prstGeom prst="rect">
            <a:avLst/>
          </a:prstGeom>
          <a:noFill/>
          <a:ln/>
        </p:spPr>
        <p:txBody>
          <a:bodyPr wrap="square" lIns="0" tIns="0" rIns="0" bIns="0" rtlCol="0" anchor="ctr"/>
          <a:lstStyle/>
          <a:p>
            <a:pPr indent="0" marL="0">
              <a:buNone/>
            </a:pPr>
            <a:r>
              <a:rPr lang="en-US" sz="1150" dirty="0">
                <a:solidFill>
                  <a:srgbClr val="1F2937"/>
                </a:solidFill>
                <a:latin typeface="Segoe UI" pitchFamily="34" charset="0"/>
                <a:ea typeface="Segoe UI" pitchFamily="34" charset="-122"/>
                <a:cs typeface="Segoe UI" pitchFamily="34" charset="-120"/>
              </a:rPr>
              <a:t>Takip edilmesi gerekenler</a:t>
            </a:r>
            <a:endParaRPr lang="en-US" sz="1150" dirty="0"/>
          </a:p>
        </p:txBody>
      </p:sp>
      <p:sp>
        <p:nvSpPr>
          <p:cNvPr id="27" name="Shape 24"/>
          <p:cNvSpPr/>
          <p:nvPr/>
        </p:nvSpPr>
        <p:spPr>
          <a:xfrm>
            <a:off x="6537960" y="3209544"/>
            <a:ext cx="960120" cy="329184"/>
          </a:xfrm>
          <a:prstGeom prst="roundRect">
            <a:avLst>
              <a:gd name="adj" fmla="val 50000"/>
            </a:avLst>
          </a:prstGeom>
          <a:solidFill>
            <a:srgbClr val="EEF0F3"/>
          </a:solidFill>
          <a:ln w="12700">
            <a:solidFill>
              <a:srgbClr val="EEF0F3"/>
            </a:solidFill>
            <a:prstDash val="solid"/>
          </a:ln>
        </p:spPr>
      </p:sp>
      <p:sp>
        <p:nvSpPr>
          <p:cNvPr id="28" name="Text 25"/>
          <p:cNvSpPr txBox="1"/>
          <p:nvPr/>
        </p:nvSpPr>
        <p:spPr>
          <a:xfrm>
            <a:off x="6537960" y="3209544"/>
            <a:ext cx="960120" cy="329184"/>
          </a:xfrm>
          <a:prstGeom prst="rect">
            <a:avLst/>
          </a:prstGeom>
          <a:noFill/>
          <a:ln/>
        </p:spPr>
        <p:txBody>
          <a:bodyPr wrap="square" lIns="0" tIns="0" rIns="0" bIns="0" rtlCol="0" anchor="ctr"/>
          <a:lstStyle/>
          <a:p>
            <a:pPr algn="ctr" indent="0" marL="0">
              <a:buNone/>
            </a:pPr>
            <a:r>
              <a:rPr lang="en-US" sz="1050" b="1" dirty="0">
                <a:solidFill>
                  <a:srgbClr val="4B5563"/>
                </a:solidFill>
                <a:latin typeface="Segoe UI Semibold" pitchFamily="34" charset="0"/>
                <a:ea typeface="Segoe UI Semibold" pitchFamily="34" charset="-122"/>
                <a:cs typeface="Segoe UI Semibold" pitchFamily="34" charset="-120"/>
              </a:rPr>
              <a:t>Düşük</a:t>
            </a:r>
            <a:endParaRPr lang="en-US" sz="1050" dirty="0"/>
          </a:p>
        </p:txBody>
      </p:sp>
      <p:sp>
        <p:nvSpPr>
          <p:cNvPr id="29" name="Text 26"/>
          <p:cNvSpPr txBox="1"/>
          <p:nvPr/>
        </p:nvSpPr>
        <p:spPr>
          <a:xfrm>
            <a:off x="7680960" y="3209544"/>
            <a:ext cx="3931920" cy="329184"/>
          </a:xfrm>
          <a:prstGeom prst="rect">
            <a:avLst/>
          </a:prstGeom>
          <a:noFill/>
          <a:ln/>
        </p:spPr>
        <p:txBody>
          <a:bodyPr wrap="square" lIns="0" tIns="0" rIns="0" bIns="0" rtlCol="0" anchor="ctr"/>
          <a:lstStyle/>
          <a:p>
            <a:pPr indent="0" marL="0">
              <a:buNone/>
            </a:pPr>
            <a:r>
              <a:rPr lang="en-US" sz="1150" dirty="0">
                <a:solidFill>
                  <a:srgbClr val="1F2937"/>
                </a:solidFill>
                <a:latin typeface="Segoe UI" pitchFamily="34" charset="0"/>
                <a:ea typeface="Segoe UI" pitchFamily="34" charset="-122"/>
                <a:cs typeface="Segoe UI" pitchFamily="34" charset="-120"/>
              </a:rPr>
              <a:t>Bilgi amaçlı içerikler</a:t>
            </a:r>
            <a:endParaRPr lang="en-US" sz="1150" dirty="0"/>
          </a:p>
        </p:txBody>
      </p:sp>
      <p:sp>
        <p:nvSpPr>
          <p:cNvPr id="30" name="Text 27"/>
          <p:cNvSpPr txBox="1"/>
          <p:nvPr/>
        </p:nvSpPr>
        <p:spPr>
          <a:xfrm>
            <a:off x="6537960" y="3703320"/>
            <a:ext cx="5074920" cy="274320"/>
          </a:xfrm>
          <a:prstGeom prst="rect">
            <a:avLst/>
          </a:prstGeom>
          <a:noFill/>
          <a:ln/>
        </p:spPr>
        <p:txBody>
          <a:bodyPr wrap="square" lIns="0" tIns="0" rIns="0" bIns="0" rtlCol="0" anchor="t"/>
          <a:lstStyle/>
          <a:p>
            <a:pPr indent="0" marL="0">
              <a:buNone/>
            </a:pPr>
            <a:r>
              <a:rPr lang="en-US" sz="1000" i="1" dirty="0">
                <a:solidFill>
                  <a:srgbClr val="6B7280"/>
                </a:solidFill>
                <a:latin typeface="Segoe UI" pitchFamily="34" charset="0"/>
                <a:ea typeface="Segoe UI" pitchFamily="34" charset="-122"/>
                <a:cs typeface="Segoe UI" pitchFamily="34" charset="-120"/>
              </a:rPr>
              <a:t>Kriterler, proje başında Başkanlık uzmanlarıyla yapılacak çalıştayda netleştirilecektir.</a:t>
            </a:r>
            <a:endParaRPr lang="en-US" sz="1000" dirty="0"/>
          </a:p>
        </p:txBody>
      </p:sp>
      <p:sp>
        <p:nvSpPr>
          <p:cNvPr id="31" name="Shape 28"/>
          <p:cNvSpPr/>
          <p:nvPr/>
        </p:nvSpPr>
        <p:spPr>
          <a:xfrm>
            <a:off x="6537960" y="4206240"/>
            <a:ext cx="420624" cy="420624"/>
          </a:xfrm>
          <a:prstGeom prst="ellipse">
            <a:avLst/>
          </a:prstGeom>
          <a:solidFill>
            <a:srgbClr val="EEF0FB"/>
          </a:solidFill>
          <a:ln w="12700">
            <a:solidFill>
              <a:srgbClr val="EEF0FB"/>
            </a:solidFill>
            <a:prstDash val="solid"/>
          </a:ln>
        </p:spPr>
      </p:sp>
      <p:pic>
        <p:nvPicPr>
          <p:cNvPr id="32" name="Image 1" descr="icons/gauge_blue.png">    </p:cNvPr>
          <p:cNvPicPr>
            <a:picLocks noChangeAspect="1"/>
          </p:cNvPicPr>
          <p:nvPr/>
        </p:nvPicPr>
        <p:blipFill>
          <a:blip r:embed="rId2"/>
          <a:stretch>
            <a:fillRect/>
          </a:stretch>
        </p:blipFill>
        <p:spPr>
          <a:xfrm>
            <a:off x="6638910" y="4307190"/>
            <a:ext cx="218724" cy="218724"/>
          </a:xfrm>
          <a:prstGeom prst="rect">
            <a:avLst/>
          </a:prstGeom>
        </p:spPr>
      </p:pic>
      <p:sp>
        <p:nvSpPr>
          <p:cNvPr id="33" name="Text 29"/>
          <p:cNvSpPr txBox="1"/>
          <p:nvPr/>
        </p:nvSpPr>
        <p:spPr>
          <a:xfrm>
            <a:off x="7086600" y="4187952"/>
            <a:ext cx="4526280" cy="237744"/>
          </a:xfrm>
          <a:prstGeom prst="rect">
            <a:avLst/>
          </a:prstGeom>
          <a:noFill/>
          <a:ln/>
        </p:spPr>
        <p:txBody>
          <a:bodyPr wrap="square" lIns="0" tIns="0" rIns="0" bIns="0" rtlCol="0" anchor="t"/>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Güven skoru</a:t>
            </a:r>
            <a:endParaRPr lang="en-US" sz="1150" dirty="0"/>
          </a:p>
        </p:txBody>
      </p:sp>
      <p:sp>
        <p:nvSpPr>
          <p:cNvPr id="34" name="Text 30"/>
          <p:cNvSpPr txBox="1"/>
          <p:nvPr/>
        </p:nvSpPr>
        <p:spPr>
          <a:xfrm>
            <a:off x="7086600" y="4425696"/>
            <a:ext cx="452628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Her kararın yanında anlaşılır bir güven göstergesi</a:t>
            </a:r>
            <a:endParaRPr lang="en-US" sz="1050" dirty="0"/>
          </a:p>
        </p:txBody>
      </p:sp>
      <p:sp>
        <p:nvSpPr>
          <p:cNvPr id="35" name="Shape 31"/>
          <p:cNvSpPr/>
          <p:nvPr/>
        </p:nvSpPr>
        <p:spPr>
          <a:xfrm>
            <a:off x="6537960" y="4773168"/>
            <a:ext cx="420624" cy="420624"/>
          </a:xfrm>
          <a:prstGeom prst="ellipse">
            <a:avLst/>
          </a:prstGeom>
          <a:solidFill>
            <a:srgbClr val="EEF0FB"/>
          </a:solidFill>
          <a:ln w="12700">
            <a:solidFill>
              <a:srgbClr val="EEF0FB"/>
            </a:solidFill>
            <a:prstDash val="solid"/>
          </a:ln>
        </p:spPr>
      </p:sp>
      <p:pic>
        <p:nvPicPr>
          <p:cNvPr id="36" name="Image 2" descr="icons/brain_blue.png">    </p:cNvPr>
          <p:cNvPicPr>
            <a:picLocks noChangeAspect="1"/>
          </p:cNvPicPr>
          <p:nvPr/>
        </p:nvPicPr>
        <p:blipFill>
          <a:blip r:embed="rId3"/>
          <a:stretch>
            <a:fillRect/>
          </a:stretch>
        </p:blipFill>
        <p:spPr>
          <a:xfrm>
            <a:off x="6638910" y="4874118"/>
            <a:ext cx="218724" cy="218724"/>
          </a:xfrm>
          <a:prstGeom prst="rect">
            <a:avLst/>
          </a:prstGeom>
        </p:spPr>
      </p:pic>
      <p:sp>
        <p:nvSpPr>
          <p:cNvPr id="37" name="Text 32"/>
          <p:cNvSpPr txBox="1"/>
          <p:nvPr/>
        </p:nvSpPr>
        <p:spPr>
          <a:xfrm>
            <a:off x="7086600" y="4754880"/>
            <a:ext cx="4526280" cy="237744"/>
          </a:xfrm>
          <a:prstGeom prst="rect">
            <a:avLst/>
          </a:prstGeom>
          <a:noFill/>
          <a:ln/>
        </p:spPr>
        <p:txBody>
          <a:bodyPr wrap="square" lIns="0" tIns="0" rIns="0" bIns="0" rtlCol="0" anchor="t"/>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Model eğitimi gerekmez</a:t>
            </a:r>
            <a:endParaRPr lang="en-US" sz="1150" dirty="0"/>
          </a:p>
        </p:txBody>
      </p:sp>
      <p:sp>
        <p:nvSpPr>
          <p:cNvPr id="38" name="Text 33"/>
          <p:cNvSpPr txBox="1"/>
          <p:nvPr/>
        </p:nvSpPr>
        <p:spPr>
          <a:xfrm>
            <a:off x="7086600" y="4992624"/>
            <a:ext cx="452628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Kurum içi büyük dil modeli az örnekli (few-shot) yaklaşımla kullanılır</a:t>
            </a:r>
            <a:endParaRPr lang="en-US" sz="1050" dirty="0"/>
          </a:p>
        </p:txBody>
      </p:sp>
      <p:sp>
        <p:nvSpPr>
          <p:cNvPr id="39" name="Shape 34"/>
          <p:cNvSpPr/>
          <p:nvPr/>
        </p:nvSpPr>
        <p:spPr>
          <a:xfrm>
            <a:off x="6537960" y="5340096"/>
            <a:ext cx="420624" cy="420624"/>
          </a:xfrm>
          <a:prstGeom prst="ellipse">
            <a:avLst/>
          </a:prstGeom>
          <a:solidFill>
            <a:srgbClr val="EEF0FB"/>
          </a:solidFill>
          <a:ln w="12700">
            <a:solidFill>
              <a:srgbClr val="EEF0FB"/>
            </a:solidFill>
            <a:prstDash val="solid"/>
          </a:ln>
        </p:spPr>
      </p:sp>
      <p:pic>
        <p:nvPicPr>
          <p:cNvPr id="40" name="Image 3" descr="icons/lock_blue.png">    </p:cNvPr>
          <p:cNvPicPr>
            <a:picLocks noChangeAspect="1"/>
          </p:cNvPicPr>
          <p:nvPr/>
        </p:nvPicPr>
        <p:blipFill>
          <a:blip r:embed="rId4"/>
          <a:stretch>
            <a:fillRect/>
          </a:stretch>
        </p:blipFill>
        <p:spPr>
          <a:xfrm>
            <a:off x="6638910" y="5441046"/>
            <a:ext cx="218724" cy="218724"/>
          </a:xfrm>
          <a:prstGeom prst="rect">
            <a:avLst/>
          </a:prstGeom>
        </p:spPr>
      </p:pic>
      <p:sp>
        <p:nvSpPr>
          <p:cNvPr id="41" name="Text 35"/>
          <p:cNvSpPr txBox="1"/>
          <p:nvPr/>
        </p:nvSpPr>
        <p:spPr>
          <a:xfrm>
            <a:off x="7086600" y="5321808"/>
            <a:ext cx="4526280" cy="237744"/>
          </a:xfrm>
          <a:prstGeom prst="rect">
            <a:avLst/>
          </a:prstGeom>
          <a:noFill/>
          <a:ln/>
        </p:spPr>
        <p:txBody>
          <a:bodyPr wrap="square" lIns="0" tIns="0" rIns="0" bIns="0" rtlCol="0" anchor="t"/>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Veri kurum dışına çıkmaz</a:t>
            </a:r>
            <a:endParaRPr lang="en-US" sz="1150" dirty="0"/>
          </a:p>
        </p:txBody>
      </p:sp>
      <p:sp>
        <p:nvSpPr>
          <p:cNvPr id="42" name="Text 36"/>
          <p:cNvSpPr txBox="1"/>
          <p:nvPr/>
        </p:nvSpPr>
        <p:spPr>
          <a:xfrm>
            <a:off x="7086600" y="5559552"/>
            <a:ext cx="452628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Tüm çıkarım kurum içi GPU altyapısında yapılır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Yapılandırılmış Özet Şablonu</a:t>
            </a:r>
            <a:endParaRPr lang="en-US" sz="2200" dirty="0"/>
          </a:p>
        </p:txBody>
      </p:sp>
      <p:sp>
        <p:nvSpPr>
          <p:cNvPr id="3" name="Text 1"/>
          <p:cNvSpPr txBox="1"/>
          <p:nvPr/>
        </p:nvSpPr>
        <p:spPr>
          <a:xfrm>
            <a:off x="694944" y="1097280"/>
            <a:ext cx="10881360" cy="320040"/>
          </a:xfrm>
          <a:prstGeom prst="rect">
            <a:avLst/>
          </a:prstGeom>
          <a:noFill/>
          <a:ln/>
        </p:spPr>
        <p:txBody>
          <a:bodyPr wrap="square" lIns="0" tIns="0" rIns="0" bIns="0" rtlCol="0" anchor="t"/>
          <a:lstStyle/>
          <a:p>
            <a:pPr indent="0" marL="0">
              <a:buNone/>
            </a:pPr>
            <a:r>
              <a:rPr lang="en-US" sz="1250" dirty="0">
                <a:solidFill>
                  <a:srgbClr val="6B7280"/>
                </a:solidFill>
                <a:latin typeface="Segoe UI" pitchFamily="34" charset="0"/>
                <a:ea typeface="Segoe UI" pitchFamily="34" charset="-122"/>
                <a:cs typeface="Segoe UI" pitchFamily="34" charset="-120"/>
              </a:rPr>
              <a:t>Tespit edilen her düzenleme için Başkanlığın belirlediği başlıklarla özet üretilir; her ifade kaynak metne dayandırılır.</a:t>
            </a:r>
            <a:endParaRPr lang="en-US" sz="1250" dirty="0"/>
          </a:p>
        </p:txBody>
      </p:sp>
      <p:sp>
        <p:nvSpPr>
          <p:cNvPr id="4" name="Shape 2"/>
          <p:cNvSpPr/>
          <p:nvPr/>
        </p:nvSpPr>
        <p:spPr>
          <a:xfrm>
            <a:off x="548640" y="1600200"/>
            <a:ext cx="11091672" cy="384048"/>
          </a:xfrm>
          <a:prstGeom prst="roundRect">
            <a:avLst>
              <a:gd name="adj" fmla="val 14286"/>
            </a:avLst>
          </a:prstGeom>
          <a:solidFill>
            <a:srgbClr val="172144"/>
          </a:solidFill>
          <a:ln w="12700">
            <a:solidFill>
              <a:srgbClr val="172144"/>
            </a:solidFill>
            <a:prstDash val="solid"/>
          </a:ln>
        </p:spPr>
      </p:sp>
      <p:sp>
        <p:nvSpPr>
          <p:cNvPr id="5" name="Text 3"/>
          <p:cNvSpPr txBox="1"/>
          <p:nvPr/>
        </p:nvSpPr>
        <p:spPr>
          <a:xfrm>
            <a:off x="713232" y="1600200"/>
            <a:ext cx="2788920" cy="384048"/>
          </a:xfrm>
          <a:prstGeom prst="rect">
            <a:avLst/>
          </a:prstGeom>
          <a:noFill/>
          <a:ln/>
        </p:spPr>
        <p:txBody>
          <a:bodyPr wrap="square" lIns="0" tIns="0" rIns="0" bIns="0"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Özet alanı</a:t>
            </a:r>
            <a:endParaRPr lang="en-US" sz="1100" dirty="0"/>
          </a:p>
        </p:txBody>
      </p:sp>
      <p:sp>
        <p:nvSpPr>
          <p:cNvPr id="6" name="Text 4"/>
          <p:cNvSpPr txBox="1"/>
          <p:nvPr/>
        </p:nvSpPr>
        <p:spPr>
          <a:xfrm>
            <a:off x="3776472" y="1600200"/>
            <a:ext cx="4480560" cy="384048"/>
          </a:xfrm>
          <a:prstGeom prst="rect">
            <a:avLst/>
          </a:prstGeom>
          <a:noFill/>
          <a:ln/>
        </p:spPr>
        <p:txBody>
          <a:bodyPr wrap="square" lIns="0" tIns="0" rIns="0" bIns="0"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Açıklama</a:t>
            </a:r>
            <a:endParaRPr lang="en-US" sz="1100" dirty="0"/>
          </a:p>
        </p:txBody>
      </p:sp>
      <p:sp>
        <p:nvSpPr>
          <p:cNvPr id="7" name="Text 5"/>
          <p:cNvSpPr txBox="1"/>
          <p:nvPr/>
        </p:nvSpPr>
        <p:spPr>
          <a:xfrm>
            <a:off x="8531352" y="1600200"/>
            <a:ext cx="2999232" cy="384048"/>
          </a:xfrm>
          <a:prstGeom prst="rect">
            <a:avLst/>
          </a:prstGeom>
          <a:noFill/>
          <a:ln/>
        </p:spPr>
        <p:txBody>
          <a:bodyPr wrap="square" lIns="0" tIns="0" rIns="0" bIns="0"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Üretim kaynağı</a:t>
            </a:r>
            <a:endParaRPr lang="en-US" sz="1100" dirty="0"/>
          </a:p>
        </p:txBody>
      </p:sp>
      <p:sp>
        <p:nvSpPr>
          <p:cNvPr id="8" name="Shape 6"/>
          <p:cNvSpPr/>
          <p:nvPr/>
        </p:nvSpPr>
        <p:spPr>
          <a:xfrm>
            <a:off x="548640" y="2404872"/>
            <a:ext cx="11091672" cy="0"/>
          </a:xfrm>
          <a:prstGeom prst="line">
            <a:avLst/>
          </a:prstGeom>
          <a:noFill/>
          <a:ln w="9525">
            <a:solidFill>
              <a:srgbClr val="E1E5F0"/>
            </a:solidFill>
            <a:prstDash val="solid"/>
          </a:ln>
        </p:spPr>
      </p:sp>
      <p:sp>
        <p:nvSpPr>
          <p:cNvPr id="9" name="Text 7"/>
          <p:cNvSpPr txBox="1"/>
          <p:nvPr/>
        </p:nvSpPr>
        <p:spPr>
          <a:xfrm>
            <a:off x="713232" y="1984248"/>
            <a:ext cx="2788920" cy="420624"/>
          </a:xfrm>
          <a:prstGeom prst="rect">
            <a:avLst/>
          </a:prstGeom>
          <a:noFill/>
          <a:ln/>
        </p:spPr>
        <p:txBody>
          <a:bodyPr wrap="square" lIns="0" tIns="0" rIns="0" bIns="0" rtlCol="0" anchor="ctr"/>
          <a:lstStyle/>
          <a:p>
            <a:pPr indent="0" marL="0">
              <a:buNone/>
            </a:pPr>
            <a:r>
              <a:rPr lang="en-US" sz="1100" b="1" dirty="0">
                <a:solidFill>
                  <a:srgbClr val="172144"/>
                </a:solidFill>
                <a:latin typeface="Segoe UI Semibold" pitchFamily="34" charset="0"/>
                <a:ea typeface="Segoe UI Semibold" pitchFamily="34" charset="-122"/>
                <a:cs typeface="Segoe UI Semibold" pitchFamily="34" charset="-120"/>
              </a:rPr>
              <a:t>Düzenlemenin adı</a:t>
            </a:r>
            <a:endParaRPr lang="en-US" sz="1100" dirty="0"/>
          </a:p>
        </p:txBody>
      </p:sp>
      <p:sp>
        <p:nvSpPr>
          <p:cNvPr id="10" name="Text 8"/>
          <p:cNvSpPr txBox="1"/>
          <p:nvPr/>
        </p:nvSpPr>
        <p:spPr>
          <a:xfrm>
            <a:off x="3776472" y="1984248"/>
            <a:ext cx="4480560" cy="420624"/>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Düzenlemenin resmî başlığı</a:t>
            </a:r>
            <a:endParaRPr lang="en-US" sz="1100" dirty="0"/>
          </a:p>
        </p:txBody>
      </p:sp>
      <p:sp>
        <p:nvSpPr>
          <p:cNvPr id="11" name="Shape 9"/>
          <p:cNvSpPr/>
          <p:nvPr/>
        </p:nvSpPr>
        <p:spPr>
          <a:xfrm>
            <a:off x="8531352" y="2057400"/>
            <a:ext cx="1691640" cy="274320"/>
          </a:xfrm>
          <a:prstGeom prst="roundRect">
            <a:avLst>
              <a:gd name="adj" fmla="val 50000"/>
            </a:avLst>
          </a:prstGeom>
          <a:solidFill>
            <a:srgbClr val="E7EBF7"/>
          </a:solidFill>
          <a:ln w="12700">
            <a:solidFill>
              <a:srgbClr val="E7EBF7"/>
            </a:solidFill>
            <a:prstDash val="solid"/>
          </a:ln>
        </p:spPr>
      </p:sp>
      <p:sp>
        <p:nvSpPr>
          <p:cNvPr id="12" name="Text 10"/>
          <p:cNvSpPr txBox="1"/>
          <p:nvPr/>
        </p:nvSpPr>
        <p:spPr>
          <a:xfrm>
            <a:off x="8531352" y="2057400"/>
            <a:ext cx="1691640" cy="274320"/>
          </a:xfrm>
          <a:prstGeom prst="rect">
            <a:avLst/>
          </a:prstGeom>
          <a:noFill/>
          <a:ln/>
        </p:spPr>
        <p:txBody>
          <a:bodyPr wrap="square" lIns="0" tIns="0" rIns="0" bIns="0" rtlCol="0" anchor="ctr"/>
          <a:lstStyle/>
          <a:p>
            <a:pPr algn="ctr" indent="0" marL="0">
              <a:buNone/>
            </a:pPr>
            <a:r>
              <a:rPr lang="en-US" sz="950" b="1" dirty="0">
                <a:solidFill>
                  <a:srgbClr val="2A3A8F"/>
                </a:solidFill>
                <a:latin typeface="Segoe UI Semibold" pitchFamily="34" charset="0"/>
                <a:ea typeface="Segoe UI Semibold" pitchFamily="34" charset="-122"/>
                <a:cs typeface="Segoe UI Semibold" pitchFamily="34" charset="-120"/>
              </a:rPr>
              <a:t>Kaynaktan doğrudan</a:t>
            </a:r>
            <a:endParaRPr lang="en-US" sz="950" dirty="0"/>
          </a:p>
        </p:txBody>
      </p:sp>
      <p:sp>
        <p:nvSpPr>
          <p:cNvPr id="13" name="Shape 11"/>
          <p:cNvSpPr/>
          <p:nvPr/>
        </p:nvSpPr>
        <p:spPr>
          <a:xfrm>
            <a:off x="548640" y="2404872"/>
            <a:ext cx="11091672" cy="420624"/>
          </a:xfrm>
          <a:prstGeom prst="rect">
            <a:avLst/>
          </a:prstGeom>
          <a:solidFill>
            <a:srgbClr val="F7F8FC"/>
          </a:solidFill>
          <a:ln w="12700">
            <a:solidFill>
              <a:srgbClr val="F7F8FC"/>
            </a:solidFill>
            <a:prstDash val="solid"/>
          </a:ln>
        </p:spPr>
      </p:sp>
      <p:sp>
        <p:nvSpPr>
          <p:cNvPr id="14" name="Shape 12"/>
          <p:cNvSpPr/>
          <p:nvPr/>
        </p:nvSpPr>
        <p:spPr>
          <a:xfrm>
            <a:off x="548640" y="2825496"/>
            <a:ext cx="11091672" cy="0"/>
          </a:xfrm>
          <a:prstGeom prst="line">
            <a:avLst/>
          </a:prstGeom>
          <a:noFill/>
          <a:ln w="9525">
            <a:solidFill>
              <a:srgbClr val="E1E5F0"/>
            </a:solidFill>
            <a:prstDash val="solid"/>
          </a:ln>
        </p:spPr>
      </p:sp>
      <p:sp>
        <p:nvSpPr>
          <p:cNvPr id="15" name="Text 13"/>
          <p:cNvSpPr txBox="1"/>
          <p:nvPr/>
        </p:nvSpPr>
        <p:spPr>
          <a:xfrm>
            <a:off x="713232" y="2404872"/>
            <a:ext cx="2788920" cy="420624"/>
          </a:xfrm>
          <a:prstGeom prst="rect">
            <a:avLst/>
          </a:prstGeom>
          <a:noFill/>
          <a:ln/>
        </p:spPr>
        <p:txBody>
          <a:bodyPr wrap="square" lIns="0" tIns="0" rIns="0" bIns="0" rtlCol="0" anchor="ctr"/>
          <a:lstStyle/>
          <a:p>
            <a:pPr indent="0" marL="0">
              <a:buNone/>
            </a:pPr>
            <a:r>
              <a:rPr lang="en-US" sz="1100" b="1" dirty="0">
                <a:solidFill>
                  <a:srgbClr val="172144"/>
                </a:solidFill>
                <a:latin typeface="Segoe UI Semibold" pitchFamily="34" charset="0"/>
                <a:ea typeface="Segoe UI Semibold" pitchFamily="34" charset="-122"/>
                <a:cs typeface="Segoe UI Semibold" pitchFamily="34" charset="-120"/>
              </a:rPr>
              <a:t>Yayımlanma tarihi</a:t>
            </a:r>
            <a:endParaRPr lang="en-US" sz="1100" dirty="0"/>
          </a:p>
        </p:txBody>
      </p:sp>
      <p:sp>
        <p:nvSpPr>
          <p:cNvPr id="16" name="Text 14"/>
          <p:cNvSpPr txBox="1"/>
          <p:nvPr/>
        </p:nvSpPr>
        <p:spPr>
          <a:xfrm>
            <a:off x="3776472" y="2404872"/>
            <a:ext cx="4480560" cy="420624"/>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Resmî yayım tarihi</a:t>
            </a:r>
            <a:endParaRPr lang="en-US" sz="1100" dirty="0"/>
          </a:p>
        </p:txBody>
      </p:sp>
      <p:sp>
        <p:nvSpPr>
          <p:cNvPr id="17" name="Shape 15"/>
          <p:cNvSpPr/>
          <p:nvPr/>
        </p:nvSpPr>
        <p:spPr>
          <a:xfrm>
            <a:off x="8531352" y="2478024"/>
            <a:ext cx="1691640" cy="274320"/>
          </a:xfrm>
          <a:prstGeom prst="roundRect">
            <a:avLst>
              <a:gd name="adj" fmla="val 50000"/>
            </a:avLst>
          </a:prstGeom>
          <a:solidFill>
            <a:srgbClr val="E7EBF7"/>
          </a:solidFill>
          <a:ln w="12700">
            <a:solidFill>
              <a:srgbClr val="E7EBF7"/>
            </a:solidFill>
            <a:prstDash val="solid"/>
          </a:ln>
        </p:spPr>
      </p:sp>
      <p:sp>
        <p:nvSpPr>
          <p:cNvPr id="18" name="Text 16"/>
          <p:cNvSpPr txBox="1"/>
          <p:nvPr/>
        </p:nvSpPr>
        <p:spPr>
          <a:xfrm>
            <a:off x="8531352" y="2478024"/>
            <a:ext cx="1691640" cy="274320"/>
          </a:xfrm>
          <a:prstGeom prst="rect">
            <a:avLst/>
          </a:prstGeom>
          <a:noFill/>
          <a:ln/>
        </p:spPr>
        <p:txBody>
          <a:bodyPr wrap="square" lIns="0" tIns="0" rIns="0" bIns="0" rtlCol="0" anchor="ctr"/>
          <a:lstStyle/>
          <a:p>
            <a:pPr algn="ctr" indent="0" marL="0">
              <a:buNone/>
            </a:pPr>
            <a:r>
              <a:rPr lang="en-US" sz="950" b="1" dirty="0">
                <a:solidFill>
                  <a:srgbClr val="2A3A8F"/>
                </a:solidFill>
                <a:latin typeface="Segoe UI Semibold" pitchFamily="34" charset="0"/>
                <a:ea typeface="Segoe UI Semibold" pitchFamily="34" charset="-122"/>
                <a:cs typeface="Segoe UI Semibold" pitchFamily="34" charset="-120"/>
              </a:rPr>
              <a:t>Kaynaktan doğrudan</a:t>
            </a:r>
            <a:endParaRPr lang="en-US" sz="950" dirty="0"/>
          </a:p>
        </p:txBody>
      </p:sp>
      <p:sp>
        <p:nvSpPr>
          <p:cNvPr id="19" name="Shape 17"/>
          <p:cNvSpPr/>
          <p:nvPr/>
        </p:nvSpPr>
        <p:spPr>
          <a:xfrm>
            <a:off x="548640" y="3246120"/>
            <a:ext cx="11091672" cy="0"/>
          </a:xfrm>
          <a:prstGeom prst="line">
            <a:avLst/>
          </a:prstGeom>
          <a:noFill/>
          <a:ln w="9525">
            <a:solidFill>
              <a:srgbClr val="E1E5F0"/>
            </a:solidFill>
            <a:prstDash val="solid"/>
          </a:ln>
        </p:spPr>
      </p:sp>
      <p:sp>
        <p:nvSpPr>
          <p:cNvPr id="20" name="Text 18"/>
          <p:cNvSpPr txBox="1"/>
          <p:nvPr/>
        </p:nvSpPr>
        <p:spPr>
          <a:xfrm>
            <a:off x="713232" y="2825496"/>
            <a:ext cx="2788920" cy="420624"/>
          </a:xfrm>
          <a:prstGeom prst="rect">
            <a:avLst/>
          </a:prstGeom>
          <a:noFill/>
          <a:ln/>
        </p:spPr>
        <p:txBody>
          <a:bodyPr wrap="square" lIns="0" tIns="0" rIns="0" bIns="0" rtlCol="0" anchor="ctr"/>
          <a:lstStyle/>
          <a:p>
            <a:pPr indent="0" marL="0">
              <a:buNone/>
            </a:pPr>
            <a:r>
              <a:rPr lang="en-US" sz="1100" b="1" dirty="0">
                <a:solidFill>
                  <a:srgbClr val="172144"/>
                </a:solidFill>
                <a:latin typeface="Segoe UI Semibold" pitchFamily="34" charset="0"/>
                <a:ea typeface="Segoe UI Semibold" pitchFamily="34" charset="-122"/>
                <a:cs typeface="Segoe UI Semibold" pitchFamily="34" charset="-120"/>
              </a:rPr>
              <a:t>Yayımlayan kurum</a:t>
            </a:r>
            <a:endParaRPr lang="en-US" sz="1100" dirty="0"/>
          </a:p>
        </p:txBody>
      </p:sp>
      <p:sp>
        <p:nvSpPr>
          <p:cNvPr id="21" name="Text 19"/>
          <p:cNvSpPr txBox="1"/>
          <p:nvPr/>
        </p:nvSpPr>
        <p:spPr>
          <a:xfrm>
            <a:off x="3776472" y="2825496"/>
            <a:ext cx="4480560" cy="420624"/>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Düzenlemeyi yayımlayan otorite</a:t>
            </a:r>
            <a:endParaRPr lang="en-US" sz="1100" dirty="0"/>
          </a:p>
        </p:txBody>
      </p:sp>
      <p:sp>
        <p:nvSpPr>
          <p:cNvPr id="22" name="Shape 20"/>
          <p:cNvSpPr/>
          <p:nvPr/>
        </p:nvSpPr>
        <p:spPr>
          <a:xfrm>
            <a:off x="8531352" y="2898648"/>
            <a:ext cx="1691640" cy="274320"/>
          </a:xfrm>
          <a:prstGeom prst="roundRect">
            <a:avLst>
              <a:gd name="adj" fmla="val 50000"/>
            </a:avLst>
          </a:prstGeom>
          <a:solidFill>
            <a:srgbClr val="E7EBF7"/>
          </a:solidFill>
          <a:ln w="12700">
            <a:solidFill>
              <a:srgbClr val="E7EBF7"/>
            </a:solidFill>
            <a:prstDash val="solid"/>
          </a:ln>
        </p:spPr>
      </p:sp>
      <p:sp>
        <p:nvSpPr>
          <p:cNvPr id="23" name="Text 21"/>
          <p:cNvSpPr txBox="1"/>
          <p:nvPr/>
        </p:nvSpPr>
        <p:spPr>
          <a:xfrm>
            <a:off x="8531352" y="2898648"/>
            <a:ext cx="1691640" cy="274320"/>
          </a:xfrm>
          <a:prstGeom prst="rect">
            <a:avLst/>
          </a:prstGeom>
          <a:noFill/>
          <a:ln/>
        </p:spPr>
        <p:txBody>
          <a:bodyPr wrap="square" lIns="0" tIns="0" rIns="0" bIns="0" rtlCol="0" anchor="ctr"/>
          <a:lstStyle/>
          <a:p>
            <a:pPr algn="ctr" indent="0" marL="0">
              <a:buNone/>
            </a:pPr>
            <a:r>
              <a:rPr lang="en-US" sz="950" b="1" dirty="0">
                <a:solidFill>
                  <a:srgbClr val="2A3A8F"/>
                </a:solidFill>
                <a:latin typeface="Segoe UI Semibold" pitchFamily="34" charset="0"/>
                <a:ea typeface="Segoe UI Semibold" pitchFamily="34" charset="-122"/>
                <a:cs typeface="Segoe UI Semibold" pitchFamily="34" charset="-120"/>
              </a:rPr>
              <a:t>Kaynaktan doğrudan</a:t>
            </a:r>
            <a:endParaRPr lang="en-US" sz="950" dirty="0"/>
          </a:p>
        </p:txBody>
      </p:sp>
      <p:sp>
        <p:nvSpPr>
          <p:cNvPr id="24" name="Shape 22"/>
          <p:cNvSpPr/>
          <p:nvPr/>
        </p:nvSpPr>
        <p:spPr>
          <a:xfrm>
            <a:off x="548640" y="3246120"/>
            <a:ext cx="11091672" cy="420624"/>
          </a:xfrm>
          <a:prstGeom prst="rect">
            <a:avLst/>
          </a:prstGeom>
          <a:solidFill>
            <a:srgbClr val="F7F8FC"/>
          </a:solidFill>
          <a:ln w="12700">
            <a:solidFill>
              <a:srgbClr val="F7F8FC"/>
            </a:solidFill>
            <a:prstDash val="solid"/>
          </a:ln>
        </p:spPr>
      </p:sp>
      <p:sp>
        <p:nvSpPr>
          <p:cNvPr id="25" name="Shape 23"/>
          <p:cNvSpPr/>
          <p:nvPr/>
        </p:nvSpPr>
        <p:spPr>
          <a:xfrm>
            <a:off x="548640" y="3666744"/>
            <a:ext cx="11091672" cy="0"/>
          </a:xfrm>
          <a:prstGeom prst="line">
            <a:avLst/>
          </a:prstGeom>
          <a:noFill/>
          <a:ln w="9525">
            <a:solidFill>
              <a:srgbClr val="E1E5F0"/>
            </a:solidFill>
            <a:prstDash val="solid"/>
          </a:ln>
        </p:spPr>
      </p:sp>
      <p:sp>
        <p:nvSpPr>
          <p:cNvPr id="26" name="Text 24"/>
          <p:cNvSpPr txBox="1"/>
          <p:nvPr/>
        </p:nvSpPr>
        <p:spPr>
          <a:xfrm>
            <a:off x="713232" y="3246120"/>
            <a:ext cx="2788920" cy="420624"/>
          </a:xfrm>
          <a:prstGeom prst="rect">
            <a:avLst/>
          </a:prstGeom>
          <a:noFill/>
          <a:ln/>
        </p:spPr>
        <p:txBody>
          <a:bodyPr wrap="square" lIns="0" tIns="0" rIns="0" bIns="0" rtlCol="0" anchor="ctr"/>
          <a:lstStyle/>
          <a:p>
            <a:pPr indent="0" marL="0">
              <a:buNone/>
            </a:pPr>
            <a:r>
              <a:rPr lang="en-US" sz="1100" b="1" dirty="0">
                <a:solidFill>
                  <a:srgbClr val="172144"/>
                </a:solidFill>
                <a:latin typeface="Segoe UI Semibold" pitchFamily="34" charset="0"/>
                <a:ea typeface="Segoe UI Semibold" pitchFamily="34" charset="-122"/>
                <a:cs typeface="Segoe UI Semibold" pitchFamily="34" charset="-120"/>
              </a:rPr>
              <a:t>Düzenleme türü</a:t>
            </a:r>
            <a:endParaRPr lang="en-US" sz="1100" dirty="0"/>
          </a:p>
        </p:txBody>
      </p:sp>
      <p:sp>
        <p:nvSpPr>
          <p:cNvPr id="27" name="Text 25"/>
          <p:cNvSpPr txBox="1"/>
          <p:nvPr/>
        </p:nvSpPr>
        <p:spPr>
          <a:xfrm>
            <a:off x="3776472" y="3246120"/>
            <a:ext cx="4480560" cy="420624"/>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Kanun, yönetmelik, tebliğ, kurul kararı, duyuru vb.</a:t>
            </a:r>
            <a:endParaRPr lang="en-US" sz="1100" dirty="0"/>
          </a:p>
        </p:txBody>
      </p:sp>
      <p:sp>
        <p:nvSpPr>
          <p:cNvPr id="28" name="Shape 26"/>
          <p:cNvSpPr/>
          <p:nvPr/>
        </p:nvSpPr>
        <p:spPr>
          <a:xfrm>
            <a:off x="8531352" y="3319272"/>
            <a:ext cx="1691640" cy="274320"/>
          </a:xfrm>
          <a:prstGeom prst="roundRect">
            <a:avLst>
              <a:gd name="adj" fmla="val 50000"/>
            </a:avLst>
          </a:prstGeom>
          <a:solidFill>
            <a:srgbClr val="DDF3EF"/>
          </a:solidFill>
          <a:ln w="12700">
            <a:solidFill>
              <a:srgbClr val="DDF3EF"/>
            </a:solidFill>
            <a:prstDash val="solid"/>
          </a:ln>
        </p:spPr>
      </p:sp>
      <p:sp>
        <p:nvSpPr>
          <p:cNvPr id="29" name="Text 27"/>
          <p:cNvSpPr txBox="1"/>
          <p:nvPr/>
        </p:nvSpPr>
        <p:spPr>
          <a:xfrm>
            <a:off x="8531352" y="3319272"/>
            <a:ext cx="1691640" cy="274320"/>
          </a:xfrm>
          <a:prstGeom prst="rect">
            <a:avLst/>
          </a:prstGeom>
          <a:noFill/>
          <a:ln/>
        </p:spPr>
        <p:txBody>
          <a:bodyPr wrap="square" lIns="0" tIns="0" rIns="0" bIns="0" rtlCol="0" anchor="ctr"/>
          <a:lstStyle/>
          <a:p>
            <a:pPr algn="ctr" indent="0" marL="0">
              <a:buNone/>
            </a:pPr>
            <a:r>
              <a:rPr lang="en-US" sz="950" b="1" dirty="0">
                <a:solidFill>
                  <a:srgbClr val="0F766E"/>
                </a:solidFill>
                <a:latin typeface="Segoe UI Semibold" pitchFamily="34" charset="0"/>
                <a:ea typeface="Segoe UI Semibold" pitchFamily="34" charset="-122"/>
                <a:cs typeface="Segoe UI Semibold" pitchFamily="34" charset="-120"/>
              </a:rPr>
              <a:t>YZ sınıflandırması</a:t>
            </a:r>
            <a:endParaRPr lang="en-US" sz="950" dirty="0"/>
          </a:p>
        </p:txBody>
      </p:sp>
      <p:sp>
        <p:nvSpPr>
          <p:cNvPr id="30" name="Shape 28"/>
          <p:cNvSpPr/>
          <p:nvPr/>
        </p:nvSpPr>
        <p:spPr>
          <a:xfrm>
            <a:off x="548640" y="4087368"/>
            <a:ext cx="11091672" cy="0"/>
          </a:xfrm>
          <a:prstGeom prst="line">
            <a:avLst/>
          </a:prstGeom>
          <a:noFill/>
          <a:ln w="9525">
            <a:solidFill>
              <a:srgbClr val="E1E5F0"/>
            </a:solidFill>
            <a:prstDash val="solid"/>
          </a:ln>
        </p:spPr>
      </p:sp>
      <p:sp>
        <p:nvSpPr>
          <p:cNvPr id="31" name="Text 29"/>
          <p:cNvSpPr txBox="1"/>
          <p:nvPr/>
        </p:nvSpPr>
        <p:spPr>
          <a:xfrm>
            <a:off x="713232" y="3666744"/>
            <a:ext cx="2788920" cy="420624"/>
          </a:xfrm>
          <a:prstGeom prst="rect">
            <a:avLst/>
          </a:prstGeom>
          <a:noFill/>
          <a:ln/>
        </p:spPr>
        <p:txBody>
          <a:bodyPr wrap="square" lIns="0" tIns="0" rIns="0" bIns="0" rtlCol="0" anchor="ctr"/>
          <a:lstStyle/>
          <a:p>
            <a:pPr indent="0" marL="0">
              <a:buNone/>
            </a:pPr>
            <a:r>
              <a:rPr lang="en-US" sz="1100" b="1" dirty="0">
                <a:solidFill>
                  <a:srgbClr val="172144"/>
                </a:solidFill>
                <a:latin typeface="Segoe UI Semibold" pitchFamily="34" charset="0"/>
                <a:ea typeface="Segoe UI Semibold" pitchFamily="34" charset="-122"/>
                <a:cs typeface="Segoe UI Semibold" pitchFamily="34" charset="-120"/>
              </a:rPr>
              <a:t>Kısa içerik</a:t>
            </a:r>
            <a:endParaRPr lang="en-US" sz="1100" dirty="0"/>
          </a:p>
        </p:txBody>
      </p:sp>
      <p:sp>
        <p:nvSpPr>
          <p:cNvPr id="32" name="Text 30"/>
          <p:cNvSpPr txBox="1"/>
          <p:nvPr/>
        </p:nvSpPr>
        <p:spPr>
          <a:xfrm>
            <a:off x="3776472" y="3666744"/>
            <a:ext cx="4480560" cy="420624"/>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Düzenlemenin konusunun özeti</a:t>
            </a:r>
            <a:endParaRPr lang="en-US" sz="1100" dirty="0"/>
          </a:p>
        </p:txBody>
      </p:sp>
      <p:sp>
        <p:nvSpPr>
          <p:cNvPr id="33" name="Shape 31"/>
          <p:cNvSpPr/>
          <p:nvPr/>
        </p:nvSpPr>
        <p:spPr>
          <a:xfrm>
            <a:off x="8531352" y="3739896"/>
            <a:ext cx="1691640" cy="274320"/>
          </a:xfrm>
          <a:prstGeom prst="roundRect">
            <a:avLst>
              <a:gd name="adj" fmla="val 50000"/>
            </a:avLst>
          </a:prstGeom>
          <a:solidFill>
            <a:srgbClr val="DDF3EF"/>
          </a:solidFill>
          <a:ln w="12700">
            <a:solidFill>
              <a:srgbClr val="DDF3EF"/>
            </a:solidFill>
            <a:prstDash val="solid"/>
          </a:ln>
        </p:spPr>
      </p:sp>
      <p:sp>
        <p:nvSpPr>
          <p:cNvPr id="34" name="Text 32"/>
          <p:cNvSpPr txBox="1"/>
          <p:nvPr/>
        </p:nvSpPr>
        <p:spPr>
          <a:xfrm>
            <a:off x="8531352" y="3739896"/>
            <a:ext cx="1691640" cy="274320"/>
          </a:xfrm>
          <a:prstGeom prst="rect">
            <a:avLst/>
          </a:prstGeom>
          <a:noFill/>
          <a:ln/>
        </p:spPr>
        <p:txBody>
          <a:bodyPr wrap="square" lIns="0" tIns="0" rIns="0" bIns="0" rtlCol="0" anchor="ctr"/>
          <a:lstStyle/>
          <a:p>
            <a:pPr algn="ctr" indent="0" marL="0">
              <a:buNone/>
            </a:pPr>
            <a:r>
              <a:rPr lang="en-US" sz="950" b="1" dirty="0">
                <a:solidFill>
                  <a:srgbClr val="0F766E"/>
                </a:solidFill>
                <a:latin typeface="Segoe UI Semibold" pitchFamily="34" charset="0"/>
                <a:ea typeface="Segoe UI Semibold" pitchFamily="34" charset="-122"/>
                <a:cs typeface="Segoe UI Semibold" pitchFamily="34" charset="-120"/>
              </a:rPr>
              <a:t>YZ üretimi</a:t>
            </a:r>
            <a:endParaRPr lang="en-US" sz="950" dirty="0"/>
          </a:p>
        </p:txBody>
      </p:sp>
      <p:sp>
        <p:nvSpPr>
          <p:cNvPr id="35" name="Shape 33"/>
          <p:cNvSpPr/>
          <p:nvPr/>
        </p:nvSpPr>
        <p:spPr>
          <a:xfrm>
            <a:off x="548640" y="4087368"/>
            <a:ext cx="11091672" cy="585216"/>
          </a:xfrm>
          <a:prstGeom prst="rect">
            <a:avLst/>
          </a:prstGeom>
          <a:solidFill>
            <a:srgbClr val="F7F8FC"/>
          </a:solidFill>
          <a:ln w="12700">
            <a:solidFill>
              <a:srgbClr val="F7F8FC"/>
            </a:solidFill>
            <a:prstDash val="solid"/>
          </a:ln>
        </p:spPr>
      </p:sp>
      <p:sp>
        <p:nvSpPr>
          <p:cNvPr id="36" name="Shape 34"/>
          <p:cNvSpPr/>
          <p:nvPr/>
        </p:nvSpPr>
        <p:spPr>
          <a:xfrm>
            <a:off x="548640" y="4672584"/>
            <a:ext cx="11091672" cy="0"/>
          </a:xfrm>
          <a:prstGeom prst="line">
            <a:avLst/>
          </a:prstGeom>
          <a:noFill/>
          <a:ln w="9525">
            <a:solidFill>
              <a:srgbClr val="E1E5F0"/>
            </a:solidFill>
            <a:prstDash val="solid"/>
          </a:ln>
        </p:spPr>
      </p:sp>
      <p:sp>
        <p:nvSpPr>
          <p:cNvPr id="37" name="Text 35"/>
          <p:cNvSpPr txBox="1"/>
          <p:nvPr/>
        </p:nvSpPr>
        <p:spPr>
          <a:xfrm>
            <a:off x="713232" y="4087368"/>
            <a:ext cx="2788920" cy="585216"/>
          </a:xfrm>
          <a:prstGeom prst="rect">
            <a:avLst/>
          </a:prstGeom>
          <a:noFill/>
          <a:ln/>
        </p:spPr>
        <p:txBody>
          <a:bodyPr wrap="square" lIns="0" tIns="0" rIns="0" bIns="0" rtlCol="0" anchor="ctr"/>
          <a:lstStyle/>
          <a:p>
            <a:pPr indent="0" marL="0">
              <a:buNone/>
            </a:pPr>
            <a:r>
              <a:rPr lang="en-US" sz="1100" b="1" dirty="0">
                <a:solidFill>
                  <a:srgbClr val="172144"/>
                </a:solidFill>
                <a:latin typeface="Segoe UI Semibold" pitchFamily="34" charset="0"/>
                <a:ea typeface="Segoe UI Semibold" pitchFamily="34" charset="-122"/>
                <a:cs typeface="Segoe UI Semibold" pitchFamily="34" charset="-120"/>
              </a:rPr>
              <a:t>Bankanın faaliyetleri açısından ilgili olabilecek konular</a:t>
            </a:r>
            <a:endParaRPr lang="en-US" sz="1100" dirty="0"/>
          </a:p>
        </p:txBody>
      </p:sp>
      <p:sp>
        <p:nvSpPr>
          <p:cNvPr id="38" name="Text 36"/>
          <p:cNvSpPr txBox="1"/>
          <p:nvPr/>
        </p:nvSpPr>
        <p:spPr>
          <a:xfrm>
            <a:off x="3776472" y="4087368"/>
            <a:ext cx="4480560" cy="585216"/>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Düzenlemenin bankayı hangi yönleriyle ilgilendirebileceği</a:t>
            </a:r>
            <a:endParaRPr lang="en-US" sz="1100" dirty="0"/>
          </a:p>
        </p:txBody>
      </p:sp>
      <p:sp>
        <p:nvSpPr>
          <p:cNvPr id="39" name="Shape 37"/>
          <p:cNvSpPr/>
          <p:nvPr/>
        </p:nvSpPr>
        <p:spPr>
          <a:xfrm>
            <a:off x="8531352" y="4242816"/>
            <a:ext cx="2331720" cy="274320"/>
          </a:xfrm>
          <a:prstGeom prst="roundRect">
            <a:avLst>
              <a:gd name="adj" fmla="val 50000"/>
            </a:avLst>
          </a:prstGeom>
          <a:solidFill>
            <a:srgbClr val="FEF0DC"/>
          </a:solidFill>
          <a:ln w="12700">
            <a:solidFill>
              <a:srgbClr val="FEF0DC"/>
            </a:solidFill>
            <a:prstDash val="solid"/>
          </a:ln>
        </p:spPr>
      </p:sp>
      <p:sp>
        <p:nvSpPr>
          <p:cNvPr id="40" name="Text 38"/>
          <p:cNvSpPr txBox="1"/>
          <p:nvPr/>
        </p:nvSpPr>
        <p:spPr>
          <a:xfrm>
            <a:off x="8531352" y="4242816"/>
            <a:ext cx="2331720" cy="274320"/>
          </a:xfrm>
          <a:prstGeom prst="rect">
            <a:avLst/>
          </a:prstGeom>
          <a:noFill/>
          <a:ln/>
        </p:spPr>
        <p:txBody>
          <a:bodyPr wrap="square" lIns="0" tIns="0" rIns="0" bIns="0" rtlCol="0" anchor="ctr"/>
          <a:lstStyle/>
          <a:p>
            <a:pPr algn="ctr" indent="0" marL="0">
              <a:buNone/>
            </a:pPr>
            <a:r>
              <a:rPr lang="en-US" sz="950" b="1" dirty="0">
                <a:solidFill>
                  <a:srgbClr val="B45309"/>
                </a:solidFill>
                <a:latin typeface="Segoe UI Semibold" pitchFamily="34" charset="0"/>
                <a:ea typeface="Segoe UI Semibold" pitchFamily="34" charset="-122"/>
                <a:cs typeface="Segoe UI Semibold" pitchFamily="34" charset="-120"/>
              </a:rPr>
              <a:t>YZ üretimi · gözden geçirme</a:t>
            </a:r>
            <a:endParaRPr lang="en-US" sz="950" dirty="0"/>
          </a:p>
        </p:txBody>
      </p:sp>
      <p:sp>
        <p:nvSpPr>
          <p:cNvPr id="41" name="Shape 39"/>
          <p:cNvSpPr/>
          <p:nvPr/>
        </p:nvSpPr>
        <p:spPr>
          <a:xfrm>
            <a:off x="548640" y="5093208"/>
            <a:ext cx="11091672" cy="0"/>
          </a:xfrm>
          <a:prstGeom prst="line">
            <a:avLst/>
          </a:prstGeom>
          <a:noFill/>
          <a:ln w="9525">
            <a:solidFill>
              <a:srgbClr val="E1E5F0"/>
            </a:solidFill>
            <a:prstDash val="solid"/>
          </a:ln>
        </p:spPr>
      </p:sp>
      <p:sp>
        <p:nvSpPr>
          <p:cNvPr id="42" name="Text 40"/>
          <p:cNvSpPr txBox="1"/>
          <p:nvPr/>
        </p:nvSpPr>
        <p:spPr>
          <a:xfrm>
            <a:off x="713232" y="4672584"/>
            <a:ext cx="2788920" cy="420624"/>
          </a:xfrm>
          <a:prstGeom prst="rect">
            <a:avLst/>
          </a:prstGeom>
          <a:noFill/>
          <a:ln/>
        </p:spPr>
        <p:txBody>
          <a:bodyPr wrap="square" lIns="0" tIns="0" rIns="0" bIns="0" rtlCol="0" anchor="ctr"/>
          <a:lstStyle/>
          <a:p>
            <a:pPr indent="0" marL="0">
              <a:buNone/>
            </a:pPr>
            <a:r>
              <a:rPr lang="en-US" sz="1100" b="1" dirty="0">
                <a:solidFill>
                  <a:srgbClr val="172144"/>
                </a:solidFill>
                <a:latin typeface="Segoe UI Semibold" pitchFamily="34" charset="0"/>
                <a:ea typeface="Segoe UI Semibold" pitchFamily="34" charset="-122"/>
                <a:cs typeface="Segoe UI Semibold" pitchFamily="34" charset="-120"/>
              </a:rPr>
              <a:t>Kaynak bağlantısı</a:t>
            </a:r>
            <a:endParaRPr lang="en-US" sz="1100" dirty="0"/>
          </a:p>
        </p:txBody>
      </p:sp>
      <p:sp>
        <p:nvSpPr>
          <p:cNvPr id="43" name="Text 41"/>
          <p:cNvSpPr txBox="1"/>
          <p:nvPr/>
        </p:nvSpPr>
        <p:spPr>
          <a:xfrm>
            <a:off x="3776472" y="4672584"/>
            <a:ext cx="4480560" cy="420624"/>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Resmî yayım sayfası ve varsa belge dosyası bağlantısı</a:t>
            </a:r>
            <a:endParaRPr lang="en-US" sz="1100" dirty="0"/>
          </a:p>
        </p:txBody>
      </p:sp>
      <p:sp>
        <p:nvSpPr>
          <p:cNvPr id="44" name="Shape 42"/>
          <p:cNvSpPr/>
          <p:nvPr/>
        </p:nvSpPr>
        <p:spPr>
          <a:xfrm>
            <a:off x="8531352" y="4745736"/>
            <a:ext cx="1691640" cy="274320"/>
          </a:xfrm>
          <a:prstGeom prst="roundRect">
            <a:avLst>
              <a:gd name="adj" fmla="val 50000"/>
            </a:avLst>
          </a:prstGeom>
          <a:solidFill>
            <a:srgbClr val="EEF0F3"/>
          </a:solidFill>
          <a:ln w="12700">
            <a:solidFill>
              <a:srgbClr val="EEF0F3"/>
            </a:solidFill>
            <a:prstDash val="solid"/>
          </a:ln>
        </p:spPr>
      </p:sp>
      <p:sp>
        <p:nvSpPr>
          <p:cNvPr id="45" name="Text 43"/>
          <p:cNvSpPr txBox="1"/>
          <p:nvPr/>
        </p:nvSpPr>
        <p:spPr>
          <a:xfrm>
            <a:off x="8531352" y="4745736"/>
            <a:ext cx="1691640" cy="274320"/>
          </a:xfrm>
          <a:prstGeom prst="rect">
            <a:avLst/>
          </a:prstGeom>
          <a:noFill/>
          <a:ln/>
        </p:spPr>
        <p:txBody>
          <a:bodyPr wrap="square" lIns="0" tIns="0" rIns="0" bIns="0" rtlCol="0" anchor="ctr"/>
          <a:lstStyle/>
          <a:p>
            <a:pPr algn="ctr" indent="0" marL="0">
              <a:buNone/>
            </a:pPr>
            <a:r>
              <a:rPr lang="en-US" sz="950" b="1" dirty="0">
                <a:solidFill>
                  <a:srgbClr val="4B5563"/>
                </a:solidFill>
                <a:latin typeface="Segoe UI Semibold" pitchFamily="34" charset="0"/>
                <a:ea typeface="Segoe UI Semibold" pitchFamily="34" charset="-122"/>
                <a:cs typeface="Segoe UI Semibold" pitchFamily="34" charset="-120"/>
              </a:rPr>
              <a:t>Sistem</a:t>
            </a:r>
            <a:endParaRPr lang="en-US" sz="950" dirty="0"/>
          </a:p>
        </p:txBody>
      </p:sp>
      <p:sp>
        <p:nvSpPr>
          <p:cNvPr id="46" name="Shape 44"/>
          <p:cNvSpPr/>
          <p:nvPr/>
        </p:nvSpPr>
        <p:spPr>
          <a:xfrm>
            <a:off x="548640" y="5221224"/>
            <a:ext cx="11091672" cy="475488"/>
          </a:xfrm>
          <a:prstGeom prst="roundRect">
            <a:avLst>
              <a:gd name="adj" fmla="val 11538"/>
            </a:avLst>
          </a:prstGeom>
          <a:solidFill>
            <a:srgbClr val="FFF7E6"/>
          </a:solidFill>
          <a:ln w="12700">
            <a:solidFill>
              <a:srgbClr val="F2B35B"/>
            </a:solidFill>
            <a:prstDash val="dash"/>
          </a:ln>
        </p:spPr>
      </p:sp>
      <p:sp>
        <p:nvSpPr>
          <p:cNvPr id="47" name="Text 45"/>
          <p:cNvSpPr txBox="1"/>
          <p:nvPr/>
        </p:nvSpPr>
        <p:spPr>
          <a:xfrm>
            <a:off x="713232" y="5221224"/>
            <a:ext cx="2788920" cy="475488"/>
          </a:xfrm>
          <a:prstGeom prst="rect">
            <a:avLst/>
          </a:prstGeom>
          <a:noFill/>
          <a:ln/>
        </p:spPr>
        <p:txBody>
          <a:bodyPr wrap="square" lIns="0" tIns="0" rIns="0" bIns="0" rtlCol="0" anchor="ctr"/>
          <a:lstStyle/>
          <a:p>
            <a:pPr indent="0" marL="0">
              <a:buNone/>
            </a:pPr>
            <a:r>
              <a:rPr lang="en-US" sz="1100" b="1" dirty="0">
                <a:solidFill>
                  <a:srgbClr val="172144"/>
                </a:solidFill>
                <a:latin typeface="Segoe UI Semibold" pitchFamily="34" charset="0"/>
                <a:ea typeface="Segoe UI Semibold" pitchFamily="34" charset="-122"/>
                <a:cs typeface="Segoe UI Semibold" pitchFamily="34" charset="-120"/>
              </a:rPr>
              <a:t>Yürürlük tarihi</a:t>
            </a:r>
            <a:endParaRPr lang="en-US" sz="1100" dirty="0"/>
          </a:p>
        </p:txBody>
      </p:sp>
      <p:sp>
        <p:nvSpPr>
          <p:cNvPr id="48" name="Text 46"/>
          <p:cNvSpPr txBox="1"/>
          <p:nvPr/>
        </p:nvSpPr>
        <p:spPr>
          <a:xfrm>
            <a:off x="3776472" y="5221224"/>
            <a:ext cx="4480560" cy="475488"/>
          </a:xfrm>
          <a:prstGeom prst="rect">
            <a:avLst/>
          </a:prstGeom>
          <a:noFill/>
          <a:ln/>
        </p:spPr>
        <p:txBody>
          <a:bodyPr wrap="square" lIns="0" tIns="0" rIns="0" bIns="0" rtlCol="0" anchor="ctr"/>
          <a:lstStyle/>
          <a:p>
            <a:pPr indent="0" marL="0">
              <a:buNone/>
            </a:pPr>
            <a:r>
              <a:rPr lang="en-US" sz="1100" dirty="0">
                <a:solidFill>
                  <a:srgbClr val="1F2937"/>
                </a:solidFill>
                <a:latin typeface="Segoe UI" pitchFamily="34" charset="0"/>
                <a:ea typeface="Segoe UI" pitchFamily="34" charset="-122"/>
                <a:cs typeface="Segoe UI" pitchFamily="34" charset="-120"/>
              </a:rPr>
              <a:t>Düzenlemenin yürürlüğe gireceği tarih; "yürürlüğü yaklaşan" takibi için</a:t>
            </a:r>
            <a:endParaRPr lang="en-US" sz="1100" dirty="0"/>
          </a:p>
        </p:txBody>
      </p:sp>
      <p:sp>
        <p:nvSpPr>
          <p:cNvPr id="49" name="Shape 47"/>
          <p:cNvSpPr/>
          <p:nvPr/>
        </p:nvSpPr>
        <p:spPr>
          <a:xfrm>
            <a:off x="8531352" y="5321808"/>
            <a:ext cx="1691640" cy="274320"/>
          </a:xfrm>
          <a:prstGeom prst="roundRect">
            <a:avLst>
              <a:gd name="adj" fmla="val 50000"/>
            </a:avLst>
          </a:prstGeom>
          <a:solidFill>
            <a:srgbClr val="FFE3C2"/>
          </a:solidFill>
          <a:ln w="12700">
            <a:solidFill>
              <a:srgbClr val="FFE3C2"/>
            </a:solidFill>
            <a:prstDash val="solid"/>
          </a:ln>
        </p:spPr>
      </p:sp>
      <p:sp>
        <p:nvSpPr>
          <p:cNvPr id="50" name="Text 48"/>
          <p:cNvSpPr txBox="1"/>
          <p:nvPr/>
        </p:nvSpPr>
        <p:spPr>
          <a:xfrm>
            <a:off x="8531352" y="5321808"/>
            <a:ext cx="1691640" cy="274320"/>
          </a:xfrm>
          <a:prstGeom prst="rect">
            <a:avLst/>
          </a:prstGeom>
          <a:noFill/>
          <a:ln/>
        </p:spPr>
        <p:txBody>
          <a:bodyPr wrap="square" lIns="0" tIns="0" rIns="0" bIns="0" rtlCol="0" anchor="ctr"/>
          <a:lstStyle/>
          <a:p>
            <a:pPr algn="ctr" indent="0" marL="0">
              <a:buNone/>
            </a:pPr>
            <a:r>
              <a:rPr lang="en-US" sz="950" b="1" dirty="0">
                <a:solidFill>
                  <a:srgbClr val="B45309"/>
                </a:solidFill>
                <a:latin typeface="Segoe UI Semibold" pitchFamily="34" charset="0"/>
                <a:ea typeface="Segoe UI Semibold" pitchFamily="34" charset="-122"/>
                <a:cs typeface="Segoe UI Semibold" pitchFamily="34" charset="-120"/>
              </a:rPr>
              <a:t>Önerilen ek alan</a:t>
            </a:r>
            <a:endParaRPr lang="en-US" sz="950" dirty="0"/>
          </a:p>
        </p:txBody>
      </p:sp>
      <p:sp>
        <p:nvSpPr>
          <p:cNvPr id="51" name="Text 49"/>
          <p:cNvSpPr txBox="1"/>
          <p:nvPr/>
        </p:nvSpPr>
        <p:spPr>
          <a:xfrm>
            <a:off x="694944" y="6035040"/>
            <a:ext cx="10881360" cy="411480"/>
          </a:xfrm>
          <a:prstGeom prst="rect">
            <a:avLst/>
          </a:prstGeom>
          <a:noFill/>
          <a:ln/>
        </p:spPr>
        <p:txBody>
          <a:bodyPr wrap="square" lIns="0" tIns="0" rIns="0" bIns="0" rtlCol="0" anchor="t"/>
          <a:lstStyle/>
          <a:p>
            <a:pPr indent="0" marL="0">
              <a:buNone/>
            </a:pPr>
            <a:r>
              <a:rPr lang="en-US" sz="1000" dirty="0">
                <a:solidFill>
                  <a:srgbClr val="6B7280"/>
                </a:solidFill>
                <a:latin typeface="Segoe UI" pitchFamily="34" charset="0"/>
                <a:ea typeface="Segoe UI" pitchFamily="34" charset="-122"/>
                <a:cs typeface="Segoe UI" pitchFamily="34" charset="-120"/>
              </a:rPr>
              <a:t>İş biriminin listesindeki "Kaynak Bağlantısı" ve "Kaynağına erişim sağlayacak bağlantı linki" maddeleri tek alanda birleştirilmiştir. Yürürlük tarihi, iş birimi onayına sunulan öneridir.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Birim Eşleştirme Önerisi</a:t>
            </a:r>
            <a:endParaRPr lang="en-US" sz="2200" dirty="0"/>
          </a:p>
        </p:txBody>
      </p:sp>
      <p:sp>
        <p:nvSpPr>
          <p:cNvPr id="3" name="Shape 1"/>
          <p:cNvSpPr/>
          <p:nvPr/>
        </p:nvSpPr>
        <p:spPr>
          <a:xfrm>
            <a:off x="548640" y="1280160"/>
            <a:ext cx="2148840" cy="1051560"/>
          </a:xfrm>
          <a:prstGeom prst="roundRect">
            <a:avLst>
              <a:gd name="adj" fmla="val 8696"/>
            </a:avLst>
          </a:prstGeom>
          <a:solidFill>
            <a:srgbClr val="FFFFFF"/>
          </a:solidFill>
          <a:ln w="12700">
            <a:solidFill>
              <a:srgbClr val="E1E5F0"/>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713232" y="1444752"/>
            <a:ext cx="420624" cy="420624"/>
          </a:xfrm>
          <a:prstGeom prst="ellipse">
            <a:avLst/>
          </a:prstGeom>
          <a:solidFill>
            <a:srgbClr val="EEF0FB"/>
          </a:solidFill>
          <a:ln w="12700">
            <a:solidFill>
              <a:srgbClr val="EEF0FB"/>
            </a:solidFill>
            <a:prstDash val="solid"/>
          </a:ln>
        </p:spPr>
      </p:sp>
      <p:pic>
        <p:nvPicPr>
          <p:cNvPr id="5" name="Image 0" descr="icons/file_blue.png">    </p:cNvPr>
          <p:cNvPicPr>
            <a:picLocks noChangeAspect="1"/>
          </p:cNvPicPr>
          <p:nvPr/>
        </p:nvPicPr>
        <p:blipFill>
          <a:blip r:embed="rId1"/>
          <a:stretch>
            <a:fillRect/>
          </a:stretch>
        </p:blipFill>
        <p:spPr>
          <a:xfrm>
            <a:off x="814182" y="1545702"/>
            <a:ext cx="218724" cy="218724"/>
          </a:xfrm>
          <a:prstGeom prst="rect">
            <a:avLst/>
          </a:prstGeom>
        </p:spPr>
      </p:pic>
      <p:sp>
        <p:nvSpPr>
          <p:cNvPr id="6" name="Text 3"/>
          <p:cNvSpPr txBox="1"/>
          <p:nvPr/>
        </p:nvSpPr>
        <p:spPr>
          <a:xfrm>
            <a:off x="1234440" y="1444752"/>
            <a:ext cx="1325880" cy="420624"/>
          </a:xfrm>
          <a:prstGeom prst="rect">
            <a:avLst/>
          </a:prstGeom>
          <a:noFill/>
          <a:ln/>
        </p:spPr>
        <p:txBody>
          <a:bodyPr wrap="square" lIns="0" tIns="0" rIns="0" bIns="0" rtlCol="0" anchor="ctr"/>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Düzenleme Özeti</a:t>
            </a:r>
            <a:endParaRPr lang="en-US" sz="1200" dirty="0"/>
          </a:p>
        </p:txBody>
      </p:sp>
      <p:sp>
        <p:nvSpPr>
          <p:cNvPr id="7" name="Text 4"/>
          <p:cNvSpPr txBox="1"/>
          <p:nvPr/>
        </p:nvSpPr>
        <p:spPr>
          <a:xfrm>
            <a:off x="713232" y="1938528"/>
            <a:ext cx="1819656" cy="320040"/>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Konu ve kapsam bilgisi</a:t>
            </a:r>
            <a:endParaRPr lang="en-US" sz="1050" dirty="0"/>
          </a:p>
        </p:txBody>
      </p:sp>
      <p:sp>
        <p:nvSpPr>
          <p:cNvPr id="8" name="Shape 5"/>
          <p:cNvSpPr/>
          <p:nvPr/>
        </p:nvSpPr>
        <p:spPr>
          <a:xfrm>
            <a:off x="548640" y="2468880"/>
            <a:ext cx="2148840" cy="1051560"/>
          </a:xfrm>
          <a:prstGeom prst="roundRect">
            <a:avLst>
              <a:gd name="adj" fmla="val 8696"/>
            </a:avLst>
          </a:prstGeom>
          <a:solidFill>
            <a:srgbClr val="FFFFFF"/>
          </a:solidFill>
          <a:ln w="12700">
            <a:solidFill>
              <a:srgbClr val="E1E5F0"/>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713232" y="2633472"/>
            <a:ext cx="420624" cy="420624"/>
          </a:xfrm>
          <a:prstGeom prst="ellipse">
            <a:avLst/>
          </a:prstGeom>
          <a:solidFill>
            <a:srgbClr val="EEF0FB"/>
          </a:solidFill>
          <a:ln w="12700">
            <a:solidFill>
              <a:srgbClr val="EEF0FB"/>
            </a:solidFill>
            <a:prstDash val="solid"/>
          </a:ln>
        </p:spPr>
      </p:sp>
      <p:pic>
        <p:nvPicPr>
          <p:cNvPr id="10" name="Image 1" descr="icons/book_blue.png">    </p:cNvPr>
          <p:cNvPicPr>
            <a:picLocks noChangeAspect="1"/>
          </p:cNvPicPr>
          <p:nvPr/>
        </p:nvPicPr>
        <p:blipFill>
          <a:blip r:embed="rId2"/>
          <a:stretch>
            <a:fillRect/>
          </a:stretch>
        </p:blipFill>
        <p:spPr>
          <a:xfrm>
            <a:off x="814182" y="2734422"/>
            <a:ext cx="218724" cy="218724"/>
          </a:xfrm>
          <a:prstGeom prst="rect">
            <a:avLst/>
          </a:prstGeom>
        </p:spPr>
      </p:pic>
      <p:sp>
        <p:nvSpPr>
          <p:cNvPr id="11" name="Text 7"/>
          <p:cNvSpPr txBox="1"/>
          <p:nvPr/>
        </p:nvSpPr>
        <p:spPr>
          <a:xfrm>
            <a:off x="1234440" y="2633472"/>
            <a:ext cx="1325880" cy="420624"/>
          </a:xfrm>
          <a:prstGeom prst="rect">
            <a:avLst/>
          </a:prstGeom>
          <a:noFill/>
          <a:ln/>
        </p:spPr>
        <p:txBody>
          <a:bodyPr wrap="square" lIns="0" tIns="0" rIns="0" bIns="0" rtlCol="0" anchor="ctr"/>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Görev Tanımları</a:t>
            </a:r>
            <a:endParaRPr lang="en-US" sz="1200" dirty="0"/>
          </a:p>
        </p:txBody>
      </p:sp>
      <p:sp>
        <p:nvSpPr>
          <p:cNvPr id="12" name="Text 8"/>
          <p:cNvSpPr txBox="1"/>
          <p:nvPr/>
        </p:nvSpPr>
        <p:spPr>
          <a:xfrm>
            <a:off x="713232" y="3127248"/>
            <a:ext cx="1819656" cy="320040"/>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Birim görev alanları bilgi tabanı</a:t>
            </a:r>
            <a:endParaRPr lang="en-US" sz="1050" dirty="0"/>
          </a:p>
        </p:txBody>
      </p:sp>
      <p:sp>
        <p:nvSpPr>
          <p:cNvPr id="13" name="Shape 9"/>
          <p:cNvSpPr/>
          <p:nvPr/>
        </p:nvSpPr>
        <p:spPr>
          <a:xfrm>
            <a:off x="3108960" y="1783080"/>
            <a:ext cx="2148840" cy="1188720"/>
          </a:xfrm>
          <a:prstGeom prst="roundRect">
            <a:avLst>
              <a:gd name="adj" fmla="val 7692"/>
            </a:avLst>
          </a:prstGeom>
          <a:solidFill>
            <a:srgbClr val="FFFFFF"/>
          </a:solidFill>
          <a:ln w="12700">
            <a:solidFill>
              <a:srgbClr val="E1E5F0"/>
            </a:solidFill>
            <a:prstDash val="solid"/>
          </a:ln>
          <a:effectLst>
            <a:outerShdw sx="100000" sy="100000" kx="0" ky="0" algn="bl" rotWithShape="0" blurRad="101600" dist="25400" dir="5400000">
              <a:srgbClr val="000000">
                <a:alpha val="12000"/>
              </a:srgbClr>
            </a:outerShdw>
          </a:effectLst>
        </p:spPr>
      </p:sp>
      <p:sp>
        <p:nvSpPr>
          <p:cNvPr id="14" name="Shape 10"/>
          <p:cNvSpPr/>
          <p:nvPr/>
        </p:nvSpPr>
        <p:spPr>
          <a:xfrm>
            <a:off x="3273552" y="1947672"/>
            <a:ext cx="420624" cy="420624"/>
          </a:xfrm>
          <a:prstGeom prst="ellipse">
            <a:avLst/>
          </a:prstGeom>
          <a:solidFill>
            <a:srgbClr val="EEF0FB"/>
          </a:solidFill>
          <a:ln w="12700">
            <a:solidFill>
              <a:srgbClr val="EEF0FB"/>
            </a:solidFill>
            <a:prstDash val="solid"/>
          </a:ln>
        </p:spPr>
      </p:sp>
      <p:pic>
        <p:nvPicPr>
          <p:cNvPr id="15" name="Image 2" descr="icons/sparkles_blue.png">    </p:cNvPr>
          <p:cNvPicPr>
            <a:picLocks noChangeAspect="1"/>
          </p:cNvPicPr>
          <p:nvPr/>
        </p:nvPicPr>
        <p:blipFill>
          <a:blip r:embed="rId3"/>
          <a:stretch>
            <a:fillRect/>
          </a:stretch>
        </p:blipFill>
        <p:spPr>
          <a:xfrm>
            <a:off x="3374502" y="2048622"/>
            <a:ext cx="218724" cy="218724"/>
          </a:xfrm>
          <a:prstGeom prst="rect">
            <a:avLst/>
          </a:prstGeom>
        </p:spPr>
      </p:pic>
      <p:sp>
        <p:nvSpPr>
          <p:cNvPr id="16" name="Text 11"/>
          <p:cNvSpPr txBox="1"/>
          <p:nvPr/>
        </p:nvSpPr>
        <p:spPr>
          <a:xfrm>
            <a:off x="3794760" y="1947672"/>
            <a:ext cx="1325880" cy="420624"/>
          </a:xfrm>
          <a:prstGeom prst="rect">
            <a:avLst/>
          </a:prstGeom>
          <a:noFill/>
          <a:ln/>
        </p:spPr>
        <p:txBody>
          <a:bodyPr wrap="square" lIns="0" tIns="0" rIns="0" bIns="0" rtlCol="0" anchor="ctr"/>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YZ Eşleştirme</a:t>
            </a:r>
            <a:endParaRPr lang="en-US" sz="1200" dirty="0"/>
          </a:p>
        </p:txBody>
      </p:sp>
      <p:sp>
        <p:nvSpPr>
          <p:cNvPr id="17" name="Text 12"/>
          <p:cNvSpPr txBox="1"/>
          <p:nvPr/>
        </p:nvSpPr>
        <p:spPr>
          <a:xfrm>
            <a:off x="3273552" y="2441448"/>
            <a:ext cx="1819656" cy="457200"/>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Konu ile görev alanlarının karşılaştırılması</a:t>
            </a:r>
            <a:endParaRPr lang="en-US" sz="1050" dirty="0"/>
          </a:p>
        </p:txBody>
      </p:sp>
      <p:sp>
        <p:nvSpPr>
          <p:cNvPr id="18" name="Shape 13"/>
          <p:cNvSpPr/>
          <p:nvPr/>
        </p:nvSpPr>
        <p:spPr>
          <a:xfrm>
            <a:off x="5669280" y="1783080"/>
            <a:ext cx="2148840" cy="1188720"/>
          </a:xfrm>
          <a:prstGeom prst="roundRect">
            <a:avLst>
              <a:gd name="adj" fmla="val 7692"/>
            </a:avLst>
          </a:prstGeom>
          <a:solidFill>
            <a:srgbClr val="FFFFFF"/>
          </a:solidFill>
          <a:ln w="12700">
            <a:solidFill>
              <a:srgbClr val="E1E5F0"/>
            </a:solidFill>
            <a:prstDash val="solid"/>
          </a:ln>
          <a:effectLst>
            <a:outerShdw sx="100000" sy="100000" kx="0" ky="0" algn="bl" rotWithShape="0" blurRad="101600" dist="25400" dir="5400000">
              <a:srgbClr val="000000">
                <a:alpha val="12000"/>
              </a:srgbClr>
            </a:outerShdw>
          </a:effectLst>
        </p:spPr>
      </p:sp>
      <p:sp>
        <p:nvSpPr>
          <p:cNvPr id="19" name="Shape 14"/>
          <p:cNvSpPr/>
          <p:nvPr/>
        </p:nvSpPr>
        <p:spPr>
          <a:xfrm>
            <a:off x="5833872" y="1947672"/>
            <a:ext cx="420624" cy="420624"/>
          </a:xfrm>
          <a:prstGeom prst="ellipse">
            <a:avLst/>
          </a:prstGeom>
          <a:solidFill>
            <a:srgbClr val="EEF0FB"/>
          </a:solidFill>
          <a:ln w="12700">
            <a:solidFill>
              <a:srgbClr val="EEF0FB"/>
            </a:solidFill>
            <a:prstDash val="solid"/>
          </a:ln>
        </p:spPr>
      </p:sp>
      <p:pic>
        <p:nvPicPr>
          <p:cNvPr id="20" name="Image 3" descr="icons/network_blue.png">    </p:cNvPr>
          <p:cNvPicPr>
            <a:picLocks noChangeAspect="1"/>
          </p:cNvPicPr>
          <p:nvPr/>
        </p:nvPicPr>
        <p:blipFill>
          <a:blip r:embed="rId4"/>
          <a:stretch>
            <a:fillRect/>
          </a:stretch>
        </p:blipFill>
        <p:spPr>
          <a:xfrm>
            <a:off x="5934822" y="2048622"/>
            <a:ext cx="218724" cy="218724"/>
          </a:xfrm>
          <a:prstGeom prst="rect">
            <a:avLst/>
          </a:prstGeom>
        </p:spPr>
      </p:pic>
      <p:sp>
        <p:nvSpPr>
          <p:cNvPr id="21" name="Text 15"/>
          <p:cNvSpPr txBox="1"/>
          <p:nvPr/>
        </p:nvSpPr>
        <p:spPr>
          <a:xfrm>
            <a:off x="6355080" y="1947672"/>
            <a:ext cx="1325880" cy="420624"/>
          </a:xfrm>
          <a:prstGeom prst="rect">
            <a:avLst/>
          </a:prstGeom>
          <a:noFill/>
          <a:ln/>
        </p:spPr>
        <p:txBody>
          <a:bodyPr wrap="square" lIns="0" tIns="0" rIns="0" bIns="0" rtlCol="0" anchor="ctr"/>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Gerekçeli Öneri</a:t>
            </a:r>
            <a:endParaRPr lang="en-US" sz="1200" dirty="0"/>
          </a:p>
        </p:txBody>
      </p:sp>
      <p:sp>
        <p:nvSpPr>
          <p:cNvPr id="22" name="Text 16"/>
          <p:cNvSpPr txBox="1"/>
          <p:nvPr/>
        </p:nvSpPr>
        <p:spPr>
          <a:xfrm>
            <a:off x="5833872" y="2441448"/>
            <a:ext cx="1819656" cy="457200"/>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Bir veya birden fazla birim ve kısa gerekçe</a:t>
            </a:r>
            <a:endParaRPr lang="en-US" sz="1050" dirty="0"/>
          </a:p>
        </p:txBody>
      </p:sp>
      <p:sp>
        <p:nvSpPr>
          <p:cNvPr id="23" name="Shape 17"/>
          <p:cNvSpPr/>
          <p:nvPr/>
        </p:nvSpPr>
        <p:spPr>
          <a:xfrm>
            <a:off x="8229600" y="1783080"/>
            <a:ext cx="3410712" cy="1188720"/>
          </a:xfrm>
          <a:prstGeom prst="roundRect">
            <a:avLst>
              <a:gd name="adj" fmla="val 7692"/>
            </a:avLst>
          </a:prstGeom>
          <a:solidFill>
            <a:srgbClr val="172144"/>
          </a:solidFill>
          <a:ln w="12700">
            <a:solidFill>
              <a:srgbClr val="172144"/>
            </a:solidFill>
            <a:prstDash val="solid"/>
          </a:ln>
        </p:spPr>
      </p:sp>
      <p:sp>
        <p:nvSpPr>
          <p:cNvPr id="24" name="Shape 18"/>
          <p:cNvSpPr/>
          <p:nvPr/>
        </p:nvSpPr>
        <p:spPr>
          <a:xfrm>
            <a:off x="8394192" y="1947672"/>
            <a:ext cx="420624" cy="420624"/>
          </a:xfrm>
          <a:prstGeom prst="ellipse">
            <a:avLst/>
          </a:prstGeom>
          <a:solidFill>
            <a:srgbClr val="2A3668"/>
          </a:solidFill>
          <a:ln w="12700">
            <a:solidFill>
              <a:srgbClr val="2A3668"/>
            </a:solidFill>
            <a:prstDash val="solid"/>
          </a:ln>
        </p:spPr>
      </p:sp>
      <p:pic>
        <p:nvPicPr>
          <p:cNvPr id="25" name="Image 4" descr="icons/usercheck_white.png">    </p:cNvPr>
          <p:cNvPicPr>
            <a:picLocks noChangeAspect="1"/>
          </p:cNvPicPr>
          <p:nvPr/>
        </p:nvPicPr>
        <p:blipFill>
          <a:blip r:embed="rId5"/>
          <a:stretch>
            <a:fillRect/>
          </a:stretch>
        </p:blipFill>
        <p:spPr>
          <a:xfrm>
            <a:off x="8495142" y="2048622"/>
            <a:ext cx="218724" cy="218724"/>
          </a:xfrm>
          <a:prstGeom prst="rect">
            <a:avLst/>
          </a:prstGeom>
        </p:spPr>
      </p:pic>
      <p:sp>
        <p:nvSpPr>
          <p:cNvPr id="26" name="Text 19"/>
          <p:cNvSpPr txBox="1"/>
          <p:nvPr/>
        </p:nvSpPr>
        <p:spPr>
          <a:xfrm>
            <a:off x="8915400" y="1947672"/>
            <a:ext cx="2587752" cy="420624"/>
          </a:xfrm>
          <a:prstGeom prst="rect">
            <a:avLst/>
          </a:prstGeom>
          <a:noFill/>
          <a:ln/>
        </p:spPr>
        <p:txBody>
          <a:bodyPr wrap="square" lIns="0" tIns="0" rIns="0" bIns="0"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Başkanlık Kararı</a:t>
            </a:r>
            <a:endParaRPr lang="en-US" sz="1200" dirty="0"/>
          </a:p>
        </p:txBody>
      </p:sp>
      <p:sp>
        <p:nvSpPr>
          <p:cNvPr id="27" name="Text 20"/>
          <p:cNvSpPr txBox="1"/>
          <p:nvPr/>
        </p:nvSpPr>
        <p:spPr>
          <a:xfrm>
            <a:off x="8394192" y="2441448"/>
            <a:ext cx="3081528" cy="457200"/>
          </a:xfrm>
          <a:prstGeom prst="rect">
            <a:avLst/>
          </a:prstGeom>
          <a:noFill/>
          <a:ln/>
        </p:spPr>
        <p:txBody>
          <a:bodyPr wrap="square" lIns="0" tIns="0" rIns="0" bIns="0" rtlCol="0" anchor="t"/>
          <a:lstStyle/>
          <a:p>
            <a:pPr indent="0" marL="0">
              <a:buNone/>
            </a:pPr>
            <a:r>
              <a:rPr lang="en-US" sz="1050" dirty="0">
                <a:solidFill>
                  <a:srgbClr val="C9D1EA"/>
                </a:solidFill>
                <a:latin typeface="Segoe UI" pitchFamily="34" charset="0"/>
                <a:ea typeface="Segoe UI" pitchFamily="34" charset="-122"/>
                <a:cs typeface="Segoe UI" pitchFamily="34" charset="-120"/>
              </a:rPr>
              <a:t>Onayla, reddet veya birimi değiştir — nihai karar Başkanlığındır</a:t>
            </a:r>
            <a:endParaRPr lang="en-US" sz="1050" dirty="0"/>
          </a:p>
        </p:txBody>
      </p:sp>
      <p:sp>
        <p:nvSpPr>
          <p:cNvPr id="28" name="Shape 21"/>
          <p:cNvSpPr/>
          <p:nvPr/>
        </p:nvSpPr>
        <p:spPr>
          <a:xfrm>
            <a:off x="2724912" y="1792224"/>
            <a:ext cx="356616" cy="0"/>
          </a:xfrm>
          <a:prstGeom prst="line">
            <a:avLst/>
          </a:prstGeom>
          <a:noFill/>
          <a:ln w="19050">
            <a:solidFill>
              <a:srgbClr val="9AA3C0"/>
            </a:solidFill>
            <a:prstDash val="solid"/>
            <a:tailEnd type="triangle"/>
          </a:ln>
        </p:spPr>
      </p:sp>
      <p:sp>
        <p:nvSpPr>
          <p:cNvPr id="29" name="Shape 22"/>
          <p:cNvSpPr/>
          <p:nvPr/>
        </p:nvSpPr>
        <p:spPr>
          <a:xfrm>
            <a:off x="2724912" y="2980944"/>
            <a:ext cx="356616" cy="0"/>
          </a:xfrm>
          <a:prstGeom prst="line">
            <a:avLst/>
          </a:prstGeom>
          <a:noFill/>
          <a:ln w="19050">
            <a:solidFill>
              <a:srgbClr val="9AA3C0"/>
            </a:solidFill>
            <a:prstDash val="solid"/>
            <a:tailEnd type="triangle"/>
          </a:ln>
        </p:spPr>
      </p:sp>
      <p:sp>
        <p:nvSpPr>
          <p:cNvPr id="30" name="Shape 23"/>
          <p:cNvSpPr/>
          <p:nvPr/>
        </p:nvSpPr>
        <p:spPr>
          <a:xfrm>
            <a:off x="5285232" y="2377440"/>
            <a:ext cx="356616" cy="0"/>
          </a:xfrm>
          <a:prstGeom prst="line">
            <a:avLst/>
          </a:prstGeom>
          <a:noFill/>
          <a:ln w="19050">
            <a:solidFill>
              <a:srgbClr val="9AA3C0"/>
            </a:solidFill>
            <a:prstDash val="solid"/>
            <a:tailEnd type="triangle"/>
          </a:ln>
        </p:spPr>
      </p:sp>
      <p:sp>
        <p:nvSpPr>
          <p:cNvPr id="31" name="Shape 24"/>
          <p:cNvSpPr/>
          <p:nvPr/>
        </p:nvSpPr>
        <p:spPr>
          <a:xfrm>
            <a:off x="7845552" y="2377440"/>
            <a:ext cx="356616" cy="0"/>
          </a:xfrm>
          <a:prstGeom prst="line">
            <a:avLst/>
          </a:prstGeom>
          <a:noFill/>
          <a:ln w="19050">
            <a:solidFill>
              <a:srgbClr val="9AA3C0"/>
            </a:solidFill>
            <a:prstDash val="solid"/>
            <a:tailEnd type="triangle"/>
          </a:ln>
        </p:spPr>
      </p:sp>
      <p:sp>
        <p:nvSpPr>
          <p:cNvPr id="32" name="Shape 25"/>
          <p:cNvSpPr/>
          <p:nvPr/>
        </p:nvSpPr>
        <p:spPr>
          <a:xfrm>
            <a:off x="9921240" y="2999232"/>
            <a:ext cx="0" cy="384048"/>
          </a:xfrm>
          <a:prstGeom prst="line">
            <a:avLst/>
          </a:prstGeom>
          <a:noFill/>
          <a:ln w="19050">
            <a:solidFill>
              <a:srgbClr val="9AA3C0"/>
            </a:solidFill>
            <a:prstDash val="dash"/>
          </a:ln>
        </p:spPr>
      </p:sp>
      <p:sp>
        <p:nvSpPr>
          <p:cNvPr id="33" name="Shape 26"/>
          <p:cNvSpPr/>
          <p:nvPr/>
        </p:nvSpPr>
        <p:spPr>
          <a:xfrm>
            <a:off x="4178808" y="3383280"/>
            <a:ext cx="5742432" cy="0"/>
          </a:xfrm>
          <a:prstGeom prst="line">
            <a:avLst/>
          </a:prstGeom>
          <a:noFill/>
          <a:ln w="19050">
            <a:solidFill>
              <a:srgbClr val="9AA3C0"/>
            </a:solidFill>
            <a:prstDash val="dash"/>
          </a:ln>
        </p:spPr>
      </p:sp>
      <p:sp>
        <p:nvSpPr>
          <p:cNvPr id="34" name="Shape 27"/>
          <p:cNvSpPr/>
          <p:nvPr/>
        </p:nvSpPr>
        <p:spPr>
          <a:xfrm>
            <a:off x="4178808" y="2999232"/>
            <a:ext cx="0" cy="384048"/>
          </a:xfrm>
          <a:prstGeom prst="line">
            <a:avLst/>
          </a:prstGeom>
          <a:noFill/>
          <a:ln w="19050">
            <a:solidFill>
              <a:srgbClr val="9AA3C0"/>
            </a:solidFill>
            <a:prstDash val="dash"/>
            <a:headEnd type="triangle"/>
          </a:ln>
        </p:spPr>
      </p:sp>
      <p:pic>
        <p:nvPicPr>
          <p:cNvPr id="35" name="Image 5" descr="icons/refresh_gray.png">    </p:cNvPr>
          <p:cNvPicPr>
            <a:picLocks noChangeAspect="1"/>
          </p:cNvPicPr>
          <p:nvPr/>
        </p:nvPicPr>
        <p:blipFill>
          <a:blip r:embed="rId6"/>
          <a:stretch>
            <a:fillRect/>
          </a:stretch>
        </p:blipFill>
        <p:spPr>
          <a:xfrm>
            <a:off x="5532120" y="3474720"/>
            <a:ext cx="201168" cy="201168"/>
          </a:xfrm>
          <a:prstGeom prst="rect">
            <a:avLst/>
          </a:prstGeom>
        </p:spPr>
      </p:pic>
      <p:sp>
        <p:nvSpPr>
          <p:cNvPr id="36" name="Text 28"/>
          <p:cNvSpPr txBox="1"/>
          <p:nvPr/>
        </p:nvSpPr>
        <p:spPr>
          <a:xfrm>
            <a:off x="5806440" y="3447288"/>
            <a:ext cx="5120640" cy="274320"/>
          </a:xfrm>
          <a:prstGeom prst="rect">
            <a:avLst/>
          </a:prstGeom>
          <a:noFill/>
          <a:ln/>
        </p:spPr>
        <p:txBody>
          <a:bodyPr wrap="square" lIns="0" tIns="0" rIns="0" bIns="0" rtlCol="0" anchor="ctr"/>
          <a:lstStyle/>
          <a:p>
            <a:pPr indent="0" marL="0">
              <a:buNone/>
            </a:pPr>
            <a:r>
              <a:rPr lang="en-US" sz="1050" dirty="0">
                <a:solidFill>
                  <a:srgbClr val="6B7280"/>
                </a:solidFill>
                <a:latin typeface="Segoe UI" pitchFamily="34" charset="0"/>
                <a:ea typeface="Segoe UI" pitchFamily="34" charset="-122"/>
                <a:cs typeface="Segoe UI" pitchFamily="34" charset="-120"/>
              </a:rPr>
              <a:t>Onay ve düzeltmeler örnek havuzuna eklenir — öneri isabeti zamanla artar</a:t>
            </a:r>
            <a:endParaRPr lang="en-US" sz="1050" dirty="0"/>
          </a:p>
        </p:txBody>
      </p:sp>
      <p:sp>
        <p:nvSpPr>
          <p:cNvPr id="37" name="Shape 29"/>
          <p:cNvSpPr/>
          <p:nvPr/>
        </p:nvSpPr>
        <p:spPr>
          <a:xfrm>
            <a:off x="548640" y="3977640"/>
            <a:ext cx="11091672" cy="1691640"/>
          </a:xfrm>
          <a:prstGeom prst="roundRect">
            <a:avLst>
              <a:gd name="adj" fmla="val 6486"/>
            </a:avLst>
          </a:prstGeom>
          <a:solidFill>
            <a:srgbClr val="F4F5F8"/>
          </a:solidFill>
          <a:ln w="12700">
            <a:solidFill>
              <a:srgbClr val="F4F5F8"/>
            </a:solidFill>
            <a:prstDash val="solid"/>
          </a:ln>
        </p:spPr>
      </p:sp>
      <p:sp>
        <p:nvSpPr>
          <p:cNvPr id="38" name="Text 30"/>
          <p:cNvSpPr txBox="1"/>
          <p:nvPr/>
        </p:nvSpPr>
        <p:spPr>
          <a:xfrm>
            <a:off x="777240" y="4133088"/>
            <a:ext cx="3657600" cy="256032"/>
          </a:xfrm>
          <a:prstGeom prst="rect">
            <a:avLst/>
          </a:prstGeom>
          <a:noFill/>
          <a:ln/>
        </p:spPr>
        <p:txBody>
          <a:bodyPr wrap="square" lIns="0" tIns="0" rIns="0" bIns="0" rtlCol="0" anchor="t"/>
          <a:lstStyle/>
          <a:p>
            <a:pPr indent="0" marL="0">
              <a:buNone/>
            </a:pPr>
            <a:r>
              <a:rPr lang="en-US" sz="950" b="1" spc="50" kern="0" dirty="0">
                <a:solidFill>
                  <a:srgbClr val="6B7280"/>
                </a:solidFill>
                <a:latin typeface="Segoe UI Semibold" pitchFamily="34" charset="0"/>
                <a:ea typeface="Segoe UI Semibold" pitchFamily="34" charset="-122"/>
                <a:cs typeface="Segoe UI Semibold" pitchFamily="34" charset="-120"/>
              </a:rPr>
              <a:t>ÖRNEK ÖNERİ (DEMO VERİSİ)</a:t>
            </a:r>
            <a:endParaRPr lang="en-US" sz="950" dirty="0"/>
          </a:p>
        </p:txBody>
      </p:sp>
      <p:sp>
        <p:nvSpPr>
          <p:cNvPr id="39" name="Text 31"/>
          <p:cNvSpPr txBox="1"/>
          <p:nvPr/>
        </p:nvSpPr>
        <p:spPr>
          <a:xfrm>
            <a:off x="777240" y="4434840"/>
            <a:ext cx="3566160" cy="685800"/>
          </a:xfrm>
          <a:prstGeom prst="rect">
            <a:avLst/>
          </a:prstGeom>
          <a:noFill/>
          <a:ln/>
        </p:spPr>
        <p:txBody>
          <a:bodyPr wrap="square" lIns="0" tIns="0" rIns="0" bIns="0" rtlCol="0" anchor="t"/>
          <a:lstStyle/>
          <a:p>
            <a:pPr indent="0" marL="0">
              <a:buNone/>
            </a:pPr>
            <a:r>
              <a:rPr lang="en-US" sz="1250" b="1" dirty="0">
                <a:solidFill>
                  <a:srgbClr val="172144"/>
                </a:solidFill>
                <a:latin typeface="Segoe UI Semibold" pitchFamily="34" charset="0"/>
                <a:ea typeface="Segoe UI Semibold" pitchFamily="34" charset="-122"/>
                <a:cs typeface="Segoe UI Semibold" pitchFamily="34" charset="-120"/>
              </a:rPr>
              <a:t>Bankaların Sermaye Yeterliliğinin Ölçülmesine İlişkin Yönetmelikte Değişiklik</a:t>
            </a:r>
            <a:endParaRPr lang="en-US" sz="1250" dirty="0"/>
          </a:p>
        </p:txBody>
      </p:sp>
      <p:sp>
        <p:nvSpPr>
          <p:cNvPr id="40" name="Shape 32"/>
          <p:cNvSpPr/>
          <p:nvPr/>
        </p:nvSpPr>
        <p:spPr>
          <a:xfrm>
            <a:off x="777240" y="5193792"/>
            <a:ext cx="685800" cy="256032"/>
          </a:xfrm>
          <a:prstGeom prst="roundRect">
            <a:avLst>
              <a:gd name="adj" fmla="val 50000"/>
            </a:avLst>
          </a:prstGeom>
          <a:solidFill>
            <a:srgbClr val="E7EBF7"/>
          </a:solidFill>
          <a:ln w="12700">
            <a:solidFill>
              <a:srgbClr val="E7EBF7"/>
            </a:solidFill>
            <a:prstDash val="solid"/>
          </a:ln>
        </p:spPr>
      </p:sp>
      <p:sp>
        <p:nvSpPr>
          <p:cNvPr id="41" name="Text 33"/>
          <p:cNvSpPr txBox="1"/>
          <p:nvPr/>
        </p:nvSpPr>
        <p:spPr>
          <a:xfrm>
            <a:off x="777240" y="5193792"/>
            <a:ext cx="685800" cy="256032"/>
          </a:xfrm>
          <a:prstGeom prst="rect">
            <a:avLst/>
          </a:prstGeom>
          <a:noFill/>
          <a:ln/>
        </p:spPr>
        <p:txBody>
          <a:bodyPr wrap="square" lIns="0" tIns="0" rIns="0" bIns="0" rtlCol="0" anchor="ctr"/>
          <a:lstStyle/>
          <a:p>
            <a:pPr algn="ctr" indent="0" marL="0">
              <a:buNone/>
            </a:pPr>
            <a:r>
              <a:rPr lang="en-US" sz="950" b="1" dirty="0">
                <a:solidFill>
                  <a:srgbClr val="2A3A8F"/>
                </a:solidFill>
                <a:latin typeface="Segoe UI Semibold" pitchFamily="34" charset="0"/>
                <a:ea typeface="Segoe UI Semibold" pitchFamily="34" charset="-122"/>
                <a:cs typeface="Segoe UI Semibold" pitchFamily="34" charset="-120"/>
              </a:rPr>
              <a:t>BDDK</a:t>
            </a:r>
            <a:endParaRPr lang="en-US" sz="950" dirty="0"/>
          </a:p>
        </p:txBody>
      </p:sp>
      <p:sp>
        <p:nvSpPr>
          <p:cNvPr id="42" name="Shape 34"/>
          <p:cNvSpPr/>
          <p:nvPr/>
        </p:nvSpPr>
        <p:spPr>
          <a:xfrm>
            <a:off x="1554480" y="5193792"/>
            <a:ext cx="685800" cy="256032"/>
          </a:xfrm>
          <a:prstGeom prst="roundRect">
            <a:avLst>
              <a:gd name="adj" fmla="val 50000"/>
            </a:avLst>
          </a:prstGeom>
          <a:solidFill>
            <a:srgbClr val="FDE2E2"/>
          </a:solidFill>
          <a:ln w="12700">
            <a:solidFill>
              <a:srgbClr val="FDE2E2"/>
            </a:solidFill>
            <a:prstDash val="solid"/>
          </a:ln>
        </p:spPr>
      </p:sp>
      <p:sp>
        <p:nvSpPr>
          <p:cNvPr id="43" name="Text 35"/>
          <p:cNvSpPr txBox="1"/>
          <p:nvPr/>
        </p:nvSpPr>
        <p:spPr>
          <a:xfrm>
            <a:off x="1554480" y="5193792"/>
            <a:ext cx="685800" cy="256032"/>
          </a:xfrm>
          <a:prstGeom prst="rect">
            <a:avLst/>
          </a:prstGeom>
          <a:noFill/>
          <a:ln/>
        </p:spPr>
        <p:txBody>
          <a:bodyPr wrap="square" lIns="0" tIns="0" rIns="0" bIns="0" rtlCol="0" anchor="ctr"/>
          <a:lstStyle/>
          <a:p>
            <a:pPr algn="ctr" indent="0" marL="0">
              <a:buNone/>
            </a:pPr>
            <a:r>
              <a:rPr lang="en-US" sz="950" b="1" dirty="0">
                <a:solidFill>
                  <a:srgbClr val="B91C1C"/>
                </a:solidFill>
                <a:latin typeface="Segoe UI Semibold" pitchFamily="34" charset="0"/>
                <a:ea typeface="Segoe UI Semibold" pitchFamily="34" charset="-122"/>
                <a:cs typeface="Segoe UI Semibold" pitchFamily="34" charset="-120"/>
              </a:rPr>
              <a:t>Kritik</a:t>
            </a:r>
            <a:endParaRPr lang="en-US" sz="950" dirty="0"/>
          </a:p>
        </p:txBody>
      </p:sp>
      <p:sp>
        <p:nvSpPr>
          <p:cNvPr id="44" name="Shape 36"/>
          <p:cNvSpPr/>
          <p:nvPr/>
        </p:nvSpPr>
        <p:spPr>
          <a:xfrm>
            <a:off x="4617720" y="4160520"/>
            <a:ext cx="6812280" cy="621792"/>
          </a:xfrm>
          <a:prstGeom prst="roundRect">
            <a:avLst>
              <a:gd name="adj" fmla="val 11765"/>
            </a:avLst>
          </a:prstGeom>
          <a:solidFill>
            <a:srgbClr val="FFFFFF"/>
          </a:solidFill>
          <a:ln w="12700">
            <a:solidFill>
              <a:srgbClr val="E1E5F0"/>
            </a:solidFill>
            <a:prstDash val="solid"/>
          </a:ln>
        </p:spPr>
      </p:sp>
      <p:pic>
        <p:nvPicPr>
          <p:cNvPr id="45" name="Image 6" descr="icons/landmark_blue.png">    </p:cNvPr>
          <p:cNvPicPr>
            <a:picLocks noChangeAspect="1"/>
          </p:cNvPicPr>
          <p:nvPr/>
        </p:nvPicPr>
        <p:blipFill>
          <a:blip r:embed="rId7"/>
          <a:stretch>
            <a:fillRect/>
          </a:stretch>
        </p:blipFill>
        <p:spPr>
          <a:xfrm>
            <a:off x="4773168" y="4334256"/>
            <a:ext cx="274320" cy="274320"/>
          </a:xfrm>
          <a:prstGeom prst="rect">
            <a:avLst/>
          </a:prstGeom>
        </p:spPr>
      </p:pic>
      <p:sp>
        <p:nvSpPr>
          <p:cNvPr id="46" name="Text 37"/>
          <p:cNvSpPr txBox="1"/>
          <p:nvPr/>
        </p:nvSpPr>
        <p:spPr>
          <a:xfrm>
            <a:off x="5166360" y="4215384"/>
            <a:ext cx="6126480" cy="237744"/>
          </a:xfrm>
          <a:prstGeom prst="rect">
            <a:avLst/>
          </a:prstGeom>
          <a:noFill/>
          <a:ln/>
        </p:spPr>
        <p:txBody>
          <a:bodyPr wrap="square" lIns="0" tIns="0" rIns="0" bIns="0" rtlCol="0" anchor="t"/>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Risk Yönetimi</a:t>
            </a:r>
            <a:endParaRPr lang="en-US" sz="1150" dirty="0"/>
          </a:p>
        </p:txBody>
      </p:sp>
      <p:sp>
        <p:nvSpPr>
          <p:cNvPr id="47" name="Text 38"/>
          <p:cNvSpPr txBox="1"/>
          <p:nvPr/>
        </p:nvSpPr>
        <p:spPr>
          <a:xfrm>
            <a:off x="5166360" y="4453128"/>
            <a:ext cx="6172200" cy="274320"/>
          </a:xfrm>
          <a:prstGeom prst="rect">
            <a:avLst/>
          </a:prstGeom>
          <a:noFill/>
          <a:ln/>
        </p:spPr>
        <p:txBody>
          <a:bodyPr wrap="square" lIns="0" tIns="0" rIns="0" bIns="0" rtlCol="0" anchor="t"/>
          <a:lstStyle/>
          <a:p>
            <a:pPr indent="0" marL="0">
              <a:buNone/>
            </a:pPr>
            <a:r>
              <a:rPr lang="en-US" sz="1000" dirty="0">
                <a:solidFill>
                  <a:srgbClr val="6B7280"/>
                </a:solidFill>
                <a:latin typeface="Segoe UI" pitchFamily="34" charset="0"/>
                <a:ea typeface="Segoe UI" pitchFamily="34" charset="-122"/>
                <a:cs typeface="Segoe UI" pitchFamily="34" charset="-120"/>
              </a:rPr>
              <a:t>Sermaye yeterliliği rasyosu hesaplamaları ve risk ağırlıklandırma metodolojisi doğrudan bu birimin sorumluluğunda.</a:t>
            </a:r>
            <a:endParaRPr lang="en-US" sz="1000" dirty="0"/>
          </a:p>
        </p:txBody>
      </p:sp>
      <p:sp>
        <p:nvSpPr>
          <p:cNvPr id="48" name="Shape 39"/>
          <p:cNvSpPr/>
          <p:nvPr/>
        </p:nvSpPr>
        <p:spPr>
          <a:xfrm>
            <a:off x="4617720" y="4892040"/>
            <a:ext cx="6812280" cy="621792"/>
          </a:xfrm>
          <a:prstGeom prst="roundRect">
            <a:avLst>
              <a:gd name="adj" fmla="val 11765"/>
            </a:avLst>
          </a:prstGeom>
          <a:solidFill>
            <a:srgbClr val="FFFFFF"/>
          </a:solidFill>
          <a:ln w="12700">
            <a:solidFill>
              <a:srgbClr val="E1E5F0"/>
            </a:solidFill>
            <a:prstDash val="solid"/>
          </a:ln>
        </p:spPr>
      </p:sp>
      <p:pic>
        <p:nvPicPr>
          <p:cNvPr id="49" name="Image 7" descr="icons/landmark_blue.png">    </p:cNvPr>
          <p:cNvPicPr>
            <a:picLocks noChangeAspect="1"/>
          </p:cNvPicPr>
          <p:nvPr/>
        </p:nvPicPr>
        <p:blipFill>
          <a:blip r:embed="rId8"/>
          <a:stretch>
            <a:fillRect/>
          </a:stretch>
        </p:blipFill>
        <p:spPr>
          <a:xfrm>
            <a:off x="4773168" y="5065776"/>
            <a:ext cx="274320" cy="274320"/>
          </a:xfrm>
          <a:prstGeom prst="rect">
            <a:avLst/>
          </a:prstGeom>
        </p:spPr>
      </p:pic>
      <p:sp>
        <p:nvSpPr>
          <p:cNvPr id="50" name="Text 40"/>
          <p:cNvSpPr txBox="1"/>
          <p:nvPr/>
        </p:nvSpPr>
        <p:spPr>
          <a:xfrm>
            <a:off x="5166360" y="4946904"/>
            <a:ext cx="6126480" cy="237744"/>
          </a:xfrm>
          <a:prstGeom prst="rect">
            <a:avLst/>
          </a:prstGeom>
          <a:noFill/>
          <a:ln/>
        </p:spPr>
        <p:txBody>
          <a:bodyPr wrap="square" lIns="0" tIns="0" rIns="0" bIns="0" rtlCol="0" anchor="t"/>
          <a:lstStyle/>
          <a:p>
            <a:pPr indent="0" marL="0">
              <a:buNone/>
            </a:pPr>
            <a:r>
              <a:rPr lang="en-US" sz="1150" b="1" dirty="0">
                <a:solidFill>
                  <a:srgbClr val="172144"/>
                </a:solidFill>
                <a:latin typeface="Segoe UI Semibold" pitchFamily="34" charset="0"/>
                <a:ea typeface="Segoe UI Semibold" pitchFamily="34" charset="-122"/>
                <a:cs typeface="Segoe UI Semibold" pitchFamily="34" charset="-120"/>
              </a:rPr>
              <a:t>Mali Kontrol</a:t>
            </a:r>
            <a:endParaRPr lang="en-US" sz="1150" dirty="0"/>
          </a:p>
        </p:txBody>
      </p:sp>
      <p:sp>
        <p:nvSpPr>
          <p:cNvPr id="51" name="Text 41"/>
          <p:cNvSpPr txBox="1"/>
          <p:nvPr/>
        </p:nvSpPr>
        <p:spPr>
          <a:xfrm>
            <a:off x="5166360" y="5184648"/>
            <a:ext cx="6172200" cy="274320"/>
          </a:xfrm>
          <a:prstGeom prst="rect">
            <a:avLst/>
          </a:prstGeom>
          <a:noFill/>
          <a:ln/>
        </p:spPr>
        <p:txBody>
          <a:bodyPr wrap="square" lIns="0" tIns="0" rIns="0" bIns="0" rtlCol="0" anchor="t"/>
          <a:lstStyle/>
          <a:p>
            <a:pPr indent="0" marL="0">
              <a:buNone/>
            </a:pPr>
            <a:r>
              <a:rPr lang="en-US" sz="1000" dirty="0">
                <a:solidFill>
                  <a:srgbClr val="6B7280"/>
                </a:solidFill>
                <a:latin typeface="Segoe UI" pitchFamily="34" charset="0"/>
                <a:ea typeface="Segoe UI" pitchFamily="34" charset="-122"/>
                <a:cs typeface="Segoe UI" pitchFamily="34" charset="-120"/>
              </a:rPr>
              <a:t>Konsolide raporlama süreçlerinde rasyo hesaplamasının finansal tablolara etkisi değerlendirilmeli.</a:t>
            </a:r>
            <a:endParaRPr lang="en-US" sz="1000" dirty="0"/>
          </a:p>
        </p:txBody>
      </p:sp>
      <p:sp>
        <p:nvSpPr>
          <p:cNvPr id="52" name="Text 42"/>
          <p:cNvSpPr txBox="1"/>
          <p:nvPr/>
        </p:nvSpPr>
        <p:spPr>
          <a:xfrm>
            <a:off x="694944" y="5897880"/>
            <a:ext cx="10881360" cy="274320"/>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Faz 1: öneri üretilir ve Portal'da gösterilir   ·   Faz 2: onay sonrası otomatik yönlendirme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Portal — Liste Ekranı (Demo)</a:t>
            </a:r>
            <a:endParaRPr lang="en-US" sz="2200" dirty="0"/>
          </a:p>
        </p:txBody>
      </p:sp>
      <p:sp>
        <p:nvSpPr>
          <p:cNvPr id="3" name="Shape 1"/>
          <p:cNvSpPr/>
          <p:nvPr/>
        </p:nvSpPr>
        <p:spPr>
          <a:xfrm>
            <a:off x="493776" y="1179576"/>
            <a:ext cx="7927848" cy="4235958"/>
          </a:xfrm>
          <a:prstGeom prst="roundRect">
            <a:avLst>
              <a:gd name="adj" fmla="val 2159"/>
            </a:avLst>
          </a:prstGeom>
          <a:solidFill>
            <a:srgbClr val="FFFFFF"/>
          </a:solidFill>
          <a:ln w="12700">
            <a:solidFill>
              <a:srgbClr val="E1E5F0"/>
            </a:solidFill>
            <a:prstDash val="solid"/>
          </a:ln>
          <a:effectLst>
            <a:outerShdw sx="100000" sy="100000" kx="0" ky="0" algn="bl" rotWithShape="0" blurRad="101600" dist="25400" dir="5400000">
              <a:srgbClr val="000000">
                <a:alpha val="12000"/>
              </a:srgbClr>
            </a:outerShdw>
          </a:effectLst>
        </p:spPr>
      </p:sp>
      <p:pic>
        <p:nvPicPr>
          <p:cNvPr id="4" name="Image 0" descr="s9_liste.png">    </p:cNvPr>
          <p:cNvPicPr>
            <a:picLocks noChangeAspect="1"/>
          </p:cNvPicPr>
          <p:nvPr/>
        </p:nvPicPr>
        <p:blipFill>
          <a:blip r:embed="rId1"/>
          <a:stretch>
            <a:fillRect/>
          </a:stretch>
        </p:blipFill>
        <p:spPr>
          <a:xfrm>
            <a:off x="548640" y="1234440"/>
            <a:ext cx="7818120" cy="4126230"/>
          </a:xfrm>
          <a:prstGeom prst="rect">
            <a:avLst/>
          </a:prstGeom>
        </p:spPr>
      </p:pic>
      <p:sp>
        <p:nvSpPr>
          <p:cNvPr id="5" name="Shape 2"/>
          <p:cNvSpPr/>
          <p:nvPr/>
        </p:nvSpPr>
        <p:spPr>
          <a:xfrm>
            <a:off x="2226564" y="2119694"/>
            <a:ext cx="292608" cy="292608"/>
          </a:xfrm>
          <a:prstGeom prst="ellipse">
            <a:avLst/>
          </a:prstGeom>
          <a:solidFill>
            <a:srgbClr val="E9474E"/>
          </a:solidFill>
          <a:ln w="12700">
            <a:solidFill>
              <a:srgbClr val="E9474E"/>
            </a:solidFill>
            <a:prstDash val="solid"/>
          </a:ln>
        </p:spPr>
      </p:sp>
      <p:sp>
        <p:nvSpPr>
          <p:cNvPr id="6" name="Text 3"/>
          <p:cNvSpPr txBox="1"/>
          <p:nvPr/>
        </p:nvSpPr>
        <p:spPr>
          <a:xfrm>
            <a:off x="2226564" y="2119694"/>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1</a:t>
            </a:r>
            <a:endParaRPr lang="en-US" sz="1050" dirty="0"/>
          </a:p>
        </p:txBody>
      </p:sp>
      <p:sp>
        <p:nvSpPr>
          <p:cNvPr id="7" name="Shape 4"/>
          <p:cNvSpPr/>
          <p:nvPr/>
        </p:nvSpPr>
        <p:spPr>
          <a:xfrm>
            <a:off x="5353812" y="2966657"/>
            <a:ext cx="292608" cy="292608"/>
          </a:xfrm>
          <a:prstGeom prst="ellipse">
            <a:avLst/>
          </a:prstGeom>
          <a:solidFill>
            <a:srgbClr val="E9474E"/>
          </a:solidFill>
          <a:ln w="12700">
            <a:solidFill>
              <a:srgbClr val="E9474E"/>
            </a:solidFill>
            <a:prstDash val="solid"/>
          </a:ln>
        </p:spPr>
      </p:sp>
      <p:sp>
        <p:nvSpPr>
          <p:cNvPr id="8" name="Text 5"/>
          <p:cNvSpPr txBox="1"/>
          <p:nvPr/>
        </p:nvSpPr>
        <p:spPr>
          <a:xfrm>
            <a:off x="5353812" y="2966657"/>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2</a:t>
            </a:r>
            <a:endParaRPr lang="en-US" sz="1050" dirty="0"/>
          </a:p>
        </p:txBody>
      </p:sp>
      <p:sp>
        <p:nvSpPr>
          <p:cNvPr id="9" name="Shape 6"/>
          <p:cNvSpPr/>
          <p:nvPr/>
        </p:nvSpPr>
        <p:spPr>
          <a:xfrm>
            <a:off x="619506" y="2619185"/>
            <a:ext cx="292608" cy="292608"/>
          </a:xfrm>
          <a:prstGeom prst="ellipse">
            <a:avLst/>
          </a:prstGeom>
          <a:solidFill>
            <a:srgbClr val="E9474E"/>
          </a:solidFill>
          <a:ln w="12700">
            <a:solidFill>
              <a:srgbClr val="E9474E"/>
            </a:solidFill>
            <a:prstDash val="solid"/>
          </a:ln>
        </p:spPr>
      </p:sp>
      <p:sp>
        <p:nvSpPr>
          <p:cNvPr id="10" name="Text 7"/>
          <p:cNvSpPr txBox="1"/>
          <p:nvPr/>
        </p:nvSpPr>
        <p:spPr>
          <a:xfrm>
            <a:off x="619506" y="2619185"/>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3</a:t>
            </a:r>
            <a:endParaRPr lang="en-US" sz="1050" dirty="0"/>
          </a:p>
        </p:txBody>
      </p:sp>
      <p:sp>
        <p:nvSpPr>
          <p:cNvPr id="11" name="Shape 8"/>
          <p:cNvSpPr/>
          <p:nvPr/>
        </p:nvSpPr>
        <p:spPr>
          <a:xfrm>
            <a:off x="7112889" y="1240155"/>
            <a:ext cx="292608" cy="292608"/>
          </a:xfrm>
          <a:prstGeom prst="ellipse">
            <a:avLst/>
          </a:prstGeom>
          <a:solidFill>
            <a:srgbClr val="E9474E"/>
          </a:solidFill>
          <a:ln w="12700">
            <a:solidFill>
              <a:srgbClr val="E9474E"/>
            </a:solidFill>
            <a:prstDash val="solid"/>
          </a:ln>
        </p:spPr>
      </p:sp>
      <p:sp>
        <p:nvSpPr>
          <p:cNvPr id="12" name="Text 9"/>
          <p:cNvSpPr txBox="1"/>
          <p:nvPr/>
        </p:nvSpPr>
        <p:spPr>
          <a:xfrm>
            <a:off x="7112889" y="1240155"/>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4</a:t>
            </a:r>
            <a:endParaRPr lang="en-US" sz="1050" dirty="0"/>
          </a:p>
        </p:txBody>
      </p:sp>
      <p:sp>
        <p:nvSpPr>
          <p:cNvPr id="13" name="Shape 10"/>
          <p:cNvSpPr/>
          <p:nvPr/>
        </p:nvSpPr>
        <p:spPr>
          <a:xfrm>
            <a:off x="8732520" y="1325880"/>
            <a:ext cx="329184" cy="329184"/>
          </a:xfrm>
          <a:prstGeom prst="ellipse">
            <a:avLst/>
          </a:prstGeom>
          <a:solidFill>
            <a:srgbClr val="E9474E"/>
          </a:solidFill>
          <a:ln w="12700">
            <a:solidFill>
              <a:srgbClr val="E9474E"/>
            </a:solidFill>
            <a:prstDash val="solid"/>
          </a:ln>
        </p:spPr>
      </p:sp>
      <p:sp>
        <p:nvSpPr>
          <p:cNvPr id="14" name="Text 11"/>
          <p:cNvSpPr txBox="1"/>
          <p:nvPr/>
        </p:nvSpPr>
        <p:spPr>
          <a:xfrm>
            <a:off x="8732520" y="13258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a:t>
            </a:r>
            <a:endParaRPr lang="en-US" sz="1100" dirty="0"/>
          </a:p>
        </p:txBody>
      </p:sp>
      <p:sp>
        <p:nvSpPr>
          <p:cNvPr id="15" name="Text 12"/>
          <p:cNvSpPr txBox="1"/>
          <p:nvPr/>
        </p:nvSpPr>
        <p:spPr>
          <a:xfrm>
            <a:off x="9189720" y="1307592"/>
            <a:ext cx="2450592"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Metrik kartları</a:t>
            </a:r>
            <a:endParaRPr lang="en-US" sz="1300" dirty="0"/>
          </a:p>
        </p:txBody>
      </p:sp>
      <p:sp>
        <p:nvSpPr>
          <p:cNvPr id="16" name="Text 13"/>
          <p:cNvSpPr txBox="1"/>
          <p:nvPr/>
        </p:nvSpPr>
        <p:spPr>
          <a:xfrm>
            <a:off x="9189720" y="1636776"/>
            <a:ext cx="2450592" cy="65836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Bekleyen, kritik, bugün gelen ve yürürlüğü yaklaşan kayıtlar; kart tıklanınca liste filtrelenir.</a:t>
            </a:r>
            <a:endParaRPr lang="en-US" sz="1100" dirty="0"/>
          </a:p>
        </p:txBody>
      </p:sp>
      <p:sp>
        <p:nvSpPr>
          <p:cNvPr id="17" name="Shape 14"/>
          <p:cNvSpPr/>
          <p:nvPr/>
        </p:nvSpPr>
        <p:spPr>
          <a:xfrm>
            <a:off x="8732520" y="2377440"/>
            <a:ext cx="329184" cy="329184"/>
          </a:xfrm>
          <a:prstGeom prst="ellipse">
            <a:avLst/>
          </a:prstGeom>
          <a:solidFill>
            <a:srgbClr val="E9474E"/>
          </a:solidFill>
          <a:ln w="12700">
            <a:solidFill>
              <a:srgbClr val="E9474E"/>
            </a:solidFill>
            <a:prstDash val="solid"/>
          </a:ln>
        </p:spPr>
      </p:sp>
      <p:sp>
        <p:nvSpPr>
          <p:cNvPr id="18" name="Text 15"/>
          <p:cNvSpPr txBox="1"/>
          <p:nvPr/>
        </p:nvSpPr>
        <p:spPr>
          <a:xfrm>
            <a:off x="8732520" y="2377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2</a:t>
            </a:r>
            <a:endParaRPr lang="en-US" sz="1100" dirty="0"/>
          </a:p>
        </p:txBody>
      </p:sp>
      <p:sp>
        <p:nvSpPr>
          <p:cNvPr id="19" name="Text 16"/>
          <p:cNvSpPr txBox="1"/>
          <p:nvPr/>
        </p:nvSpPr>
        <p:spPr>
          <a:xfrm>
            <a:off x="9189720" y="2359152"/>
            <a:ext cx="2450592"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Yürürlük tarihi</a:t>
            </a:r>
            <a:endParaRPr lang="en-US" sz="1300" dirty="0"/>
          </a:p>
        </p:txBody>
      </p:sp>
      <p:sp>
        <p:nvSpPr>
          <p:cNvPr id="20" name="Text 17"/>
          <p:cNvSpPr txBox="1"/>
          <p:nvPr/>
        </p:nvSpPr>
        <p:spPr>
          <a:xfrm>
            <a:off x="9189720" y="2688336"/>
            <a:ext cx="2450592" cy="65836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Yürürlüğü yaklaşan düzenlemeler tabloda vurgulanır.</a:t>
            </a:r>
            <a:endParaRPr lang="en-US" sz="1100" dirty="0"/>
          </a:p>
        </p:txBody>
      </p:sp>
      <p:sp>
        <p:nvSpPr>
          <p:cNvPr id="21" name="Shape 18"/>
          <p:cNvSpPr/>
          <p:nvPr/>
        </p:nvSpPr>
        <p:spPr>
          <a:xfrm>
            <a:off x="8732520" y="3429000"/>
            <a:ext cx="329184" cy="329184"/>
          </a:xfrm>
          <a:prstGeom prst="ellipse">
            <a:avLst/>
          </a:prstGeom>
          <a:solidFill>
            <a:srgbClr val="E9474E"/>
          </a:solidFill>
          <a:ln w="12700">
            <a:solidFill>
              <a:srgbClr val="E9474E"/>
            </a:solidFill>
            <a:prstDash val="solid"/>
          </a:ln>
        </p:spPr>
      </p:sp>
      <p:sp>
        <p:nvSpPr>
          <p:cNvPr id="22" name="Text 19"/>
          <p:cNvSpPr txBox="1"/>
          <p:nvPr/>
        </p:nvSpPr>
        <p:spPr>
          <a:xfrm>
            <a:off x="8732520" y="34290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3</a:t>
            </a:r>
            <a:endParaRPr lang="en-US" sz="1100" dirty="0"/>
          </a:p>
        </p:txBody>
      </p:sp>
      <p:sp>
        <p:nvSpPr>
          <p:cNvPr id="23" name="Text 20"/>
          <p:cNvSpPr txBox="1"/>
          <p:nvPr/>
        </p:nvSpPr>
        <p:spPr>
          <a:xfrm>
            <a:off x="9189720" y="3410712"/>
            <a:ext cx="2450592"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Filtreler</a:t>
            </a:r>
            <a:endParaRPr lang="en-US" sz="1300" dirty="0"/>
          </a:p>
        </p:txBody>
      </p:sp>
      <p:sp>
        <p:nvSpPr>
          <p:cNvPr id="24" name="Text 21"/>
          <p:cNvSpPr txBox="1"/>
          <p:nvPr/>
        </p:nvSpPr>
        <p:spPr>
          <a:xfrm>
            <a:off x="9189720" y="3739896"/>
            <a:ext cx="2450592" cy="65836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Kaynak, önem, durum, birim ve tarihe göre daraltma.</a:t>
            </a:r>
            <a:endParaRPr lang="en-US" sz="1100" dirty="0"/>
          </a:p>
        </p:txBody>
      </p:sp>
      <p:sp>
        <p:nvSpPr>
          <p:cNvPr id="25" name="Shape 22"/>
          <p:cNvSpPr/>
          <p:nvPr/>
        </p:nvSpPr>
        <p:spPr>
          <a:xfrm>
            <a:off x="8732520" y="4480560"/>
            <a:ext cx="329184" cy="329184"/>
          </a:xfrm>
          <a:prstGeom prst="ellipse">
            <a:avLst/>
          </a:prstGeom>
          <a:solidFill>
            <a:srgbClr val="E9474E"/>
          </a:solidFill>
          <a:ln w="12700">
            <a:solidFill>
              <a:srgbClr val="E9474E"/>
            </a:solidFill>
            <a:prstDash val="solid"/>
          </a:ln>
        </p:spPr>
      </p:sp>
      <p:sp>
        <p:nvSpPr>
          <p:cNvPr id="26" name="Text 23"/>
          <p:cNvSpPr txBox="1"/>
          <p:nvPr/>
        </p:nvSpPr>
        <p:spPr>
          <a:xfrm>
            <a:off x="8732520" y="44805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4</a:t>
            </a:r>
            <a:endParaRPr lang="en-US" sz="1100" dirty="0"/>
          </a:p>
        </p:txBody>
      </p:sp>
      <p:sp>
        <p:nvSpPr>
          <p:cNvPr id="27" name="Text 24"/>
          <p:cNvSpPr txBox="1"/>
          <p:nvPr/>
        </p:nvSpPr>
        <p:spPr>
          <a:xfrm>
            <a:off x="9189720" y="4462272"/>
            <a:ext cx="2450592"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Kaynak sağlığı</a:t>
            </a:r>
            <a:endParaRPr lang="en-US" sz="1300" dirty="0"/>
          </a:p>
        </p:txBody>
      </p:sp>
      <p:sp>
        <p:nvSpPr>
          <p:cNvPr id="28" name="Text 25"/>
          <p:cNvSpPr txBox="1"/>
          <p:nvPr/>
        </p:nvSpPr>
        <p:spPr>
          <a:xfrm>
            <a:off x="9189720" y="4791456"/>
            <a:ext cx="2450592" cy="65836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Tüm kaynakların durumu üst çubukta sürekli görünür.</a:t>
            </a:r>
            <a:endParaRPr lang="en-US" sz="1100" dirty="0"/>
          </a:p>
        </p:txBody>
      </p:sp>
      <p:sp>
        <p:nvSpPr>
          <p:cNvPr id="29" name="Text 26"/>
          <p:cNvSpPr txBox="1"/>
          <p:nvPr/>
        </p:nvSpPr>
        <p:spPr>
          <a:xfrm>
            <a:off x="548640" y="5532120"/>
            <a:ext cx="7772400" cy="274320"/>
          </a:xfrm>
          <a:prstGeom prst="rect">
            <a:avLst/>
          </a:prstGeom>
          <a:noFill/>
          <a:ln/>
        </p:spPr>
        <p:txBody>
          <a:bodyPr wrap="square" lIns="0" tIns="0" rIns="0" bIns="0" rtlCol="0" anchor="t"/>
          <a:lstStyle/>
          <a:p>
            <a:pPr indent="0" marL="0">
              <a:buNone/>
            </a:pPr>
            <a:r>
              <a:rPr lang="en-US" sz="1000" i="1" dirty="0">
                <a:solidFill>
                  <a:srgbClr val="6B7280"/>
                </a:solidFill>
                <a:latin typeface="Segoe UI" pitchFamily="34" charset="0"/>
                <a:ea typeface="Segoe UI" pitchFamily="34" charset="-122"/>
                <a:cs typeface="Segoe UI" pitchFamily="34" charset="-120"/>
              </a:rPr>
              <a:t>Ekrandaki kayıtlar örnek (demo) veridir.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Portal — Detay Ekranı ve Karar Akışı (Demo)</a:t>
            </a:r>
            <a:endParaRPr lang="en-US" sz="2200" dirty="0"/>
          </a:p>
        </p:txBody>
      </p:sp>
      <p:sp>
        <p:nvSpPr>
          <p:cNvPr id="3" name="Shape 1"/>
          <p:cNvSpPr/>
          <p:nvPr/>
        </p:nvSpPr>
        <p:spPr>
          <a:xfrm>
            <a:off x="493776" y="1179576"/>
            <a:ext cx="7699248" cy="4642358"/>
          </a:xfrm>
          <a:prstGeom prst="roundRect">
            <a:avLst>
              <a:gd name="adj" fmla="val 1970"/>
            </a:avLst>
          </a:prstGeom>
          <a:solidFill>
            <a:srgbClr val="FFFFFF"/>
          </a:solidFill>
          <a:ln w="12700">
            <a:solidFill>
              <a:srgbClr val="E1E5F0"/>
            </a:solidFill>
            <a:prstDash val="solid"/>
          </a:ln>
          <a:effectLst>
            <a:outerShdw sx="100000" sy="100000" kx="0" ky="0" algn="bl" rotWithShape="0" blurRad="101600" dist="25400" dir="5400000">
              <a:srgbClr val="000000">
                <a:alpha val="12000"/>
              </a:srgbClr>
            </a:outerShdw>
          </a:effectLst>
        </p:spPr>
      </p:sp>
      <p:pic>
        <p:nvPicPr>
          <p:cNvPr id="4" name="Image 0" descr="s10_detay.png">    </p:cNvPr>
          <p:cNvPicPr>
            <a:picLocks noChangeAspect="1"/>
          </p:cNvPicPr>
          <p:nvPr/>
        </p:nvPicPr>
        <p:blipFill>
          <a:blip r:embed="rId1"/>
          <a:stretch>
            <a:fillRect/>
          </a:stretch>
        </p:blipFill>
        <p:spPr>
          <a:xfrm>
            <a:off x="548640" y="1234440"/>
            <a:ext cx="7589520" cy="4532630"/>
          </a:xfrm>
          <a:prstGeom prst="rect">
            <a:avLst/>
          </a:prstGeom>
        </p:spPr>
      </p:pic>
      <p:sp>
        <p:nvSpPr>
          <p:cNvPr id="5" name="Shape 2"/>
          <p:cNvSpPr/>
          <p:nvPr/>
        </p:nvSpPr>
        <p:spPr>
          <a:xfrm>
            <a:off x="1677797" y="2832672"/>
            <a:ext cx="292608" cy="292608"/>
          </a:xfrm>
          <a:prstGeom prst="ellipse">
            <a:avLst/>
          </a:prstGeom>
          <a:solidFill>
            <a:srgbClr val="E9474E"/>
          </a:solidFill>
          <a:ln w="12700">
            <a:solidFill>
              <a:srgbClr val="E9474E"/>
            </a:solidFill>
            <a:prstDash val="solid"/>
          </a:ln>
        </p:spPr>
      </p:sp>
      <p:sp>
        <p:nvSpPr>
          <p:cNvPr id="6" name="Text 3"/>
          <p:cNvSpPr txBox="1"/>
          <p:nvPr/>
        </p:nvSpPr>
        <p:spPr>
          <a:xfrm>
            <a:off x="1677797" y="2832672"/>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1</a:t>
            </a:r>
            <a:endParaRPr lang="en-US" sz="1050" dirty="0"/>
          </a:p>
        </p:txBody>
      </p:sp>
      <p:sp>
        <p:nvSpPr>
          <p:cNvPr id="7" name="Shape 4"/>
          <p:cNvSpPr/>
          <p:nvPr/>
        </p:nvSpPr>
        <p:spPr>
          <a:xfrm>
            <a:off x="5830951" y="3739198"/>
            <a:ext cx="292608" cy="292608"/>
          </a:xfrm>
          <a:prstGeom prst="ellipse">
            <a:avLst/>
          </a:prstGeom>
          <a:solidFill>
            <a:srgbClr val="E9474E"/>
          </a:solidFill>
          <a:ln w="12700">
            <a:solidFill>
              <a:srgbClr val="E9474E"/>
            </a:solidFill>
            <a:prstDash val="solid"/>
          </a:ln>
        </p:spPr>
      </p:sp>
      <p:sp>
        <p:nvSpPr>
          <p:cNvPr id="8" name="Text 5"/>
          <p:cNvSpPr txBox="1"/>
          <p:nvPr/>
        </p:nvSpPr>
        <p:spPr>
          <a:xfrm>
            <a:off x="5830951" y="3739198"/>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2</a:t>
            </a:r>
            <a:endParaRPr lang="en-US" sz="1050" dirty="0"/>
          </a:p>
        </p:txBody>
      </p:sp>
      <p:sp>
        <p:nvSpPr>
          <p:cNvPr id="9" name="Shape 6"/>
          <p:cNvSpPr/>
          <p:nvPr/>
        </p:nvSpPr>
        <p:spPr>
          <a:xfrm>
            <a:off x="2225929" y="4229354"/>
            <a:ext cx="292608" cy="292608"/>
          </a:xfrm>
          <a:prstGeom prst="ellipse">
            <a:avLst/>
          </a:prstGeom>
          <a:solidFill>
            <a:srgbClr val="E9474E"/>
          </a:solidFill>
          <a:ln w="12700">
            <a:solidFill>
              <a:srgbClr val="E9474E"/>
            </a:solidFill>
            <a:prstDash val="solid"/>
          </a:ln>
        </p:spPr>
      </p:sp>
      <p:sp>
        <p:nvSpPr>
          <p:cNvPr id="10" name="Text 7"/>
          <p:cNvSpPr txBox="1"/>
          <p:nvPr/>
        </p:nvSpPr>
        <p:spPr>
          <a:xfrm>
            <a:off x="2225929" y="4229354"/>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3</a:t>
            </a:r>
            <a:endParaRPr lang="en-US" sz="1050" dirty="0"/>
          </a:p>
        </p:txBody>
      </p:sp>
      <p:sp>
        <p:nvSpPr>
          <p:cNvPr id="11" name="Shape 8"/>
          <p:cNvSpPr/>
          <p:nvPr/>
        </p:nvSpPr>
        <p:spPr>
          <a:xfrm>
            <a:off x="6526657" y="4403281"/>
            <a:ext cx="292608" cy="292608"/>
          </a:xfrm>
          <a:prstGeom prst="ellipse">
            <a:avLst/>
          </a:prstGeom>
          <a:solidFill>
            <a:srgbClr val="E9474E"/>
          </a:solidFill>
          <a:ln w="12700">
            <a:solidFill>
              <a:srgbClr val="E9474E"/>
            </a:solidFill>
            <a:prstDash val="solid"/>
          </a:ln>
        </p:spPr>
      </p:sp>
      <p:sp>
        <p:nvSpPr>
          <p:cNvPr id="12" name="Text 9"/>
          <p:cNvSpPr txBox="1"/>
          <p:nvPr/>
        </p:nvSpPr>
        <p:spPr>
          <a:xfrm>
            <a:off x="6526657" y="4403281"/>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4</a:t>
            </a:r>
            <a:endParaRPr lang="en-US" sz="1050" dirty="0"/>
          </a:p>
        </p:txBody>
      </p:sp>
      <p:sp>
        <p:nvSpPr>
          <p:cNvPr id="13" name="Shape 10"/>
          <p:cNvSpPr/>
          <p:nvPr/>
        </p:nvSpPr>
        <p:spPr>
          <a:xfrm>
            <a:off x="8503920" y="1325880"/>
            <a:ext cx="329184" cy="329184"/>
          </a:xfrm>
          <a:prstGeom prst="ellipse">
            <a:avLst/>
          </a:prstGeom>
          <a:solidFill>
            <a:srgbClr val="E9474E"/>
          </a:solidFill>
          <a:ln w="12700">
            <a:solidFill>
              <a:srgbClr val="E9474E"/>
            </a:solidFill>
            <a:prstDash val="solid"/>
          </a:ln>
        </p:spPr>
      </p:sp>
      <p:sp>
        <p:nvSpPr>
          <p:cNvPr id="14" name="Text 11"/>
          <p:cNvSpPr txBox="1"/>
          <p:nvPr/>
        </p:nvSpPr>
        <p:spPr>
          <a:xfrm>
            <a:off x="8503920" y="13258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a:t>
            </a:r>
            <a:endParaRPr lang="en-US" sz="1100" dirty="0"/>
          </a:p>
        </p:txBody>
      </p:sp>
      <p:sp>
        <p:nvSpPr>
          <p:cNvPr id="15" name="Text 12"/>
          <p:cNvSpPr txBox="1"/>
          <p:nvPr/>
        </p:nvSpPr>
        <p:spPr>
          <a:xfrm>
            <a:off x="8961120" y="1307592"/>
            <a:ext cx="2679192"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YZ etiketleri</a:t>
            </a:r>
            <a:endParaRPr lang="en-US" sz="1300" dirty="0"/>
          </a:p>
        </p:txBody>
      </p:sp>
      <p:sp>
        <p:nvSpPr>
          <p:cNvPr id="16" name="Text 13"/>
          <p:cNvSpPr txBox="1"/>
          <p:nvPr/>
        </p:nvSpPr>
        <p:spPr>
          <a:xfrm>
            <a:off x="8961120" y="1636776"/>
            <a:ext cx="2679192" cy="65836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Yapay zekanın ürettiği alanlar (YZ özeti, YZ tespiti, YZ önerisi) açıkça işaretlenir.</a:t>
            </a:r>
            <a:endParaRPr lang="en-US" sz="1100" dirty="0"/>
          </a:p>
        </p:txBody>
      </p:sp>
      <p:sp>
        <p:nvSpPr>
          <p:cNvPr id="17" name="Shape 14"/>
          <p:cNvSpPr/>
          <p:nvPr/>
        </p:nvSpPr>
        <p:spPr>
          <a:xfrm>
            <a:off x="8503920" y="2377440"/>
            <a:ext cx="329184" cy="329184"/>
          </a:xfrm>
          <a:prstGeom prst="ellipse">
            <a:avLst/>
          </a:prstGeom>
          <a:solidFill>
            <a:srgbClr val="E9474E"/>
          </a:solidFill>
          <a:ln w="12700">
            <a:solidFill>
              <a:srgbClr val="E9474E"/>
            </a:solidFill>
            <a:prstDash val="solid"/>
          </a:ln>
        </p:spPr>
      </p:sp>
      <p:sp>
        <p:nvSpPr>
          <p:cNvPr id="18" name="Text 15"/>
          <p:cNvSpPr txBox="1"/>
          <p:nvPr/>
        </p:nvSpPr>
        <p:spPr>
          <a:xfrm>
            <a:off x="8503920" y="2377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2</a:t>
            </a:r>
            <a:endParaRPr lang="en-US" sz="1100" dirty="0"/>
          </a:p>
        </p:txBody>
      </p:sp>
      <p:sp>
        <p:nvSpPr>
          <p:cNvPr id="19" name="Text 16"/>
          <p:cNvSpPr txBox="1"/>
          <p:nvPr/>
        </p:nvSpPr>
        <p:spPr>
          <a:xfrm>
            <a:off x="8961120" y="2359152"/>
            <a:ext cx="2679192"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Güven skoru ve kaynak</a:t>
            </a:r>
            <a:endParaRPr lang="en-US" sz="1300" dirty="0"/>
          </a:p>
        </p:txBody>
      </p:sp>
      <p:sp>
        <p:nvSpPr>
          <p:cNvPr id="20" name="Text 17"/>
          <p:cNvSpPr txBox="1"/>
          <p:nvPr/>
        </p:nvSpPr>
        <p:spPr>
          <a:xfrm>
            <a:off x="8961120" y="2688336"/>
            <a:ext cx="2679192" cy="65836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Anlaşılır güven göstergesi; orijinal belgeye tek tıkla erişim.</a:t>
            </a:r>
            <a:endParaRPr lang="en-US" sz="1100" dirty="0"/>
          </a:p>
        </p:txBody>
      </p:sp>
      <p:sp>
        <p:nvSpPr>
          <p:cNvPr id="21" name="Shape 18"/>
          <p:cNvSpPr/>
          <p:nvPr/>
        </p:nvSpPr>
        <p:spPr>
          <a:xfrm>
            <a:off x="8503920" y="3429000"/>
            <a:ext cx="329184" cy="329184"/>
          </a:xfrm>
          <a:prstGeom prst="ellipse">
            <a:avLst/>
          </a:prstGeom>
          <a:solidFill>
            <a:srgbClr val="E9474E"/>
          </a:solidFill>
          <a:ln w="12700">
            <a:solidFill>
              <a:srgbClr val="E9474E"/>
            </a:solidFill>
            <a:prstDash val="solid"/>
          </a:ln>
        </p:spPr>
      </p:sp>
      <p:sp>
        <p:nvSpPr>
          <p:cNvPr id="22" name="Text 19"/>
          <p:cNvSpPr txBox="1"/>
          <p:nvPr/>
        </p:nvSpPr>
        <p:spPr>
          <a:xfrm>
            <a:off x="8503920" y="34290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3</a:t>
            </a:r>
            <a:endParaRPr lang="en-US" sz="1100" dirty="0"/>
          </a:p>
        </p:txBody>
      </p:sp>
      <p:sp>
        <p:nvSpPr>
          <p:cNvPr id="23" name="Text 20"/>
          <p:cNvSpPr txBox="1"/>
          <p:nvPr/>
        </p:nvSpPr>
        <p:spPr>
          <a:xfrm>
            <a:off x="8961120" y="3410712"/>
            <a:ext cx="2679192"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Gerekçeli birim önerisi</a:t>
            </a:r>
            <a:endParaRPr lang="en-US" sz="1300" dirty="0"/>
          </a:p>
        </p:txBody>
      </p:sp>
      <p:sp>
        <p:nvSpPr>
          <p:cNvPr id="24" name="Text 21"/>
          <p:cNvSpPr txBox="1"/>
          <p:nvPr/>
        </p:nvSpPr>
        <p:spPr>
          <a:xfrm>
            <a:off x="8961120" y="3739896"/>
            <a:ext cx="2679192" cy="65836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Her öneri, hangi görev alanıyla eşleştiğini açıklayan gerekçeyle gelir.</a:t>
            </a:r>
            <a:endParaRPr lang="en-US" sz="1100" dirty="0"/>
          </a:p>
        </p:txBody>
      </p:sp>
      <p:sp>
        <p:nvSpPr>
          <p:cNvPr id="25" name="Shape 22"/>
          <p:cNvSpPr/>
          <p:nvPr/>
        </p:nvSpPr>
        <p:spPr>
          <a:xfrm>
            <a:off x="8503920" y="4480560"/>
            <a:ext cx="329184" cy="329184"/>
          </a:xfrm>
          <a:prstGeom prst="ellipse">
            <a:avLst/>
          </a:prstGeom>
          <a:solidFill>
            <a:srgbClr val="E9474E"/>
          </a:solidFill>
          <a:ln w="12700">
            <a:solidFill>
              <a:srgbClr val="E9474E"/>
            </a:solidFill>
            <a:prstDash val="solid"/>
          </a:ln>
        </p:spPr>
      </p:sp>
      <p:sp>
        <p:nvSpPr>
          <p:cNvPr id="26" name="Text 23"/>
          <p:cNvSpPr txBox="1"/>
          <p:nvPr/>
        </p:nvSpPr>
        <p:spPr>
          <a:xfrm>
            <a:off x="8503920" y="44805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4</a:t>
            </a:r>
            <a:endParaRPr lang="en-US" sz="1100" dirty="0"/>
          </a:p>
        </p:txBody>
      </p:sp>
      <p:sp>
        <p:nvSpPr>
          <p:cNvPr id="27" name="Text 24"/>
          <p:cNvSpPr txBox="1"/>
          <p:nvPr/>
        </p:nvSpPr>
        <p:spPr>
          <a:xfrm>
            <a:off x="8961120" y="4462272"/>
            <a:ext cx="2679192" cy="292608"/>
          </a:xfrm>
          <a:prstGeom prst="rect">
            <a:avLst/>
          </a:prstGeom>
          <a:noFill/>
          <a:ln/>
        </p:spPr>
        <p:txBody>
          <a:bodyPr wrap="square" lIns="0" tIns="0" rIns="0" bIns="0" rtlCol="0" anchor="ctr"/>
          <a:lstStyle/>
          <a:p>
            <a:pPr indent="0" marL="0">
              <a:buNone/>
            </a:pPr>
            <a:r>
              <a:rPr lang="en-US" sz="1300" b="1" dirty="0">
                <a:solidFill>
                  <a:srgbClr val="172144"/>
                </a:solidFill>
                <a:latin typeface="Segoe UI Semibold" pitchFamily="34" charset="0"/>
                <a:ea typeface="Segoe UI Semibold" pitchFamily="34" charset="-122"/>
                <a:cs typeface="Segoe UI Semibold" pitchFamily="34" charset="-120"/>
              </a:rPr>
              <a:t>Karar Başkanlığında</a:t>
            </a:r>
            <a:endParaRPr lang="en-US" sz="1300" dirty="0"/>
          </a:p>
        </p:txBody>
      </p:sp>
      <p:sp>
        <p:nvSpPr>
          <p:cNvPr id="28" name="Text 25"/>
          <p:cNvSpPr txBox="1"/>
          <p:nvPr/>
        </p:nvSpPr>
        <p:spPr>
          <a:xfrm>
            <a:off x="8961120" y="4791456"/>
            <a:ext cx="2679192" cy="658368"/>
          </a:xfrm>
          <a:prstGeom prst="rect">
            <a:avLst/>
          </a:prstGeom>
          <a:noFill/>
          <a:ln/>
        </p:spPr>
        <p:txBody>
          <a:bodyPr wrap="square" lIns="0" tIns="0" rIns="0" bIns="0" rtlCol="0" anchor="t"/>
          <a:lstStyle/>
          <a:p>
            <a:pPr indent="0" marL="0">
              <a:buNone/>
            </a:pPr>
            <a:r>
              <a:rPr lang="en-US" sz="1100" dirty="0">
                <a:solidFill>
                  <a:srgbClr val="6B7280"/>
                </a:solidFill>
                <a:latin typeface="Segoe UI" pitchFamily="34" charset="0"/>
                <a:ea typeface="Segoe UI" pitchFamily="34" charset="-122"/>
                <a:cs typeface="Segoe UI" pitchFamily="34" charset="-120"/>
              </a:rPr>
              <a:t>Onayla, reddet veya birimi değiştir; her işlem kayıt altına alınır.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Portal — Karar Kaydı ve Denetim İzi (Demo)</a:t>
            </a:r>
            <a:endParaRPr lang="en-US" sz="2200" dirty="0"/>
          </a:p>
        </p:txBody>
      </p:sp>
      <p:sp>
        <p:nvSpPr>
          <p:cNvPr id="3" name="Shape 1"/>
          <p:cNvSpPr/>
          <p:nvPr/>
        </p:nvSpPr>
        <p:spPr>
          <a:xfrm>
            <a:off x="777240" y="1280160"/>
            <a:ext cx="3240820" cy="3749040"/>
          </a:xfrm>
          <a:prstGeom prst="roundRect">
            <a:avLst>
              <a:gd name="adj" fmla="val 5079"/>
            </a:avLst>
          </a:prstGeom>
          <a:solidFill>
            <a:srgbClr val="FFFFFF"/>
          </a:solidFill>
          <a:ln w="12700">
            <a:solidFill>
              <a:srgbClr val="E1E5F0"/>
            </a:solidFill>
            <a:prstDash val="solid"/>
          </a:ln>
          <a:effectLst>
            <a:outerShdw sx="100000" sy="100000" kx="0" ky="0" algn="bl" rotWithShape="0" blurRad="101600" dist="25400" dir="5400000">
              <a:srgbClr val="000000">
                <a:alpha val="12000"/>
              </a:srgbClr>
            </a:outerShdw>
          </a:effectLst>
        </p:spPr>
      </p:sp>
      <p:pic>
        <p:nvPicPr>
          <p:cNvPr id="4" name="Image 0" descr="s11_modal.png">    </p:cNvPr>
          <p:cNvPicPr>
            <a:picLocks noChangeAspect="1"/>
          </p:cNvPicPr>
          <p:nvPr/>
        </p:nvPicPr>
        <p:blipFill>
          <a:blip r:embed="rId1"/>
          <a:stretch>
            <a:fillRect/>
          </a:stretch>
        </p:blipFill>
        <p:spPr>
          <a:xfrm>
            <a:off x="777240" y="1280160"/>
            <a:ext cx="3240820" cy="3749040"/>
          </a:xfrm>
          <a:prstGeom prst="rect">
            <a:avLst/>
          </a:prstGeom>
        </p:spPr>
      </p:pic>
      <p:sp>
        <p:nvSpPr>
          <p:cNvPr id="5" name="Shape 2"/>
          <p:cNvSpPr/>
          <p:nvPr/>
        </p:nvSpPr>
        <p:spPr>
          <a:xfrm>
            <a:off x="777240" y="5193792"/>
            <a:ext cx="292608" cy="292608"/>
          </a:xfrm>
          <a:prstGeom prst="ellipse">
            <a:avLst/>
          </a:prstGeom>
          <a:solidFill>
            <a:srgbClr val="172144"/>
          </a:solidFill>
          <a:ln w="12700">
            <a:solidFill>
              <a:srgbClr val="172144"/>
            </a:solidFill>
            <a:prstDash val="solid"/>
          </a:ln>
        </p:spPr>
      </p:sp>
      <p:sp>
        <p:nvSpPr>
          <p:cNvPr id="6" name="Text 3"/>
          <p:cNvSpPr txBox="1"/>
          <p:nvPr/>
        </p:nvSpPr>
        <p:spPr>
          <a:xfrm>
            <a:off x="777240" y="5193792"/>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1</a:t>
            </a:r>
            <a:endParaRPr lang="en-US" sz="1050" dirty="0"/>
          </a:p>
        </p:txBody>
      </p:sp>
      <p:sp>
        <p:nvSpPr>
          <p:cNvPr id="7" name="Text 4"/>
          <p:cNvSpPr txBox="1"/>
          <p:nvPr/>
        </p:nvSpPr>
        <p:spPr>
          <a:xfrm>
            <a:off x="1161288" y="5175504"/>
            <a:ext cx="3291840" cy="329184"/>
          </a:xfrm>
          <a:prstGeom prst="rect">
            <a:avLst/>
          </a:prstGeom>
          <a:noFill/>
          <a:ln/>
        </p:spPr>
        <p:txBody>
          <a:bodyPr wrap="square" lIns="0" tIns="0" rIns="0" bIns="0" rtlCol="0" anchor="ctr"/>
          <a:lstStyle/>
          <a:p>
            <a:pPr indent="0" marL="0">
              <a:buNone/>
            </a:pPr>
            <a:r>
              <a:rPr lang="en-US" sz="1050" dirty="0">
                <a:solidFill>
                  <a:srgbClr val="1F2937"/>
                </a:solidFill>
                <a:latin typeface="Segoe UI" pitchFamily="34" charset="0"/>
                <a:ea typeface="Segoe UI" pitchFamily="34" charset="-122"/>
                <a:cs typeface="Segoe UI" pitchFamily="34" charset="-120"/>
              </a:rPr>
              <a:t>Birimi değiştir: bir veya birden fazla birim seçilebilir</a:t>
            </a:r>
            <a:endParaRPr lang="en-US" sz="1050" dirty="0"/>
          </a:p>
        </p:txBody>
      </p:sp>
      <p:sp>
        <p:nvSpPr>
          <p:cNvPr id="8" name="Shape 5"/>
          <p:cNvSpPr/>
          <p:nvPr/>
        </p:nvSpPr>
        <p:spPr>
          <a:xfrm>
            <a:off x="4297680" y="3154680"/>
            <a:ext cx="594360" cy="0"/>
          </a:xfrm>
          <a:prstGeom prst="line">
            <a:avLst/>
          </a:prstGeom>
          <a:noFill/>
          <a:ln w="25400">
            <a:solidFill>
              <a:srgbClr val="9AA3C0"/>
            </a:solidFill>
            <a:prstDash val="solid"/>
            <a:tailEnd type="triangle"/>
          </a:ln>
        </p:spPr>
      </p:sp>
      <p:sp>
        <p:nvSpPr>
          <p:cNvPr id="9" name="Shape 6"/>
          <p:cNvSpPr/>
          <p:nvPr/>
        </p:nvSpPr>
        <p:spPr>
          <a:xfrm>
            <a:off x="5047488" y="1682496"/>
            <a:ext cx="6647688" cy="3030238"/>
          </a:xfrm>
          <a:prstGeom prst="roundRect">
            <a:avLst>
              <a:gd name="adj" fmla="val 3018"/>
            </a:avLst>
          </a:prstGeom>
          <a:solidFill>
            <a:srgbClr val="FFFFFF"/>
          </a:solidFill>
          <a:ln w="12700">
            <a:solidFill>
              <a:srgbClr val="E1E5F0"/>
            </a:solidFill>
            <a:prstDash val="solid"/>
          </a:ln>
          <a:effectLst>
            <a:outerShdw sx="100000" sy="100000" kx="0" ky="0" algn="bl" rotWithShape="0" blurRad="101600" dist="25400" dir="5400000">
              <a:srgbClr val="000000">
                <a:alpha val="12000"/>
              </a:srgbClr>
            </a:outerShdw>
          </a:effectLst>
        </p:spPr>
      </p:sp>
      <p:pic>
        <p:nvPicPr>
          <p:cNvPr id="10" name="Image 1" descr="s11_audit.png">    </p:cNvPr>
          <p:cNvPicPr>
            <a:picLocks noChangeAspect="1"/>
          </p:cNvPicPr>
          <p:nvPr/>
        </p:nvPicPr>
        <p:blipFill>
          <a:blip r:embed="rId2"/>
          <a:stretch>
            <a:fillRect/>
          </a:stretch>
        </p:blipFill>
        <p:spPr>
          <a:xfrm>
            <a:off x="5102352" y="1737360"/>
            <a:ext cx="6537960" cy="2920510"/>
          </a:xfrm>
          <a:prstGeom prst="rect">
            <a:avLst/>
          </a:prstGeom>
        </p:spPr>
      </p:pic>
      <p:sp>
        <p:nvSpPr>
          <p:cNvPr id="11" name="Shape 7"/>
          <p:cNvSpPr/>
          <p:nvPr/>
        </p:nvSpPr>
        <p:spPr>
          <a:xfrm>
            <a:off x="5102352" y="4840750"/>
            <a:ext cx="292608" cy="292608"/>
          </a:xfrm>
          <a:prstGeom prst="ellipse">
            <a:avLst/>
          </a:prstGeom>
          <a:solidFill>
            <a:srgbClr val="172144"/>
          </a:solidFill>
          <a:ln w="12700">
            <a:solidFill>
              <a:srgbClr val="172144"/>
            </a:solidFill>
            <a:prstDash val="solid"/>
          </a:ln>
        </p:spPr>
      </p:sp>
      <p:sp>
        <p:nvSpPr>
          <p:cNvPr id="12" name="Text 8"/>
          <p:cNvSpPr txBox="1"/>
          <p:nvPr/>
        </p:nvSpPr>
        <p:spPr>
          <a:xfrm>
            <a:off x="5102352" y="484075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Semibold" pitchFamily="34" charset="0"/>
                <a:ea typeface="Segoe UI Semibold" pitchFamily="34" charset="-122"/>
                <a:cs typeface="Segoe UI Semibold" pitchFamily="34" charset="-120"/>
              </a:rPr>
              <a:t>2</a:t>
            </a:r>
            <a:endParaRPr lang="en-US" sz="1050" dirty="0"/>
          </a:p>
        </p:txBody>
      </p:sp>
      <p:sp>
        <p:nvSpPr>
          <p:cNvPr id="13" name="Text 9"/>
          <p:cNvSpPr txBox="1"/>
          <p:nvPr/>
        </p:nvSpPr>
        <p:spPr>
          <a:xfrm>
            <a:off x="5486400" y="4822462"/>
            <a:ext cx="5943600" cy="329184"/>
          </a:xfrm>
          <a:prstGeom prst="rect">
            <a:avLst/>
          </a:prstGeom>
          <a:noFill/>
          <a:ln/>
        </p:spPr>
        <p:txBody>
          <a:bodyPr wrap="square" lIns="0" tIns="0" rIns="0" bIns="0" rtlCol="0" anchor="ctr"/>
          <a:lstStyle/>
          <a:p>
            <a:pPr indent="0" marL="0">
              <a:buNone/>
            </a:pPr>
            <a:r>
              <a:rPr lang="en-US" sz="1050" dirty="0">
                <a:solidFill>
                  <a:srgbClr val="1F2937"/>
                </a:solidFill>
                <a:latin typeface="Segoe UI" pitchFamily="34" charset="0"/>
                <a:ea typeface="Segoe UI" pitchFamily="34" charset="-122"/>
                <a:cs typeface="Segoe UI" pitchFamily="34" charset="-120"/>
              </a:rPr>
              <a:t>Denetim izi: kim, ne zaman, hangi kararı verdi</a:t>
            </a:r>
            <a:endParaRPr lang="en-US" sz="1050" dirty="0"/>
          </a:p>
        </p:txBody>
      </p:sp>
      <p:sp>
        <p:nvSpPr>
          <p:cNvPr id="14" name="Shape 10"/>
          <p:cNvSpPr/>
          <p:nvPr/>
        </p:nvSpPr>
        <p:spPr>
          <a:xfrm>
            <a:off x="548640" y="5669280"/>
            <a:ext cx="11091672" cy="566928"/>
          </a:xfrm>
          <a:prstGeom prst="roundRect">
            <a:avLst>
              <a:gd name="adj" fmla="val 12903"/>
            </a:avLst>
          </a:prstGeom>
          <a:solidFill>
            <a:srgbClr val="FFF7E6"/>
          </a:solidFill>
          <a:ln w="12700">
            <a:solidFill>
              <a:srgbClr val="FFF7E6"/>
            </a:solidFill>
            <a:prstDash val="solid"/>
          </a:ln>
        </p:spPr>
      </p:sp>
      <p:pic>
        <p:nvPicPr>
          <p:cNvPr id="15" name="Image 2" descr="icons/alert_amber.png">    </p:cNvPr>
          <p:cNvPicPr>
            <a:picLocks noChangeAspect="1"/>
          </p:cNvPicPr>
          <p:nvPr/>
        </p:nvPicPr>
        <p:blipFill>
          <a:blip r:embed="rId3"/>
          <a:stretch>
            <a:fillRect/>
          </a:stretch>
        </p:blipFill>
        <p:spPr>
          <a:xfrm>
            <a:off x="749808" y="5797296"/>
            <a:ext cx="292608" cy="292608"/>
          </a:xfrm>
          <a:prstGeom prst="rect">
            <a:avLst/>
          </a:prstGeom>
        </p:spPr>
      </p:pic>
      <p:sp>
        <p:nvSpPr>
          <p:cNvPr id="16" name="Text 11"/>
          <p:cNvSpPr txBox="1"/>
          <p:nvPr/>
        </p:nvSpPr>
        <p:spPr>
          <a:xfrm>
            <a:off x="1188720" y="5669280"/>
            <a:ext cx="10332720" cy="566928"/>
          </a:xfrm>
          <a:prstGeom prst="rect">
            <a:avLst/>
          </a:prstGeom>
          <a:noFill/>
          <a:ln/>
        </p:spPr>
        <p:txBody>
          <a:bodyPr wrap="square" lIns="0" tIns="0" rIns="0" bIns="0" rtlCol="0" anchor="ctr"/>
          <a:lstStyle/>
          <a:p>
            <a:pPr indent="0" marL="0">
              <a:buNone/>
            </a:pPr>
            <a:r>
              <a:rPr lang="en-US" sz="1150" b="1" dirty="0">
                <a:solidFill>
                  <a:srgbClr val="92400E"/>
                </a:solidFill>
                <a:latin typeface="Segoe UI Semibold" pitchFamily="34" charset="0"/>
                <a:ea typeface="Segoe UI Semibold" pitchFamily="34" charset="-122"/>
                <a:cs typeface="Segoe UI Semibold" pitchFamily="34" charset="-120"/>
              </a:rPr>
              <a:t>Faz notu: </a:t>
            </a:r>
            <a:pPr indent="0" marL="0">
              <a:buNone/>
            </a:pPr>
            <a:r>
              <a:rPr lang="en-US" sz="1150" dirty="0">
                <a:solidFill>
                  <a:srgbClr val="92400E"/>
                </a:solidFill>
                <a:latin typeface="Segoe UI" pitchFamily="34" charset="0"/>
                <a:ea typeface="Segoe UI" pitchFamily="34" charset="-122"/>
                <a:cs typeface="Segoe UI" pitchFamily="34" charset="-120"/>
              </a:rPr>
              <a:t>Faz 1'de onay ve düzeltmeler kayıt altına alınır. Onay sonrası ilgili birime otomatik yönlendirme Faz 2 kapsamındadır.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Sürdürülebilirlik: Kaynak Sağlığı İzleme</a:t>
            </a:r>
            <a:endParaRPr lang="en-US" sz="2200" dirty="0"/>
          </a:p>
        </p:txBody>
      </p:sp>
      <p:sp>
        <p:nvSpPr>
          <p:cNvPr id="3" name="Shape 1"/>
          <p:cNvSpPr/>
          <p:nvPr/>
        </p:nvSpPr>
        <p:spPr>
          <a:xfrm>
            <a:off x="548640" y="1280160"/>
            <a:ext cx="4892040" cy="1371600"/>
          </a:xfrm>
          <a:prstGeom prst="roundRect">
            <a:avLst>
              <a:gd name="adj" fmla="val 6667"/>
            </a:avLst>
          </a:prstGeom>
          <a:solidFill>
            <a:srgbClr val="FDECEC"/>
          </a:solidFill>
          <a:ln w="12700">
            <a:solidFill>
              <a:srgbClr val="FDECEC"/>
            </a:solidFill>
            <a:prstDash val="solid"/>
          </a:ln>
        </p:spPr>
      </p:sp>
      <p:pic>
        <p:nvPicPr>
          <p:cNvPr id="4" name="Image 0" descr="icons/alert_red.png">    </p:cNvPr>
          <p:cNvPicPr>
            <a:picLocks noChangeAspect="1"/>
          </p:cNvPicPr>
          <p:nvPr/>
        </p:nvPicPr>
        <p:blipFill>
          <a:blip r:embed="rId1"/>
          <a:stretch>
            <a:fillRect/>
          </a:stretch>
        </p:blipFill>
        <p:spPr>
          <a:xfrm>
            <a:off x="749808" y="1463040"/>
            <a:ext cx="310896" cy="310896"/>
          </a:xfrm>
          <a:prstGeom prst="rect">
            <a:avLst/>
          </a:prstGeom>
        </p:spPr>
      </p:pic>
      <p:sp>
        <p:nvSpPr>
          <p:cNvPr id="5" name="Text 2"/>
          <p:cNvSpPr txBox="1"/>
          <p:nvPr/>
        </p:nvSpPr>
        <p:spPr>
          <a:xfrm>
            <a:off x="1188720" y="1417320"/>
            <a:ext cx="4114800" cy="310896"/>
          </a:xfrm>
          <a:prstGeom prst="rect">
            <a:avLst/>
          </a:prstGeom>
          <a:noFill/>
          <a:ln/>
        </p:spPr>
        <p:txBody>
          <a:bodyPr wrap="square" lIns="0" tIns="0" rIns="0" bIns="0" rtlCol="0" anchor="ctr"/>
          <a:lstStyle/>
          <a:p>
            <a:pPr indent="0" marL="0">
              <a:buNone/>
            </a:pPr>
            <a:r>
              <a:rPr lang="en-US" sz="1300" b="1" dirty="0">
                <a:solidFill>
                  <a:srgbClr val="B91C1C"/>
                </a:solidFill>
                <a:latin typeface="Segoe UI Semibold" pitchFamily="34" charset="0"/>
                <a:ea typeface="Segoe UI Semibold" pitchFamily="34" charset="-122"/>
                <a:cs typeface="Segoe UI Semibold" pitchFamily="34" charset="-120"/>
              </a:rPr>
              <a:t>En riskli durum: sessiz bozulma</a:t>
            </a:r>
            <a:endParaRPr lang="en-US" sz="1300" dirty="0"/>
          </a:p>
        </p:txBody>
      </p:sp>
      <p:sp>
        <p:nvSpPr>
          <p:cNvPr id="6" name="Text 3"/>
          <p:cNvSpPr txBox="1"/>
          <p:nvPr/>
        </p:nvSpPr>
        <p:spPr>
          <a:xfrm>
            <a:off x="1188720" y="1783080"/>
            <a:ext cx="4114800" cy="822960"/>
          </a:xfrm>
          <a:prstGeom prst="rect">
            <a:avLst/>
          </a:prstGeom>
          <a:noFill/>
          <a:ln/>
        </p:spPr>
        <p:txBody>
          <a:bodyPr wrap="square" lIns="0" tIns="0" rIns="0" bIns="0" rtlCol="0" anchor="t"/>
          <a:lstStyle/>
          <a:p>
            <a:pPr indent="0" marL="0">
              <a:buNone/>
            </a:pPr>
            <a:r>
              <a:rPr lang="en-US" sz="1050" dirty="0">
                <a:solidFill>
                  <a:srgbClr val="1F2937"/>
                </a:solidFill>
                <a:latin typeface="Segoe UI" pitchFamily="34" charset="0"/>
                <a:ea typeface="Segoe UI" pitchFamily="34" charset="-122"/>
                <a:cs typeface="Segoe UI" pitchFamily="34" charset="-120"/>
              </a:rPr>
              <a:t>Kurum sitelerinin yapısı değiştiğinde veri toplama hata vermeden durabilir ve sistem "bugün yayın yok" der. Sakin bir gün ile bozulmuş bir tarayıcı ekranda aynı görünür.</a:t>
            </a:r>
            <a:endParaRPr lang="en-US" sz="1050" dirty="0"/>
          </a:p>
        </p:txBody>
      </p:sp>
      <p:sp>
        <p:nvSpPr>
          <p:cNvPr id="7" name="Shape 4"/>
          <p:cNvSpPr/>
          <p:nvPr/>
        </p:nvSpPr>
        <p:spPr>
          <a:xfrm>
            <a:off x="548640" y="2880360"/>
            <a:ext cx="457200" cy="457200"/>
          </a:xfrm>
          <a:prstGeom prst="ellipse">
            <a:avLst/>
          </a:prstGeom>
          <a:solidFill>
            <a:srgbClr val="EEF0FB"/>
          </a:solidFill>
          <a:ln w="12700">
            <a:solidFill>
              <a:srgbClr val="EEF0FB"/>
            </a:solidFill>
            <a:prstDash val="solid"/>
          </a:ln>
        </p:spPr>
      </p:sp>
      <p:pic>
        <p:nvPicPr>
          <p:cNvPr id="8" name="Image 1" descr="icons/activity_blue.png">    </p:cNvPr>
          <p:cNvPicPr>
            <a:picLocks noChangeAspect="1"/>
          </p:cNvPicPr>
          <p:nvPr/>
        </p:nvPicPr>
        <p:blipFill>
          <a:blip r:embed="rId2"/>
          <a:stretch>
            <a:fillRect/>
          </a:stretch>
        </p:blipFill>
        <p:spPr>
          <a:xfrm>
            <a:off x="658368" y="2990088"/>
            <a:ext cx="237744" cy="237744"/>
          </a:xfrm>
          <a:prstGeom prst="rect">
            <a:avLst/>
          </a:prstGeom>
        </p:spPr>
      </p:pic>
      <p:sp>
        <p:nvSpPr>
          <p:cNvPr id="9" name="Text 5"/>
          <p:cNvSpPr txBox="1"/>
          <p:nvPr/>
        </p:nvSpPr>
        <p:spPr>
          <a:xfrm>
            <a:off x="1143000" y="2862072"/>
            <a:ext cx="4297680" cy="274320"/>
          </a:xfrm>
          <a:prstGeom prst="rect">
            <a:avLst/>
          </a:prstGeom>
          <a:noFill/>
          <a:ln/>
        </p:spPr>
        <p:txBody>
          <a:bodyPr wrap="square" lIns="0" tIns="0" rIns="0" bIns="0" rtlCol="0" anchor="ctr"/>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Beklenen yayın davranışı izlenir</a:t>
            </a:r>
            <a:endParaRPr lang="en-US" sz="1200" dirty="0"/>
          </a:p>
        </p:txBody>
      </p:sp>
      <p:sp>
        <p:nvSpPr>
          <p:cNvPr id="10" name="Text 6"/>
          <p:cNvSpPr txBox="1"/>
          <p:nvPr/>
        </p:nvSpPr>
        <p:spPr>
          <a:xfrm>
            <a:off x="1143000" y="3154680"/>
            <a:ext cx="4297680" cy="475488"/>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Kaynak normal sessizlik süresini aşarsa veya hacim beklenenin dışına düşerse alarm üretilir.</a:t>
            </a:r>
            <a:endParaRPr lang="en-US" sz="1050" dirty="0"/>
          </a:p>
        </p:txBody>
      </p:sp>
      <p:sp>
        <p:nvSpPr>
          <p:cNvPr id="11" name="Shape 7"/>
          <p:cNvSpPr/>
          <p:nvPr/>
        </p:nvSpPr>
        <p:spPr>
          <a:xfrm>
            <a:off x="548640" y="3703320"/>
            <a:ext cx="457200" cy="457200"/>
          </a:xfrm>
          <a:prstGeom prst="ellipse">
            <a:avLst/>
          </a:prstGeom>
          <a:solidFill>
            <a:srgbClr val="EEF0FB"/>
          </a:solidFill>
          <a:ln w="12700">
            <a:solidFill>
              <a:srgbClr val="EEF0FB"/>
            </a:solidFill>
            <a:prstDash val="solid"/>
          </a:ln>
        </p:spPr>
      </p:sp>
      <p:pic>
        <p:nvPicPr>
          <p:cNvPr id="12" name="Image 2" descr="icons/scan_blue.png">    </p:cNvPr>
          <p:cNvPicPr>
            <a:picLocks noChangeAspect="1"/>
          </p:cNvPicPr>
          <p:nvPr/>
        </p:nvPicPr>
        <p:blipFill>
          <a:blip r:embed="rId3"/>
          <a:stretch>
            <a:fillRect/>
          </a:stretch>
        </p:blipFill>
        <p:spPr>
          <a:xfrm>
            <a:off x="658368" y="3813048"/>
            <a:ext cx="237744" cy="237744"/>
          </a:xfrm>
          <a:prstGeom prst="rect">
            <a:avLst/>
          </a:prstGeom>
        </p:spPr>
      </p:pic>
      <p:sp>
        <p:nvSpPr>
          <p:cNvPr id="13" name="Text 8"/>
          <p:cNvSpPr txBox="1"/>
          <p:nvPr/>
        </p:nvSpPr>
        <p:spPr>
          <a:xfrm>
            <a:off x="1143000" y="3685032"/>
            <a:ext cx="4297680" cy="274320"/>
          </a:xfrm>
          <a:prstGeom prst="rect">
            <a:avLst/>
          </a:prstGeom>
          <a:noFill/>
          <a:ln/>
        </p:spPr>
        <p:txBody>
          <a:bodyPr wrap="square" lIns="0" tIns="0" rIns="0" bIns="0" rtlCol="0" anchor="ctr"/>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Erken uyarı ve çapraz kontrol</a:t>
            </a:r>
            <a:endParaRPr lang="en-US" sz="1200" dirty="0"/>
          </a:p>
        </p:txBody>
      </p:sp>
      <p:sp>
        <p:nvSpPr>
          <p:cNvPr id="14" name="Text 9"/>
          <p:cNvSpPr txBox="1"/>
          <p:nvPr/>
        </p:nvSpPr>
        <p:spPr>
          <a:xfrm>
            <a:off x="1143000" y="3977640"/>
            <a:ext cx="4297680" cy="475488"/>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Sayfa yapısı değişikliği belirtisi tespit edilir; kaynaklar birbirine karşı kontrol edilir.</a:t>
            </a:r>
            <a:endParaRPr lang="en-US" sz="1050" dirty="0"/>
          </a:p>
        </p:txBody>
      </p:sp>
      <p:sp>
        <p:nvSpPr>
          <p:cNvPr id="15" name="Shape 10"/>
          <p:cNvSpPr/>
          <p:nvPr/>
        </p:nvSpPr>
        <p:spPr>
          <a:xfrm>
            <a:off x="548640" y="4526280"/>
            <a:ext cx="457200" cy="457200"/>
          </a:xfrm>
          <a:prstGeom prst="ellipse">
            <a:avLst/>
          </a:prstGeom>
          <a:solidFill>
            <a:srgbClr val="EEF0FB"/>
          </a:solidFill>
          <a:ln w="12700">
            <a:solidFill>
              <a:srgbClr val="EEF0FB"/>
            </a:solidFill>
            <a:prstDash val="solid"/>
          </a:ln>
        </p:spPr>
      </p:sp>
      <p:pic>
        <p:nvPicPr>
          <p:cNvPr id="16" name="Image 3" descr="icons/history_blue.png">    </p:cNvPr>
          <p:cNvPicPr>
            <a:picLocks noChangeAspect="1"/>
          </p:cNvPicPr>
          <p:nvPr/>
        </p:nvPicPr>
        <p:blipFill>
          <a:blip r:embed="rId4"/>
          <a:stretch>
            <a:fillRect/>
          </a:stretch>
        </p:blipFill>
        <p:spPr>
          <a:xfrm>
            <a:off x="658368" y="4636008"/>
            <a:ext cx="237744" cy="237744"/>
          </a:xfrm>
          <a:prstGeom prst="rect">
            <a:avLst/>
          </a:prstGeom>
        </p:spPr>
      </p:pic>
      <p:sp>
        <p:nvSpPr>
          <p:cNvPr id="17" name="Text 11"/>
          <p:cNvSpPr txBox="1"/>
          <p:nvPr/>
        </p:nvSpPr>
        <p:spPr>
          <a:xfrm>
            <a:off x="1143000" y="4507992"/>
            <a:ext cx="4297680" cy="274320"/>
          </a:xfrm>
          <a:prstGeom prst="rect">
            <a:avLst/>
          </a:prstGeom>
          <a:noFill/>
          <a:ln/>
        </p:spPr>
        <p:txBody>
          <a:bodyPr wrap="square" lIns="0" tIns="0" rIns="0" bIns="0" rtlCol="0" anchor="ctr"/>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Veri kaybı olmaz</a:t>
            </a:r>
            <a:endParaRPr lang="en-US" sz="1200" dirty="0"/>
          </a:p>
        </p:txBody>
      </p:sp>
      <p:sp>
        <p:nvSpPr>
          <p:cNvPr id="18" name="Text 12"/>
          <p:cNvSpPr txBox="1"/>
          <p:nvPr/>
        </p:nvSpPr>
        <p:spPr>
          <a:xfrm>
            <a:off x="1143000" y="4800600"/>
            <a:ext cx="4297680" cy="475488"/>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Ham içerik arşivlenir; aksaklık giderildiğinde ilgili dönem geriye dönük yeniden işlenir.</a:t>
            </a:r>
            <a:endParaRPr lang="en-US" sz="1050" dirty="0"/>
          </a:p>
        </p:txBody>
      </p:sp>
      <p:sp>
        <p:nvSpPr>
          <p:cNvPr id="19" name="Shape 13"/>
          <p:cNvSpPr/>
          <p:nvPr/>
        </p:nvSpPr>
        <p:spPr>
          <a:xfrm>
            <a:off x="5733288" y="1225296"/>
            <a:ext cx="5961888" cy="2019808"/>
          </a:xfrm>
          <a:prstGeom prst="roundRect">
            <a:avLst>
              <a:gd name="adj" fmla="val 4527"/>
            </a:avLst>
          </a:prstGeom>
          <a:solidFill>
            <a:srgbClr val="FFFFFF"/>
          </a:solidFill>
          <a:ln w="12700">
            <a:solidFill>
              <a:srgbClr val="E1E5F0"/>
            </a:solidFill>
            <a:prstDash val="solid"/>
          </a:ln>
          <a:effectLst>
            <a:outerShdw sx="100000" sy="100000" kx="0" ky="0" algn="bl" rotWithShape="0" blurRad="101600" dist="25400" dir="5400000">
              <a:srgbClr val="000000">
                <a:alpha val="12000"/>
              </a:srgbClr>
            </a:outerShdw>
          </a:effectLst>
        </p:spPr>
      </p:sp>
      <p:pic>
        <p:nvPicPr>
          <p:cNvPr id="20" name="Image 4" descr="s12_down.png">    </p:cNvPr>
          <p:cNvPicPr>
            <a:picLocks noChangeAspect="1"/>
          </p:cNvPicPr>
          <p:nvPr/>
        </p:nvPicPr>
        <p:blipFill>
          <a:blip r:embed="rId5"/>
          <a:stretch>
            <a:fillRect/>
          </a:stretch>
        </p:blipFill>
        <p:spPr>
          <a:xfrm>
            <a:off x="5788152" y="1280160"/>
            <a:ext cx="5852160" cy="1910080"/>
          </a:xfrm>
          <a:prstGeom prst="rect">
            <a:avLst/>
          </a:prstGeom>
        </p:spPr>
      </p:pic>
      <p:sp>
        <p:nvSpPr>
          <p:cNvPr id="21" name="Text 14"/>
          <p:cNvSpPr txBox="1"/>
          <p:nvPr/>
        </p:nvSpPr>
        <p:spPr>
          <a:xfrm>
            <a:off x="5733288" y="3299968"/>
            <a:ext cx="5943600" cy="274320"/>
          </a:xfrm>
          <a:prstGeom prst="rect">
            <a:avLst/>
          </a:prstGeom>
          <a:noFill/>
          <a:ln/>
        </p:spPr>
        <p:txBody>
          <a:bodyPr wrap="square" lIns="0" tIns="0" rIns="0" bIns="0" rtlCol="0" anchor="t"/>
          <a:lstStyle/>
          <a:p>
            <a:pPr indent="0" marL="0">
              <a:buNone/>
            </a:pPr>
            <a:r>
              <a:rPr lang="en-US" sz="950" i="1" dirty="0">
                <a:solidFill>
                  <a:srgbClr val="6B7280"/>
                </a:solidFill>
                <a:latin typeface="Segoe UI" pitchFamily="34" charset="0"/>
                <a:ea typeface="Segoe UI" pitchFamily="34" charset="-122"/>
                <a:cs typeface="Segoe UI" pitchFamily="34" charset="-120"/>
              </a:rPr>
              <a:t>Arıza durumu: üst çubukta uyarı, kartların altında uyarı şeridi ve kaynak bazlı durum paneli (demo)</a:t>
            </a:r>
            <a:endParaRPr lang="en-US" sz="950" dirty="0"/>
          </a:p>
        </p:txBody>
      </p:sp>
      <p:sp>
        <p:nvSpPr>
          <p:cNvPr id="22" name="Text 15"/>
          <p:cNvSpPr txBox="1"/>
          <p:nvPr/>
        </p:nvSpPr>
        <p:spPr>
          <a:xfrm>
            <a:off x="5788152" y="3703320"/>
            <a:ext cx="5852160" cy="274320"/>
          </a:xfrm>
          <a:prstGeom prst="rect">
            <a:avLst/>
          </a:prstGeom>
          <a:noFill/>
          <a:ln/>
        </p:spPr>
        <p:txBody>
          <a:bodyPr wrap="square" lIns="0" tIns="0" rIns="0" bIns="0" rtlCol="0" anchor="t"/>
          <a:lstStyle/>
          <a:p>
            <a:pPr indent="0" marL="0">
              <a:buNone/>
            </a:pPr>
            <a:r>
              <a:rPr lang="en-US" sz="1200" b="1" dirty="0">
                <a:solidFill>
                  <a:srgbClr val="0012B0"/>
                </a:solidFill>
                <a:latin typeface="Segoe UI Semibold" pitchFamily="34" charset="0"/>
                <a:ea typeface="Segoe UI Semibold" pitchFamily="34" charset="-122"/>
                <a:cs typeface="Segoe UI Semibold" pitchFamily="34" charset="-120"/>
              </a:rPr>
              <a:t>Durum göstergesi — bilinçli olarak asimetrik</a:t>
            </a:r>
            <a:endParaRPr lang="en-US" sz="1200" dirty="0"/>
          </a:p>
        </p:txBody>
      </p:sp>
      <p:pic>
        <p:nvPicPr>
          <p:cNvPr id="23" name="Image 5" descr="s12_pill_healthy.png">    </p:cNvPr>
          <p:cNvPicPr>
            <a:picLocks noChangeAspect="1"/>
          </p:cNvPicPr>
          <p:nvPr/>
        </p:nvPicPr>
        <p:blipFill>
          <a:blip r:embed="rId6"/>
          <a:stretch>
            <a:fillRect/>
          </a:stretch>
        </p:blipFill>
        <p:spPr>
          <a:xfrm>
            <a:off x="6180992" y="4178808"/>
            <a:ext cx="1171135" cy="274320"/>
          </a:xfrm>
          <a:prstGeom prst="rect">
            <a:avLst/>
          </a:prstGeom>
        </p:spPr>
      </p:pic>
      <p:sp>
        <p:nvSpPr>
          <p:cNvPr id="24" name="Text 16"/>
          <p:cNvSpPr txBox="1"/>
          <p:nvPr/>
        </p:nvSpPr>
        <p:spPr>
          <a:xfrm>
            <a:off x="5852160" y="4617720"/>
            <a:ext cx="1828800" cy="237744"/>
          </a:xfrm>
          <a:prstGeom prst="rect">
            <a:avLst/>
          </a:prstGeom>
          <a:noFill/>
          <a:ln/>
        </p:spPr>
        <p:txBody>
          <a:bodyPr wrap="square" lIns="0" tIns="0" rIns="0" bIns="0" rtlCol="0" anchor="t"/>
          <a:lstStyle/>
          <a:p>
            <a:pPr algn="ctr" indent="0" marL="0">
              <a:buNone/>
            </a:pPr>
            <a:r>
              <a:rPr lang="en-US" sz="1100" b="1" dirty="0">
                <a:solidFill>
                  <a:srgbClr val="172144"/>
                </a:solidFill>
                <a:latin typeface="Segoe UI Semibold" pitchFamily="34" charset="0"/>
                <a:ea typeface="Segoe UI Semibold" pitchFamily="34" charset="-122"/>
                <a:cs typeface="Segoe UI Semibold" pitchFamily="34" charset="-120"/>
              </a:rPr>
              <a:t>Sağlıklı</a:t>
            </a:r>
            <a:endParaRPr lang="en-US" sz="1100" dirty="0"/>
          </a:p>
        </p:txBody>
      </p:sp>
      <p:sp>
        <p:nvSpPr>
          <p:cNvPr id="25" name="Text 17"/>
          <p:cNvSpPr txBox="1"/>
          <p:nvPr/>
        </p:nvSpPr>
        <p:spPr>
          <a:xfrm>
            <a:off x="5852160" y="4846320"/>
            <a:ext cx="1828800" cy="237744"/>
          </a:xfrm>
          <a:prstGeom prst="rect">
            <a:avLst/>
          </a:prstGeom>
          <a:noFill/>
          <a:ln/>
        </p:spPr>
        <p:txBody>
          <a:bodyPr wrap="square" lIns="0" tIns="0" rIns="0" bIns="0" rtlCol="0" anchor="t"/>
          <a:lstStyle/>
          <a:p>
            <a:pPr algn="ctr" indent="0" marL="0">
              <a:buNone/>
            </a:pPr>
            <a:r>
              <a:rPr lang="en-US" sz="1000" dirty="0">
                <a:solidFill>
                  <a:srgbClr val="6B7280"/>
                </a:solidFill>
                <a:latin typeface="Segoe UI" pitchFamily="34" charset="0"/>
                <a:ea typeface="Segoe UI" pitchFamily="34" charset="-122"/>
                <a:cs typeface="Segoe UI" pitchFamily="34" charset="-120"/>
              </a:rPr>
              <a:t>sessiz bir dipnot</a:t>
            </a:r>
            <a:endParaRPr lang="en-US" sz="1000" dirty="0"/>
          </a:p>
        </p:txBody>
      </p:sp>
      <p:pic>
        <p:nvPicPr>
          <p:cNvPr id="26" name="Image 6" descr="s12_pill_delayed.png">    </p:cNvPr>
          <p:cNvPicPr>
            <a:picLocks noChangeAspect="1"/>
          </p:cNvPicPr>
          <p:nvPr/>
        </p:nvPicPr>
        <p:blipFill>
          <a:blip r:embed="rId7"/>
          <a:stretch>
            <a:fillRect/>
          </a:stretch>
        </p:blipFill>
        <p:spPr>
          <a:xfrm>
            <a:off x="8041879" y="4133088"/>
            <a:ext cx="1381282" cy="365760"/>
          </a:xfrm>
          <a:prstGeom prst="rect">
            <a:avLst/>
          </a:prstGeom>
        </p:spPr>
      </p:pic>
      <p:sp>
        <p:nvSpPr>
          <p:cNvPr id="27" name="Text 18"/>
          <p:cNvSpPr txBox="1"/>
          <p:nvPr/>
        </p:nvSpPr>
        <p:spPr>
          <a:xfrm>
            <a:off x="7818120" y="4617720"/>
            <a:ext cx="1828800" cy="237744"/>
          </a:xfrm>
          <a:prstGeom prst="rect">
            <a:avLst/>
          </a:prstGeom>
          <a:noFill/>
          <a:ln/>
        </p:spPr>
        <p:txBody>
          <a:bodyPr wrap="square" lIns="0" tIns="0" rIns="0" bIns="0" rtlCol="0" anchor="t"/>
          <a:lstStyle/>
          <a:p>
            <a:pPr algn="ctr" indent="0" marL="0">
              <a:buNone/>
            </a:pPr>
            <a:r>
              <a:rPr lang="en-US" sz="1100" b="1" dirty="0">
                <a:solidFill>
                  <a:srgbClr val="172144"/>
                </a:solidFill>
                <a:latin typeface="Segoe UI Semibold" pitchFamily="34" charset="0"/>
                <a:ea typeface="Segoe UI Semibold" pitchFamily="34" charset="-122"/>
                <a:cs typeface="Segoe UI Semibold" pitchFamily="34" charset="-120"/>
              </a:rPr>
              <a:t>Gecikme</a:t>
            </a:r>
            <a:endParaRPr lang="en-US" sz="1100" dirty="0"/>
          </a:p>
        </p:txBody>
      </p:sp>
      <p:sp>
        <p:nvSpPr>
          <p:cNvPr id="28" name="Text 19"/>
          <p:cNvSpPr txBox="1"/>
          <p:nvPr/>
        </p:nvSpPr>
        <p:spPr>
          <a:xfrm>
            <a:off x="7818120" y="4846320"/>
            <a:ext cx="1828800" cy="237744"/>
          </a:xfrm>
          <a:prstGeom prst="rect">
            <a:avLst/>
          </a:prstGeom>
          <a:noFill/>
          <a:ln/>
        </p:spPr>
        <p:txBody>
          <a:bodyPr wrap="square" lIns="0" tIns="0" rIns="0" bIns="0" rtlCol="0" anchor="t"/>
          <a:lstStyle/>
          <a:p>
            <a:pPr algn="ctr" indent="0" marL="0">
              <a:buNone/>
            </a:pPr>
            <a:r>
              <a:rPr lang="en-US" sz="1000" dirty="0">
                <a:solidFill>
                  <a:srgbClr val="6B7280"/>
                </a:solidFill>
                <a:latin typeface="Segoe UI" pitchFamily="34" charset="0"/>
                <a:ea typeface="Segoe UI" pitchFamily="34" charset="-122"/>
                <a:cs typeface="Segoe UI" pitchFamily="34" charset="-120"/>
              </a:rPr>
              <a:t>belirgin</a:t>
            </a:r>
            <a:endParaRPr lang="en-US" sz="1000" dirty="0"/>
          </a:p>
        </p:txBody>
      </p:sp>
      <p:pic>
        <p:nvPicPr>
          <p:cNvPr id="29" name="Image 7" descr="s12_pill_down.png">    </p:cNvPr>
          <p:cNvPicPr>
            <a:picLocks noChangeAspect="1"/>
          </p:cNvPicPr>
          <p:nvPr/>
        </p:nvPicPr>
        <p:blipFill>
          <a:blip r:embed="rId8"/>
          <a:stretch>
            <a:fillRect/>
          </a:stretch>
        </p:blipFill>
        <p:spPr>
          <a:xfrm>
            <a:off x="9854869" y="4123944"/>
            <a:ext cx="1687222" cy="384048"/>
          </a:xfrm>
          <a:prstGeom prst="rect">
            <a:avLst/>
          </a:prstGeom>
        </p:spPr>
      </p:pic>
      <p:sp>
        <p:nvSpPr>
          <p:cNvPr id="30" name="Text 20"/>
          <p:cNvSpPr txBox="1"/>
          <p:nvPr/>
        </p:nvSpPr>
        <p:spPr>
          <a:xfrm>
            <a:off x="9784080" y="4617720"/>
            <a:ext cx="1828800" cy="237744"/>
          </a:xfrm>
          <a:prstGeom prst="rect">
            <a:avLst/>
          </a:prstGeom>
          <a:noFill/>
          <a:ln/>
        </p:spPr>
        <p:txBody>
          <a:bodyPr wrap="square" lIns="0" tIns="0" rIns="0" bIns="0" rtlCol="0" anchor="t"/>
          <a:lstStyle/>
          <a:p>
            <a:pPr algn="ctr" indent="0" marL="0">
              <a:buNone/>
            </a:pPr>
            <a:r>
              <a:rPr lang="en-US" sz="1100" b="1" dirty="0">
                <a:solidFill>
                  <a:srgbClr val="172144"/>
                </a:solidFill>
                <a:latin typeface="Segoe UI Semibold" pitchFamily="34" charset="0"/>
                <a:ea typeface="Segoe UI Semibold" pitchFamily="34" charset="-122"/>
                <a:cs typeface="Segoe UI Semibold" pitchFamily="34" charset="-120"/>
              </a:rPr>
              <a:t>Arıza</a:t>
            </a:r>
            <a:endParaRPr lang="en-US" sz="1100" dirty="0"/>
          </a:p>
        </p:txBody>
      </p:sp>
      <p:sp>
        <p:nvSpPr>
          <p:cNvPr id="31" name="Text 21"/>
          <p:cNvSpPr txBox="1"/>
          <p:nvPr/>
        </p:nvSpPr>
        <p:spPr>
          <a:xfrm>
            <a:off x="9784080" y="4846320"/>
            <a:ext cx="1828800" cy="237744"/>
          </a:xfrm>
          <a:prstGeom prst="rect">
            <a:avLst/>
          </a:prstGeom>
          <a:noFill/>
          <a:ln/>
        </p:spPr>
        <p:txBody>
          <a:bodyPr wrap="square" lIns="0" tIns="0" rIns="0" bIns="0" rtlCol="0" anchor="t"/>
          <a:lstStyle/>
          <a:p>
            <a:pPr algn="ctr" indent="0" marL="0">
              <a:buNone/>
            </a:pPr>
            <a:r>
              <a:rPr lang="en-US" sz="1000" dirty="0">
                <a:solidFill>
                  <a:srgbClr val="6B7280"/>
                </a:solidFill>
                <a:latin typeface="Segoe UI" pitchFamily="34" charset="0"/>
                <a:ea typeface="Segoe UI" pitchFamily="34" charset="-122"/>
                <a:cs typeface="Segoe UI" pitchFamily="34" charset="-120"/>
              </a:rPr>
              <a:t>görmezden gelinemez</a:t>
            </a:r>
            <a:endParaRPr lang="en-US" sz="1000" dirty="0"/>
          </a:p>
        </p:txBody>
      </p:sp>
      <p:sp>
        <p:nvSpPr>
          <p:cNvPr id="32" name="Shape 22"/>
          <p:cNvSpPr/>
          <p:nvPr/>
        </p:nvSpPr>
        <p:spPr>
          <a:xfrm>
            <a:off x="548640" y="5486400"/>
            <a:ext cx="11091672" cy="548640"/>
          </a:xfrm>
          <a:prstGeom prst="roundRect">
            <a:avLst>
              <a:gd name="adj" fmla="val 13333"/>
            </a:avLst>
          </a:prstGeom>
          <a:solidFill>
            <a:srgbClr val="F4F5F8"/>
          </a:solidFill>
          <a:ln w="12700">
            <a:solidFill>
              <a:srgbClr val="F4F5F8"/>
            </a:solidFill>
            <a:prstDash val="solid"/>
          </a:ln>
        </p:spPr>
      </p:sp>
      <p:pic>
        <p:nvPicPr>
          <p:cNvPr id="33" name="Image 8" descr="icons/refresh_gray.png">    </p:cNvPr>
          <p:cNvPicPr>
            <a:picLocks noChangeAspect="1"/>
          </p:cNvPicPr>
          <p:nvPr/>
        </p:nvPicPr>
        <p:blipFill>
          <a:blip r:embed="rId9"/>
          <a:stretch>
            <a:fillRect/>
          </a:stretch>
        </p:blipFill>
        <p:spPr>
          <a:xfrm>
            <a:off x="749808" y="5623560"/>
            <a:ext cx="274320" cy="274320"/>
          </a:xfrm>
          <a:prstGeom prst="rect">
            <a:avLst/>
          </a:prstGeom>
        </p:spPr>
      </p:pic>
      <p:sp>
        <p:nvSpPr>
          <p:cNvPr id="34" name="Text 23"/>
          <p:cNvSpPr txBox="1"/>
          <p:nvPr/>
        </p:nvSpPr>
        <p:spPr>
          <a:xfrm>
            <a:off x="1188720" y="5486400"/>
            <a:ext cx="10332720" cy="548640"/>
          </a:xfrm>
          <a:prstGeom prst="rect">
            <a:avLst/>
          </a:prstGeom>
          <a:noFill/>
          <a:ln/>
        </p:spPr>
        <p:txBody>
          <a:bodyPr wrap="square" lIns="0" tIns="0" rIns="0" bIns="0" rtlCol="0" anchor="ctr"/>
          <a:lstStyle/>
          <a:p>
            <a:pPr indent="0" marL="0">
              <a:buNone/>
            </a:pPr>
            <a:r>
              <a:rPr lang="en-US" sz="1150" dirty="0">
                <a:solidFill>
                  <a:srgbClr val="1F2937"/>
                </a:solidFill>
                <a:latin typeface="Segoe UI" pitchFamily="34" charset="0"/>
                <a:ea typeface="Segoe UI" pitchFamily="34" charset="-122"/>
                <a:cs typeface="Segoe UI" pitchFamily="34" charset="-120"/>
              </a:rPr>
              <a:t>Devreye alma sonrası kaynak adaptörlerinin periyodik bakımı gerekir; bu bakım kapsamı ayrıca planlanmalıdır.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Varsayımlar ve Kısıtlar</a:t>
            </a:r>
            <a:endParaRPr lang="en-US" sz="2200" dirty="0"/>
          </a:p>
        </p:txBody>
      </p:sp>
      <p:sp>
        <p:nvSpPr>
          <p:cNvPr id="3" name="Shape 1"/>
          <p:cNvSpPr/>
          <p:nvPr/>
        </p:nvSpPr>
        <p:spPr>
          <a:xfrm>
            <a:off x="548640" y="1280160"/>
            <a:ext cx="5440680" cy="4663440"/>
          </a:xfrm>
          <a:prstGeom prst="roundRect">
            <a:avLst>
              <a:gd name="adj" fmla="val 2745"/>
            </a:avLst>
          </a:prstGeom>
          <a:solidFill>
            <a:srgbClr val="F4F5F8"/>
          </a:solidFill>
          <a:ln w="12700">
            <a:solidFill>
              <a:srgbClr val="F4F5F8"/>
            </a:solidFill>
            <a:prstDash val="solid"/>
          </a:ln>
        </p:spPr>
      </p:sp>
      <p:sp>
        <p:nvSpPr>
          <p:cNvPr id="4" name="Shape 2"/>
          <p:cNvSpPr/>
          <p:nvPr/>
        </p:nvSpPr>
        <p:spPr>
          <a:xfrm>
            <a:off x="868680" y="1572768"/>
            <a:ext cx="475488" cy="475488"/>
          </a:xfrm>
          <a:prstGeom prst="ellipse">
            <a:avLst/>
          </a:prstGeom>
          <a:solidFill>
            <a:srgbClr val="FFFFFF"/>
          </a:solidFill>
          <a:ln w="12700">
            <a:solidFill>
              <a:srgbClr val="FFFFFF"/>
            </a:solidFill>
            <a:prstDash val="solid"/>
          </a:ln>
        </p:spPr>
      </p:sp>
      <p:pic>
        <p:nvPicPr>
          <p:cNvPr id="5" name="Image 0" descr="icons/check_blue.png">    </p:cNvPr>
          <p:cNvPicPr>
            <a:picLocks noChangeAspect="1"/>
          </p:cNvPicPr>
          <p:nvPr/>
        </p:nvPicPr>
        <p:blipFill>
          <a:blip r:embed="rId1"/>
          <a:stretch>
            <a:fillRect/>
          </a:stretch>
        </p:blipFill>
        <p:spPr>
          <a:xfrm>
            <a:off x="982797" y="1686885"/>
            <a:ext cx="247254" cy="247254"/>
          </a:xfrm>
          <a:prstGeom prst="rect">
            <a:avLst/>
          </a:prstGeom>
        </p:spPr>
      </p:pic>
      <p:sp>
        <p:nvSpPr>
          <p:cNvPr id="6" name="Text 3"/>
          <p:cNvSpPr txBox="1"/>
          <p:nvPr/>
        </p:nvSpPr>
        <p:spPr>
          <a:xfrm>
            <a:off x="1508760" y="1572768"/>
            <a:ext cx="3657600" cy="475488"/>
          </a:xfrm>
          <a:prstGeom prst="rect">
            <a:avLst/>
          </a:prstGeom>
          <a:noFill/>
          <a:ln/>
        </p:spPr>
        <p:txBody>
          <a:bodyPr wrap="square" lIns="0" tIns="0" rIns="0" bIns="0" rtlCol="0" anchor="ctr"/>
          <a:lstStyle/>
          <a:p>
            <a:pPr indent="0" marL="0">
              <a:buNone/>
            </a:pPr>
            <a:r>
              <a:rPr lang="en-US" sz="1600" b="1" dirty="0">
                <a:solidFill>
                  <a:srgbClr val="0012B0"/>
                </a:solidFill>
                <a:latin typeface="Segoe UI Semibold" pitchFamily="34" charset="0"/>
                <a:ea typeface="Segoe UI Semibold" pitchFamily="34" charset="-122"/>
                <a:cs typeface="Segoe UI Semibold" pitchFamily="34" charset="-120"/>
              </a:rPr>
              <a:t>Varsayımlar</a:t>
            </a:r>
            <a:endParaRPr lang="en-US" sz="1600" dirty="0"/>
          </a:p>
        </p:txBody>
      </p:sp>
      <p:sp>
        <p:nvSpPr>
          <p:cNvPr id="7" name="Text 4"/>
          <p:cNvSpPr txBox="1"/>
          <p:nvPr/>
        </p:nvSpPr>
        <p:spPr>
          <a:xfrm>
            <a:off x="914400" y="2331720"/>
            <a:ext cx="4754880" cy="3474720"/>
          </a:xfrm>
          <a:prstGeom prst="rect">
            <a:avLst/>
          </a:prstGeom>
          <a:noFill/>
          <a:ln/>
        </p:spPr>
        <p:txBody>
          <a:bodyPr wrap="square" lIns="0" tIns="0" rIns="0" bIns="0" rtlCol="0" anchor="t"/>
          <a:lstStyle/>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Kaynak sitelerine erişim için ağ/proxy izni proje başında sağlanır.</a:t>
            </a:r>
            <a:endParaRPr lang="en-US" sz="1350" dirty="0"/>
          </a:p>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Talepte belirtilen kaynak listesi nihaidir; ek kaynak kapsam değişikliği olarak değerlendirilir.</a:t>
            </a:r>
            <a:endParaRPr lang="en-US" sz="1350" dirty="0"/>
          </a:p>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Çalıştay ve paralel çalışma döneminde Başkanlık uzman desteği sağlanır.</a:t>
            </a:r>
            <a:endParaRPr lang="en-US" sz="1350" dirty="0"/>
          </a:p>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Güncel birim görev tanımları Başkanlık / İK tarafından temin edilir.</a:t>
            </a:r>
            <a:endParaRPr lang="en-US" sz="1350" dirty="0"/>
          </a:p>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Ayrı model eğitimi yapılmaz; kurum içi büyük dil modeli az örnekli yaklaşımla kullanılır.</a:t>
            </a:r>
            <a:endParaRPr lang="en-US" sz="1350" dirty="0"/>
          </a:p>
        </p:txBody>
      </p:sp>
      <p:sp>
        <p:nvSpPr>
          <p:cNvPr id="8" name="Shape 5"/>
          <p:cNvSpPr/>
          <p:nvPr/>
        </p:nvSpPr>
        <p:spPr>
          <a:xfrm>
            <a:off x="6199632" y="1280160"/>
            <a:ext cx="5440680" cy="4663440"/>
          </a:xfrm>
          <a:prstGeom prst="roundRect">
            <a:avLst>
              <a:gd name="adj" fmla="val 2745"/>
            </a:avLst>
          </a:prstGeom>
          <a:solidFill>
            <a:srgbClr val="F4F5F8"/>
          </a:solidFill>
          <a:ln w="12700">
            <a:solidFill>
              <a:srgbClr val="F4F5F8"/>
            </a:solidFill>
            <a:prstDash val="solid"/>
          </a:ln>
        </p:spPr>
      </p:sp>
      <p:sp>
        <p:nvSpPr>
          <p:cNvPr id="9" name="Shape 6"/>
          <p:cNvSpPr/>
          <p:nvPr/>
        </p:nvSpPr>
        <p:spPr>
          <a:xfrm>
            <a:off x="6519672" y="1572768"/>
            <a:ext cx="475488" cy="475488"/>
          </a:xfrm>
          <a:prstGeom prst="ellipse">
            <a:avLst/>
          </a:prstGeom>
          <a:solidFill>
            <a:srgbClr val="FFFFFF"/>
          </a:solidFill>
          <a:ln w="12700">
            <a:solidFill>
              <a:srgbClr val="FFFFFF"/>
            </a:solidFill>
            <a:prstDash val="solid"/>
          </a:ln>
        </p:spPr>
      </p:sp>
      <p:pic>
        <p:nvPicPr>
          <p:cNvPr id="10" name="Image 1" descr="icons/ban_red.png">    </p:cNvPr>
          <p:cNvPicPr>
            <a:picLocks noChangeAspect="1"/>
          </p:cNvPicPr>
          <p:nvPr/>
        </p:nvPicPr>
        <p:blipFill>
          <a:blip r:embed="rId2"/>
          <a:stretch>
            <a:fillRect/>
          </a:stretch>
        </p:blipFill>
        <p:spPr>
          <a:xfrm>
            <a:off x="6633789" y="1686885"/>
            <a:ext cx="247254" cy="247254"/>
          </a:xfrm>
          <a:prstGeom prst="rect">
            <a:avLst/>
          </a:prstGeom>
        </p:spPr>
      </p:pic>
      <p:sp>
        <p:nvSpPr>
          <p:cNvPr id="11" name="Text 7"/>
          <p:cNvSpPr txBox="1"/>
          <p:nvPr/>
        </p:nvSpPr>
        <p:spPr>
          <a:xfrm>
            <a:off x="7159752" y="1572768"/>
            <a:ext cx="3657600" cy="475488"/>
          </a:xfrm>
          <a:prstGeom prst="rect">
            <a:avLst/>
          </a:prstGeom>
          <a:noFill/>
          <a:ln/>
        </p:spPr>
        <p:txBody>
          <a:bodyPr wrap="square" lIns="0" tIns="0" rIns="0" bIns="0" rtlCol="0" anchor="ctr"/>
          <a:lstStyle/>
          <a:p>
            <a:pPr indent="0" marL="0">
              <a:buNone/>
            </a:pPr>
            <a:r>
              <a:rPr lang="en-US" sz="1600" b="1" dirty="0">
                <a:solidFill>
                  <a:srgbClr val="B91C1C"/>
                </a:solidFill>
                <a:latin typeface="Segoe UI Semibold" pitchFamily="34" charset="0"/>
                <a:ea typeface="Segoe UI Semibold" pitchFamily="34" charset="-122"/>
                <a:cs typeface="Segoe UI Semibold" pitchFamily="34" charset="-120"/>
              </a:rPr>
              <a:t>Kısıtlar</a:t>
            </a:r>
            <a:endParaRPr lang="en-US" sz="1600" dirty="0"/>
          </a:p>
        </p:txBody>
      </p:sp>
      <p:sp>
        <p:nvSpPr>
          <p:cNvPr id="12" name="Text 8"/>
          <p:cNvSpPr txBox="1"/>
          <p:nvPr/>
        </p:nvSpPr>
        <p:spPr>
          <a:xfrm>
            <a:off x="6565392" y="2331720"/>
            <a:ext cx="4754880" cy="3474720"/>
          </a:xfrm>
          <a:prstGeom prst="rect">
            <a:avLst/>
          </a:prstGeom>
          <a:noFill/>
          <a:ln/>
        </p:spPr>
        <p:txBody>
          <a:bodyPr wrap="square" lIns="0" tIns="0" rIns="0" bIns="0" rtlCol="0" anchor="t"/>
          <a:lstStyle/>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Kapalı ağ: dış kaynaklara erişim yalnızca DMZ üzerinden; onay süresi takvimi etkileyebilir.</a:t>
            </a:r>
            <a:endParaRPr lang="en-US" sz="1350" dirty="0"/>
          </a:p>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Kaynak site yapıları değişebilir; devreye alma sonrası bakım gerekir.</a:t>
            </a:r>
            <a:endParaRPr lang="en-US" sz="1350" dirty="0"/>
          </a:p>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Sistem karar destek aracıdır; nihai karar Mevzuat ve Uyum Başkanlığındadır.</a:t>
            </a:r>
            <a:endParaRPr lang="en-US" sz="1350" dirty="0"/>
          </a:p>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Birim önerisi isabeti, biriken onay ve düzeltme kayıtlarıyla zamanla artar.</a:t>
            </a:r>
            <a:endParaRPr lang="en-US" sz="1350" dirty="0"/>
          </a:p>
          <a:p>
            <a:pPr marL="342900" indent="-342900">
              <a:lnSpc>
                <a:spcPct val="112000"/>
              </a:lnSpc>
              <a:spcAft>
                <a:spcPts val="1400"/>
              </a:spcAft>
              <a:buSzPct val="100000"/>
              <a:buChar char="•"/>
            </a:pPr>
            <a:r>
              <a:rPr lang="en-US" sz="1350" dirty="0">
                <a:solidFill>
                  <a:srgbClr val="1F2937"/>
                </a:solidFill>
                <a:latin typeface="Segoe UI" pitchFamily="34" charset="0"/>
                <a:ea typeface="Segoe UI" pitchFamily="34" charset="-122"/>
                <a:cs typeface="Segoe UI" pitchFamily="34" charset="-120"/>
              </a:rPr>
              <a:t>Adam/gün değerleri ekip deneyimine dayalı iyimser bir tahmindir.</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Proje Yol Haritası</a:t>
            </a:r>
            <a:endParaRPr lang="en-US" sz="2200" dirty="0"/>
          </a:p>
        </p:txBody>
      </p:sp>
      <p:sp>
        <p:nvSpPr>
          <p:cNvPr id="3" name="Shape 1"/>
          <p:cNvSpPr/>
          <p:nvPr/>
        </p:nvSpPr>
        <p:spPr>
          <a:xfrm>
            <a:off x="9601200" y="502920"/>
            <a:ext cx="2039112" cy="457200"/>
          </a:xfrm>
          <a:prstGeom prst="roundRect">
            <a:avLst>
              <a:gd name="adj" fmla="val 50000"/>
            </a:avLst>
          </a:prstGeom>
          <a:solidFill>
            <a:srgbClr val="172144"/>
          </a:solidFill>
          <a:ln w="12700">
            <a:solidFill>
              <a:srgbClr val="172144"/>
            </a:solidFill>
            <a:prstDash val="solid"/>
          </a:ln>
        </p:spPr>
      </p:sp>
      <p:sp>
        <p:nvSpPr>
          <p:cNvPr id="4" name="Text 2"/>
          <p:cNvSpPr txBox="1"/>
          <p:nvPr/>
        </p:nvSpPr>
        <p:spPr>
          <a:xfrm>
            <a:off x="9601200" y="502920"/>
            <a:ext cx="203911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Toplam: 67 A/G</a:t>
            </a:r>
            <a:endParaRPr lang="en-US" sz="1400" dirty="0"/>
          </a:p>
        </p:txBody>
      </p:sp>
      <p:sp>
        <p:nvSpPr>
          <p:cNvPr id="5" name="Shape 3"/>
          <p:cNvSpPr/>
          <p:nvPr/>
        </p:nvSpPr>
        <p:spPr>
          <a:xfrm>
            <a:off x="1600200" y="2057400"/>
            <a:ext cx="8961120" cy="0"/>
          </a:xfrm>
          <a:prstGeom prst="line">
            <a:avLst/>
          </a:prstGeom>
          <a:noFill/>
          <a:ln w="50800">
            <a:solidFill>
              <a:srgbClr val="D5DAEC"/>
            </a:solidFill>
            <a:prstDash val="solid"/>
          </a:ln>
        </p:spPr>
      </p:sp>
      <p:sp>
        <p:nvSpPr>
          <p:cNvPr id="6" name="Shape 4"/>
          <p:cNvSpPr/>
          <p:nvPr/>
        </p:nvSpPr>
        <p:spPr>
          <a:xfrm>
            <a:off x="1271016" y="1728216"/>
            <a:ext cx="658368" cy="658368"/>
          </a:xfrm>
          <a:prstGeom prst="ellipse">
            <a:avLst/>
          </a:prstGeom>
          <a:solidFill>
            <a:srgbClr val="DDE2F4"/>
          </a:solidFill>
          <a:ln w="12700">
            <a:solidFill>
              <a:srgbClr val="DDE2F4"/>
            </a:solidFill>
            <a:prstDash val="solid"/>
          </a:ln>
        </p:spPr>
      </p:sp>
      <p:sp>
        <p:nvSpPr>
          <p:cNvPr id="7" name="Shape 5"/>
          <p:cNvSpPr/>
          <p:nvPr/>
        </p:nvSpPr>
        <p:spPr>
          <a:xfrm>
            <a:off x="1371600" y="1828800"/>
            <a:ext cx="457200" cy="457200"/>
          </a:xfrm>
          <a:prstGeom prst="ellipse">
            <a:avLst/>
          </a:prstGeom>
          <a:solidFill>
            <a:srgbClr val="172144"/>
          </a:solidFill>
          <a:ln w="12700">
            <a:solidFill>
              <a:srgbClr val="172144"/>
            </a:solidFill>
            <a:prstDash val="solid"/>
          </a:ln>
        </p:spPr>
      </p:sp>
      <p:sp>
        <p:nvSpPr>
          <p:cNvPr id="8" name="Text 6"/>
          <p:cNvSpPr txBox="1"/>
          <p:nvPr/>
        </p:nvSpPr>
        <p:spPr>
          <a:xfrm>
            <a:off x="137160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9" name="Text 7"/>
          <p:cNvSpPr txBox="1"/>
          <p:nvPr/>
        </p:nvSpPr>
        <p:spPr>
          <a:xfrm>
            <a:off x="576072" y="2560320"/>
            <a:ext cx="2048256" cy="530352"/>
          </a:xfrm>
          <a:prstGeom prst="rect">
            <a:avLst/>
          </a:prstGeom>
          <a:noFill/>
          <a:ln/>
        </p:spPr>
        <p:txBody>
          <a:bodyPr wrap="square" lIns="0" tIns="0" rIns="0" bIns="0" rtlCol="0" anchor="t"/>
          <a:lstStyle/>
          <a:p>
            <a:pPr algn="ctr" indent="0" marL="0">
              <a:buNone/>
            </a:pPr>
            <a:r>
              <a:rPr lang="en-US" sz="1250" b="1" dirty="0">
                <a:solidFill>
                  <a:srgbClr val="172144"/>
                </a:solidFill>
                <a:latin typeface="Segoe UI Semibold" pitchFamily="34" charset="0"/>
                <a:ea typeface="Segoe UI Semibold" pitchFamily="34" charset="-122"/>
                <a:cs typeface="Segoe UI Semibold" pitchFamily="34" charset="-120"/>
              </a:rPr>
              <a:t>Hazırlık ve Keşif</a:t>
            </a:r>
            <a:endParaRPr lang="en-US" sz="1250" dirty="0"/>
          </a:p>
        </p:txBody>
      </p:sp>
      <p:sp>
        <p:nvSpPr>
          <p:cNvPr id="10" name="Text 8"/>
          <p:cNvSpPr txBox="1"/>
          <p:nvPr/>
        </p:nvSpPr>
        <p:spPr>
          <a:xfrm>
            <a:off x="576072" y="3127248"/>
            <a:ext cx="2048256" cy="292608"/>
          </a:xfrm>
          <a:prstGeom prst="rect">
            <a:avLst/>
          </a:prstGeom>
          <a:noFill/>
          <a:ln/>
        </p:spPr>
        <p:txBody>
          <a:bodyPr wrap="square" lIns="0" tIns="0" rIns="0" bIns="0" rtlCol="0" anchor="t"/>
          <a:lstStyle/>
          <a:p>
            <a:pPr algn="ctr" indent="0" marL="0">
              <a:buNone/>
            </a:pPr>
            <a:r>
              <a:rPr lang="en-US" sz="1300" b="1" dirty="0">
                <a:solidFill>
                  <a:srgbClr val="0012B0"/>
                </a:solidFill>
                <a:latin typeface="Segoe UI Semibold" pitchFamily="34" charset="0"/>
                <a:ea typeface="Segoe UI Semibold" pitchFamily="34" charset="-122"/>
                <a:cs typeface="Segoe UI Semibold" pitchFamily="34" charset="-120"/>
              </a:rPr>
              <a:t>11 A/G</a:t>
            </a:r>
            <a:endParaRPr lang="en-US" sz="1300" dirty="0"/>
          </a:p>
        </p:txBody>
      </p:sp>
      <p:sp>
        <p:nvSpPr>
          <p:cNvPr id="11" name="Text 9"/>
          <p:cNvSpPr txBox="1"/>
          <p:nvPr/>
        </p:nvSpPr>
        <p:spPr>
          <a:xfrm>
            <a:off x="594360" y="3493008"/>
            <a:ext cx="2011680" cy="914400"/>
          </a:xfrm>
          <a:prstGeom prst="rect">
            <a:avLst/>
          </a:prstGeom>
          <a:noFill/>
          <a:ln/>
        </p:spPr>
        <p:txBody>
          <a:bodyPr wrap="square" lIns="0" tIns="0" rIns="0" bIns="0" rtlCol="0" anchor="t"/>
          <a:lstStyle/>
          <a:p>
            <a:pPr algn="ctr" indent="0" marL="0">
              <a:buNone/>
            </a:pPr>
            <a:r>
              <a:rPr lang="en-US" sz="1050" dirty="0">
                <a:solidFill>
                  <a:srgbClr val="6B7280"/>
                </a:solidFill>
                <a:latin typeface="Segoe UI" pitchFamily="34" charset="0"/>
                <a:ea typeface="Segoe UI" pitchFamily="34" charset="-122"/>
                <a:cs typeface="Segoe UI" pitchFamily="34" charset="-120"/>
              </a:rPr>
              <a:t>Kaynak envanteri, ağ/DMZ erişimi, süreç gözlemi, taksonomi çalıştayı</a:t>
            </a:r>
            <a:endParaRPr lang="en-US" sz="1050" dirty="0"/>
          </a:p>
        </p:txBody>
      </p:sp>
      <p:sp>
        <p:nvSpPr>
          <p:cNvPr id="12" name="Shape 10"/>
          <p:cNvSpPr/>
          <p:nvPr/>
        </p:nvSpPr>
        <p:spPr>
          <a:xfrm>
            <a:off x="3511296" y="1728216"/>
            <a:ext cx="658368" cy="658368"/>
          </a:xfrm>
          <a:prstGeom prst="ellipse">
            <a:avLst/>
          </a:prstGeom>
          <a:solidFill>
            <a:srgbClr val="DDE2F4"/>
          </a:solidFill>
          <a:ln w="12700">
            <a:solidFill>
              <a:srgbClr val="DDE2F4"/>
            </a:solidFill>
            <a:prstDash val="solid"/>
          </a:ln>
        </p:spPr>
      </p:sp>
      <p:sp>
        <p:nvSpPr>
          <p:cNvPr id="13" name="Shape 11"/>
          <p:cNvSpPr/>
          <p:nvPr/>
        </p:nvSpPr>
        <p:spPr>
          <a:xfrm>
            <a:off x="3611880" y="1828800"/>
            <a:ext cx="457200" cy="457200"/>
          </a:xfrm>
          <a:prstGeom prst="ellipse">
            <a:avLst/>
          </a:prstGeom>
          <a:solidFill>
            <a:srgbClr val="172144"/>
          </a:solidFill>
          <a:ln w="12700">
            <a:solidFill>
              <a:srgbClr val="172144"/>
            </a:solidFill>
            <a:prstDash val="solid"/>
          </a:ln>
        </p:spPr>
      </p:sp>
      <p:sp>
        <p:nvSpPr>
          <p:cNvPr id="14" name="Text 12"/>
          <p:cNvSpPr txBox="1"/>
          <p:nvPr/>
        </p:nvSpPr>
        <p:spPr>
          <a:xfrm>
            <a:off x="36118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5" name="Text 13"/>
          <p:cNvSpPr txBox="1"/>
          <p:nvPr/>
        </p:nvSpPr>
        <p:spPr>
          <a:xfrm>
            <a:off x="2816352" y="2560320"/>
            <a:ext cx="2048256" cy="530352"/>
          </a:xfrm>
          <a:prstGeom prst="rect">
            <a:avLst/>
          </a:prstGeom>
          <a:noFill/>
          <a:ln/>
        </p:spPr>
        <p:txBody>
          <a:bodyPr wrap="square" lIns="0" tIns="0" rIns="0" bIns="0" rtlCol="0" anchor="t"/>
          <a:lstStyle/>
          <a:p>
            <a:pPr algn="ctr" indent="0" marL="0">
              <a:buNone/>
            </a:pPr>
            <a:r>
              <a:rPr lang="en-US" sz="1250" b="1" dirty="0">
                <a:solidFill>
                  <a:srgbClr val="172144"/>
                </a:solidFill>
                <a:latin typeface="Segoe UI Semibold" pitchFamily="34" charset="0"/>
                <a:ea typeface="Segoe UI Semibold" pitchFamily="34" charset="-122"/>
                <a:cs typeface="Segoe UI Semibold" pitchFamily="34" charset="-120"/>
              </a:rPr>
              <a:t>Veri Toplama ve İşleme</a:t>
            </a:r>
            <a:endParaRPr lang="en-US" sz="1250" dirty="0"/>
          </a:p>
        </p:txBody>
      </p:sp>
      <p:sp>
        <p:nvSpPr>
          <p:cNvPr id="16" name="Text 14"/>
          <p:cNvSpPr txBox="1"/>
          <p:nvPr/>
        </p:nvSpPr>
        <p:spPr>
          <a:xfrm>
            <a:off x="2816352" y="3127248"/>
            <a:ext cx="2048256" cy="292608"/>
          </a:xfrm>
          <a:prstGeom prst="rect">
            <a:avLst/>
          </a:prstGeom>
          <a:noFill/>
          <a:ln/>
        </p:spPr>
        <p:txBody>
          <a:bodyPr wrap="square" lIns="0" tIns="0" rIns="0" bIns="0" rtlCol="0" anchor="t"/>
          <a:lstStyle/>
          <a:p>
            <a:pPr algn="ctr" indent="0" marL="0">
              <a:buNone/>
            </a:pPr>
            <a:r>
              <a:rPr lang="en-US" sz="1300" b="1" dirty="0">
                <a:solidFill>
                  <a:srgbClr val="0012B0"/>
                </a:solidFill>
                <a:latin typeface="Segoe UI Semibold" pitchFamily="34" charset="0"/>
                <a:ea typeface="Segoe UI Semibold" pitchFamily="34" charset="-122"/>
                <a:cs typeface="Segoe UI Semibold" pitchFamily="34" charset="-120"/>
              </a:rPr>
              <a:t>16 A/G</a:t>
            </a:r>
            <a:endParaRPr lang="en-US" sz="1300" dirty="0"/>
          </a:p>
        </p:txBody>
      </p:sp>
      <p:sp>
        <p:nvSpPr>
          <p:cNvPr id="17" name="Text 15"/>
          <p:cNvSpPr txBox="1"/>
          <p:nvPr/>
        </p:nvSpPr>
        <p:spPr>
          <a:xfrm>
            <a:off x="2834640" y="3493008"/>
            <a:ext cx="2011680" cy="914400"/>
          </a:xfrm>
          <a:prstGeom prst="rect">
            <a:avLst/>
          </a:prstGeom>
          <a:noFill/>
          <a:ln/>
        </p:spPr>
        <p:txBody>
          <a:bodyPr wrap="square" lIns="0" tIns="0" rIns="0" bIns="0" rtlCol="0" anchor="t"/>
          <a:lstStyle/>
          <a:p>
            <a:pPr algn="ctr" indent="0" marL="0">
              <a:buNone/>
            </a:pPr>
            <a:r>
              <a:rPr lang="en-US" sz="1050" dirty="0">
                <a:solidFill>
                  <a:srgbClr val="6B7280"/>
                </a:solidFill>
                <a:latin typeface="Segoe UI" pitchFamily="34" charset="0"/>
                <a:ea typeface="Segoe UI" pitchFamily="34" charset="-122"/>
                <a:cs typeface="Segoe UI" pitchFamily="34" charset="-120"/>
              </a:rPr>
              <a:t>Kaynak adaptörleri, KEP bağlantısı, metne dönüştürme ve OCR, tekilleştirme</a:t>
            </a:r>
            <a:endParaRPr lang="en-US" sz="1050" dirty="0"/>
          </a:p>
        </p:txBody>
      </p:sp>
      <p:sp>
        <p:nvSpPr>
          <p:cNvPr id="18" name="Shape 16"/>
          <p:cNvSpPr/>
          <p:nvPr/>
        </p:nvSpPr>
        <p:spPr>
          <a:xfrm>
            <a:off x="5751576" y="1728216"/>
            <a:ext cx="658368" cy="658368"/>
          </a:xfrm>
          <a:prstGeom prst="ellipse">
            <a:avLst/>
          </a:prstGeom>
          <a:solidFill>
            <a:srgbClr val="DDE2F4"/>
          </a:solidFill>
          <a:ln w="12700">
            <a:solidFill>
              <a:srgbClr val="DDE2F4"/>
            </a:solidFill>
            <a:prstDash val="solid"/>
          </a:ln>
        </p:spPr>
      </p:sp>
      <p:sp>
        <p:nvSpPr>
          <p:cNvPr id="19" name="Shape 17"/>
          <p:cNvSpPr/>
          <p:nvPr/>
        </p:nvSpPr>
        <p:spPr>
          <a:xfrm>
            <a:off x="5852160" y="1828800"/>
            <a:ext cx="457200" cy="457200"/>
          </a:xfrm>
          <a:prstGeom prst="ellipse">
            <a:avLst/>
          </a:prstGeom>
          <a:solidFill>
            <a:srgbClr val="172144"/>
          </a:solidFill>
          <a:ln w="12700">
            <a:solidFill>
              <a:srgbClr val="172144"/>
            </a:solidFill>
            <a:prstDash val="solid"/>
          </a:ln>
        </p:spPr>
      </p:sp>
      <p:sp>
        <p:nvSpPr>
          <p:cNvPr id="20" name="Text 18"/>
          <p:cNvSpPr txBox="1"/>
          <p:nvPr/>
        </p:nvSpPr>
        <p:spPr>
          <a:xfrm>
            <a:off x="585216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21" name="Text 19"/>
          <p:cNvSpPr txBox="1"/>
          <p:nvPr/>
        </p:nvSpPr>
        <p:spPr>
          <a:xfrm>
            <a:off x="5056632" y="2560320"/>
            <a:ext cx="2048256" cy="530352"/>
          </a:xfrm>
          <a:prstGeom prst="rect">
            <a:avLst/>
          </a:prstGeom>
          <a:noFill/>
          <a:ln/>
        </p:spPr>
        <p:txBody>
          <a:bodyPr wrap="square" lIns="0" tIns="0" rIns="0" bIns="0" rtlCol="0" anchor="t"/>
          <a:lstStyle/>
          <a:p>
            <a:pPr algn="ctr" indent="0" marL="0">
              <a:buNone/>
            </a:pPr>
            <a:r>
              <a:rPr lang="en-US" sz="1250" b="1" dirty="0">
                <a:solidFill>
                  <a:srgbClr val="172144"/>
                </a:solidFill>
                <a:latin typeface="Segoe UI Semibold" pitchFamily="34" charset="0"/>
                <a:ea typeface="Segoe UI Semibold" pitchFamily="34" charset="-122"/>
                <a:cs typeface="Segoe UI Semibold" pitchFamily="34" charset="-120"/>
              </a:rPr>
              <a:t>YZ Analiz</a:t>
            </a:r>
            <a:endParaRPr lang="en-US" sz="1250" dirty="0"/>
          </a:p>
        </p:txBody>
      </p:sp>
      <p:sp>
        <p:nvSpPr>
          <p:cNvPr id="22" name="Text 20"/>
          <p:cNvSpPr txBox="1"/>
          <p:nvPr/>
        </p:nvSpPr>
        <p:spPr>
          <a:xfrm>
            <a:off x="5056632" y="3127248"/>
            <a:ext cx="2048256" cy="292608"/>
          </a:xfrm>
          <a:prstGeom prst="rect">
            <a:avLst/>
          </a:prstGeom>
          <a:noFill/>
          <a:ln/>
        </p:spPr>
        <p:txBody>
          <a:bodyPr wrap="square" lIns="0" tIns="0" rIns="0" bIns="0" rtlCol="0" anchor="t"/>
          <a:lstStyle/>
          <a:p>
            <a:pPr algn="ctr" indent="0" marL="0">
              <a:buNone/>
            </a:pPr>
            <a:r>
              <a:rPr lang="en-US" sz="1300" b="1" dirty="0">
                <a:solidFill>
                  <a:srgbClr val="0012B0"/>
                </a:solidFill>
                <a:latin typeface="Segoe UI Semibold" pitchFamily="34" charset="0"/>
                <a:ea typeface="Segoe UI Semibold" pitchFamily="34" charset="-122"/>
                <a:cs typeface="Segoe UI Semibold" pitchFamily="34" charset="-120"/>
              </a:rPr>
              <a:t>19 A/G</a:t>
            </a:r>
            <a:endParaRPr lang="en-US" sz="1300" dirty="0"/>
          </a:p>
        </p:txBody>
      </p:sp>
      <p:sp>
        <p:nvSpPr>
          <p:cNvPr id="23" name="Text 21"/>
          <p:cNvSpPr txBox="1"/>
          <p:nvPr/>
        </p:nvSpPr>
        <p:spPr>
          <a:xfrm>
            <a:off x="5074920" y="3493008"/>
            <a:ext cx="2011680" cy="914400"/>
          </a:xfrm>
          <a:prstGeom prst="rect">
            <a:avLst/>
          </a:prstGeom>
          <a:noFill/>
          <a:ln/>
        </p:spPr>
        <p:txBody>
          <a:bodyPr wrap="square" lIns="0" tIns="0" rIns="0" bIns="0" rtlCol="0" anchor="t"/>
          <a:lstStyle/>
          <a:p>
            <a:pPr algn="ctr" indent="0" marL="0">
              <a:buNone/>
            </a:pPr>
            <a:r>
              <a:rPr lang="en-US" sz="1050" dirty="0">
                <a:solidFill>
                  <a:srgbClr val="6B7280"/>
                </a:solidFill>
                <a:latin typeface="Segoe UI" pitchFamily="34" charset="0"/>
                <a:ea typeface="Segoe UI" pitchFamily="34" charset="-122"/>
                <a:cs typeface="Segoe UI" pitchFamily="34" charset="-120"/>
              </a:rPr>
              <a:t>İlgililik tespiti, değerlendirme seti, önceliklendirme, özet ve birim eşleştirme</a:t>
            </a:r>
            <a:endParaRPr lang="en-US" sz="1050" dirty="0"/>
          </a:p>
        </p:txBody>
      </p:sp>
      <p:sp>
        <p:nvSpPr>
          <p:cNvPr id="24" name="Shape 22"/>
          <p:cNvSpPr/>
          <p:nvPr/>
        </p:nvSpPr>
        <p:spPr>
          <a:xfrm>
            <a:off x="7991856" y="1728216"/>
            <a:ext cx="658368" cy="658368"/>
          </a:xfrm>
          <a:prstGeom prst="ellipse">
            <a:avLst/>
          </a:prstGeom>
          <a:solidFill>
            <a:srgbClr val="DDE2F4"/>
          </a:solidFill>
          <a:ln w="12700">
            <a:solidFill>
              <a:srgbClr val="DDE2F4"/>
            </a:solidFill>
            <a:prstDash val="solid"/>
          </a:ln>
        </p:spPr>
      </p:sp>
      <p:sp>
        <p:nvSpPr>
          <p:cNvPr id="25" name="Shape 23"/>
          <p:cNvSpPr/>
          <p:nvPr/>
        </p:nvSpPr>
        <p:spPr>
          <a:xfrm>
            <a:off x="8092440" y="1828800"/>
            <a:ext cx="457200" cy="457200"/>
          </a:xfrm>
          <a:prstGeom prst="ellipse">
            <a:avLst/>
          </a:prstGeom>
          <a:solidFill>
            <a:srgbClr val="172144"/>
          </a:solidFill>
          <a:ln w="12700">
            <a:solidFill>
              <a:srgbClr val="172144"/>
            </a:solidFill>
            <a:prstDash val="solid"/>
          </a:ln>
        </p:spPr>
      </p:sp>
      <p:sp>
        <p:nvSpPr>
          <p:cNvPr id="26" name="Text 24"/>
          <p:cNvSpPr txBox="1"/>
          <p:nvPr/>
        </p:nvSpPr>
        <p:spPr>
          <a:xfrm>
            <a:off x="809244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27" name="Text 25"/>
          <p:cNvSpPr txBox="1"/>
          <p:nvPr/>
        </p:nvSpPr>
        <p:spPr>
          <a:xfrm>
            <a:off x="7296912" y="2560320"/>
            <a:ext cx="2048256" cy="530352"/>
          </a:xfrm>
          <a:prstGeom prst="rect">
            <a:avLst/>
          </a:prstGeom>
          <a:noFill/>
          <a:ln/>
        </p:spPr>
        <p:txBody>
          <a:bodyPr wrap="square" lIns="0" tIns="0" rIns="0" bIns="0" rtlCol="0" anchor="t"/>
          <a:lstStyle/>
          <a:p>
            <a:pPr algn="ctr" indent="0" marL="0">
              <a:buNone/>
            </a:pPr>
            <a:r>
              <a:rPr lang="en-US" sz="1250" b="1" dirty="0">
                <a:solidFill>
                  <a:srgbClr val="172144"/>
                </a:solidFill>
                <a:latin typeface="Segoe UI Semibold" pitchFamily="34" charset="0"/>
                <a:ea typeface="Segoe UI Semibold" pitchFamily="34" charset="-122"/>
                <a:cs typeface="Segoe UI Semibold" pitchFamily="34" charset="-120"/>
              </a:rPr>
              <a:t>Portal ve İzleme</a:t>
            </a:r>
            <a:endParaRPr lang="en-US" sz="1250" dirty="0"/>
          </a:p>
        </p:txBody>
      </p:sp>
      <p:sp>
        <p:nvSpPr>
          <p:cNvPr id="28" name="Text 26"/>
          <p:cNvSpPr txBox="1"/>
          <p:nvPr/>
        </p:nvSpPr>
        <p:spPr>
          <a:xfrm>
            <a:off x="7296912" y="3127248"/>
            <a:ext cx="2048256" cy="292608"/>
          </a:xfrm>
          <a:prstGeom prst="rect">
            <a:avLst/>
          </a:prstGeom>
          <a:noFill/>
          <a:ln/>
        </p:spPr>
        <p:txBody>
          <a:bodyPr wrap="square" lIns="0" tIns="0" rIns="0" bIns="0" rtlCol="0" anchor="t"/>
          <a:lstStyle/>
          <a:p>
            <a:pPr algn="ctr" indent="0" marL="0">
              <a:buNone/>
            </a:pPr>
            <a:r>
              <a:rPr lang="en-US" sz="1300" b="1" dirty="0">
                <a:solidFill>
                  <a:srgbClr val="0012B0"/>
                </a:solidFill>
                <a:latin typeface="Segoe UI Semibold" pitchFamily="34" charset="0"/>
                <a:ea typeface="Segoe UI Semibold" pitchFamily="34" charset="-122"/>
                <a:cs typeface="Segoe UI Semibold" pitchFamily="34" charset="-120"/>
              </a:rPr>
              <a:t>10 A/G</a:t>
            </a:r>
            <a:endParaRPr lang="en-US" sz="1300" dirty="0"/>
          </a:p>
        </p:txBody>
      </p:sp>
      <p:sp>
        <p:nvSpPr>
          <p:cNvPr id="29" name="Text 27"/>
          <p:cNvSpPr txBox="1"/>
          <p:nvPr/>
        </p:nvSpPr>
        <p:spPr>
          <a:xfrm>
            <a:off x="7315200" y="3493008"/>
            <a:ext cx="2011680" cy="914400"/>
          </a:xfrm>
          <a:prstGeom prst="rect">
            <a:avLst/>
          </a:prstGeom>
          <a:noFill/>
          <a:ln/>
        </p:spPr>
        <p:txBody>
          <a:bodyPr wrap="square" lIns="0" tIns="0" rIns="0" bIns="0" rtlCol="0" anchor="t"/>
          <a:lstStyle/>
          <a:p>
            <a:pPr algn="ctr" indent="0" marL="0">
              <a:buNone/>
            </a:pPr>
            <a:r>
              <a:rPr lang="en-US" sz="1050" dirty="0">
                <a:solidFill>
                  <a:srgbClr val="6B7280"/>
                </a:solidFill>
                <a:latin typeface="Segoe UI" pitchFamily="34" charset="0"/>
                <a:ea typeface="Segoe UI" pitchFamily="34" charset="-122"/>
                <a:cs typeface="Segoe UI" pitchFamily="34" charset="-120"/>
              </a:rPr>
              <a:t>Liste ve detay ekranları, onay akışı ve denetim izi, kaynak sağlığı izleme</a:t>
            </a:r>
            <a:endParaRPr lang="en-US" sz="1050" dirty="0"/>
          </a:p>
        </p:txBody>
      </p:sp>
      <p:sp>
        <p:nvSpPr>
          <p:cNvPr id="30" name="Shape 28"/>
          <p:cNvSpPr/>
          <p:nvPr/>
        </p:nvSpPr>
        <p:spPr>
          <a:xfrm>
            <a:off x="10232136" y="1728216"/>
            <a:ext cx="658368" cy="658368"/>
          </a:xfrm>
          <a:prstGeom prst="ellipse">
            <a:avLst/>
          </a:prstGeom>
          <a:solidFill>
            <a:srgbClr val="DDE2F4"/>
          </a:solidFill>
          <a:ln w="12700">
            <a:solidFill>
              <a:srgbClr val="DDE2F4"/>
            </a:solidFill>
            <a:prstDash val="solid"/>
          </a:ln>
        </p:spPr>
      </p:sp>
      <p:sp>
        <p:nvSpPr>
          <p:cNvPr id="31" name="Shape 29"/>
          <p:cNvSpPr/>
          <p:nvPr/>
        </p:nvSpPr>
        <p:spPr>
          <a:xfrm>
            <a:off x="10332720" y="1828800"/>
            <a:ext cx="457200" cy="457200"/>
          </a:xfrm>
          <a:prstGeom prst="ellipse">
            <a:avLst/>
          </a:prstGeom>
          <a:solidFill>
            <a:srgbClr val="172144"/>
          </a:solidFill>
          <a:ln w="12700">
            <a:solidFill>
              <a:srgbClr val="172144"/>
            </a:solidFill>
            <a:prstDash val="solid"/>
          </a:ln>
        </p:spPr>
      </p:sp>
      <p:sp>
        <p:nvSpPr>
          <p:cNvPr id="32" name="Text 30"/>
          <p:cNvSpPr txBox="1"/>
          <p:nvPr/>
        </p:nvSpPr>
        <p:spPr>
          <a:xfrm>
            <a:off x="1033272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5</a:t>
            </a:r>
            <a:endParaRPr lang="en-US" sz="1300" dirty="0"/>
          </a:p>
        </p:txBody>
      </p:sp>
      <p:sp>
        <p:nvSpPr>
          <p:cNvPr id="33" name="Text 31"/>
          <p:cNvSpPr txBox="1"/>
          <p:nvPr/>
        </p:nvSpPr>
        <p:spPr>
          <a:xfrm>
            <a:off x="9537192" y="2560320"/>
            <a:ext cx="2048256" cy="530352"/>
          </a:xfrm>
          <a:prstGeom prst="rect">
            <a:avLst/>
          </a:prstGeom>
          <a:noFill/>
          <a:ln/>
        </p:spPr>
        <p:txBody>
          <a:bodyPr wrap="square" lIns="0" tIns="0" rIns="0" bIns="0" rtlCol="0" anchor="t"/>
          <a:lstStyle/>
          <a:p>
            <a:pPr algn="ctr" indent="0" marL="0">
              <a:buNone/>
            </a:pPr>
            <a:r>
              <a:rPr lang="en-US" sz="1250" b="1" dirty="0">
                <a:solidFill>
                  <a:srgbClr val="172144"/>
                </a:solidFill>
                <a:latin typeface="Segoe UI Semibold" pitchFamily="34" charset="0"/>
                <a:ea typeface="Segoe UI Semibold" pitchFamily="34" charset="-122"/>
                <a:cs typeface="Segoe UI Semibold" pitchFamily="34" charset="-120"/>
              </a:rPr>
              <a:t>Test ve Devreye Alma</a:t>
            </a:r>
            <a:endParaRPr lang="en-US" sz="1250" dirty="0"/>
          </a:p>
        </p:txBody>
      </p:sp>
      <p:sp>
        <p:nvSpPr>
          <p:cNvPr id="34" name="Text 32"/>
          <p:cNvSpPr txBox="1"/>
          <p:nvPr/>
        </p:nvSpPr>
        <p:spPr>
          <a:xfrm>
            <a:off x="9537192" y="3127248"/>
            <a:ext cx="2048256" cy="292608"/>
          </a:xfrm>
          <a:prstGeom prst="rect">
            <a:avLst/>
          </a:prstGeom>
          <a:noFill/>
          <a:ln/>
        </p:spPr>
        <p:txBody>
          <a:bodyPr wrap="square" lIns="0" tIns="0" rIns="0" bIns="0" rtlCol="0" anchor="t"/>
          <a:lstStyle/>
          <a:p>
            <a:pPr algn="ctr" indent="0" marL="0">
              <a:buNone/>
            </a:pPr>
            <a:r>
              <a:rPr lang="en-US" sz="1300" b="1" dirty="0">
                <a:solidFill>
                  <a:srgbClr val="0012B0"/>
                </a:solidFill>
                <a:latin typeface="Segoe UI Semibold" pitchFamily="34" charset="0"/>
                <a:ea typeface="Segoe UI Semibold" pitchFamily="34" charset="-122"/>
                <a:cs typeface="Segoe UI Semibold" pitchFamily="34" charset="-120"/>
              </a:rPr>
              <a:t>11 A/G</a:t>
            </a:r>
            <a:endParaRPr lang="en-US" sz="1300" dirty="0"/>
          </a:p>
        </p:txBody>
      </p:sp>
      <p:sp>
        <p:nvSpPr>
          <p:cNvPr id="35" name="Text 33"/>
          <p:cNvSpPr txBox="1"/>
          <p:nvPr/>
        </p:nvSpPr>
        <p:spPr>
          <a:xfrm>
            <a:off x="9555480" y="3493008"/>
            <a:ext cx="2011680" cy="914400"/>
          </a:xfrm>
          <a:prstGeom prst="rect">
            <a:avLst/>
          </a:prstGeom>
          <a:noFill/>
          <a:ln/>
        </p:spPr>
        <p:txBody>
          <a:bodyPr wrap="square" lIns="0" tIns="0" rIns="0" bIns="0" rtlCol="0" anchor="t"/>
          <a:lstStyle/>
          <a:p>
            <a:pPr algn="ctr" indent="0" marL="0">
              <a:buNone/>
            </a:pPr>
            <a:r>
              <a:rPr lang="en-US" sz="1050" dirty="0">
                <a:solidFill>
                  <a:srgbClr val="6B7280"/>
                </a:solidFill>
                <a:latin typeface="Segoe UI" pitchFamily="34" charset="0"/>
                <a:ea typeface="Segoe UI" pitchFamily="34" charset="-122"/>
                <a:cs typeface="Segoe UI" pitchFamily="34" charset="-120"/>
              </a:rPr>
              <a:t>Fonksiyonel testler, paralel çalışma ve eşik ayarı, UAT, canlıya geçiş</a:t>
            </a:r>
            <a:endParaRPr lang="en-US" sz="1050" dirty="0"/>
          </a:p>
        </p:txBody>
      </p:sp>
      <p:sp>
        <p:nvSpPr>
          <p:cNvPr id="36" name="Text 34"/>
          <p:cNvSpPr txBox="1"/>
          <p:nvPr/>
        </p:nvSpPr>
        <p:spPr>
          <a:xfrm>
            <a:off x="822960" y="4617720"/>
            <a:ext cx="365760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Efor dağılımı (A/G)</a:t>
            </a:r>
            <a:endParaRPr lang="en-US" sz="1050" dirty="0"/>
          </a:p>
        </p:txBody>
      </p:sp>
      <p:sp>
        <p:nvSpPr>
          <p:cNvPr id="37" name="Shape 35"/>
          <p:cNvSpPr/>
          <p:nvPr/>
        </p:nvSpPr>
        <p:spPr>
          <a:xfrm>
            <a:off x="822960" y="4919472"/>
            <a:ext cx="1730946" cy="402336"/>
          </a:xfrm>
          <a:prstGeom prst="rect">
            <a:avLst/>
          </a:prstGeom>
          <a:solidFill>
            <a:srgbClr val="172144"/>
          </a:solidFill>
          <a:ln w="19050">
            <a:solidFill>
              <a:srgbClr val="FFFFFF"/>
            </a:solidFill>
            <a:prstDash val="solid"/>
          </a:ln>
        </p:spPr>
      </p:sp>
      <p:sp>
        <p:nvSpPr>
          <p:cNvPr id="38" name="Text 36"/>
          <p:cNvSpPr txBox="1"/>
          <p:nvPr/>
        </p:nvSpPr>
        <p:spPr>
          <a:xfrm>
            <a:off x="822960" y="4919472"/>
            <a:ext cx="173094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11</a:t>
            </a:r>
            <a:endParaRPr lang="en-US" sz="1100" dirty="0"/>
          </a:p>
        </p:txBody>
      </p:sp>
      <p:sp>
        <p:nvSpPr>
          <p:cNvPr id="39" name="Shape 37"/>
          <p:cNvSpPr/>
          <p:nvPr/>
        </p:nvSpPr>
        <p:spPr>
          <a:xfrm>
            <a:off x="2553906" y="4919472"/>
            <a:ext cx="2517739" cy="402336"/>
          </a:xfrm>
          <a:prstGeom prst="rect">
            <a:avLst/>
          </a:prstGeom>
          <a:solidFill>
            <a:srgbClr val="26347F"/>
          </a:solidFill>
          <a:ln w="19050">
            <a:solidFill>
              <a:srgbClr val="FFFFFF"/>
            </a:solidFill>
            <a:prstDash val="solid"/>
          </a:ln>
        </p:spPr>
      </p:sp>
      <p:sp>
        <p:nvSpPr>
          <p:cNvPr id="40" name="Text 38"/>
          <p:cNvSpPr txBox="1"/>
          <p:nvPr/>
        </p:nvSpPr>
        <p:spPr>
          <a:xfrm>
            <a:off x="2553906" y="4919472"/>
            <a:ext cx="2517739"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16</a:t>
            </a:r>
            <a:endParaRPr lang="en-US" sz="1100" dirty="0"/>
          </a:p>
        </p:txBody>
      </p:sp>
      <p:sp>
        <p:nvSpPr>
          <p:cNvPr id="41" name="Shape 39"/>
          <p:cNvSpPr/>
          <p:nvPr/>
        </p:nvSpPr>
        <p:spPr>
          <a:xfrm>
            <a:off x="5071645" y="4919472"/>
            <a:ext cx="2989815" cy="402336"/>
          </a:xfrm>
          <a:prstGeom prst="rect">
            <a:avLst/>
          </a:prstGeom>
          <a:solidFill>
            <a:srgbClr val="0012B0"/>
          </a:solidFill>
          <a:ln w="19050">
            <a:solidFill>
              <a:srgbClr val="FFFFFF"/>
            </a:solidFill>
            <a:prstDash val="solid"/>
          </a:ln>
        </p:spPr>
      </p:sp>
      <p:sp>
        <p:nvSpPr>
          <p:cNvPr id="42" name="Text 40"/>
          <p:cNvSpPr txBox="1"/>
          <p:nvPr/>
        </p:nvSpPr>
        <p:spPr>
          <a:xfrm>
            <a:off x="5071645" y="4919472"/>
            <a:ext cx="2989815"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19</a:t>
            </a:r>
            <a:endParaRPr lang="en-US" sz="1100" dirty="0"/>
          </a:p>
        </p:txBody>
      </p:sp>
      <p:sp>
        <p:nvSpPr>
          <p:cNvPr id="43" name="Shape 41"/>
          <p:cNvSpPr/>
          <p:nvPr/>
        </p:nvSpPr>
        <p:spPr>
          <a:xfrm>
            <a:off x="8061460" y="4919472"/>
            <a:ext cx="1573587" cy="402336"/>
          </a:xfrm>
          <a:prstGeom prst="rect">
            <a:avLst/>
          </a:prstGeom>
          <a:solidFill>
            <a:srgbClr val="4B5BD0"/>
          </a:solidFill>
          <a:ln w="19050">
            <a:solidFill>
              <a:srgbClr val="FFFFFF"/>
            </a:solidFill>
            <a:prstDash val="solid"/>
          </a:ln>
        </p:spPr>
      </p:sp>
      <p:sp>
        <p:nvSpPr>
          <p:cNvPr id="44" name="Text 42"/>
          <p:cNvSpPr txBox="1"/>
          <p:nvPr/>
        </p:nvSpPr>
        <p:spPr>
          <a:xfrm>
            <a:off x="8061460" y="4919472"/>
            <a:ext cx="1573587"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10</a:t>
            </a:r>
            <a:endParaRPr lang="en-US" sz="1100" dirty="0"/>
          </a:p>
        </p:txBody>
      </p:sp>
      <p:sp>
        <p:nvSpPr>
          <p:cNvPr id="45" name="Shape 43"/>
          <p:cNvSpPr/>
          <p:nvPr/>
        </p:nvSpPr>
        <p:spPr>
          <a:xfrm>
            <a:off x="9635046" y="4919472"/>
            <a:ext cx="1730946" cy="402336"/>
          </a:xfrm>
          <a:prstGeom prst="rect">
            <a:avLst/>
          </a:prstGeom>
          <a:solidFill>
            <a:srgbClr val="8F9AE3"/>
          </a:solidFill>
          <a:ln w="19050">
            <a:solidFill>
              <a:srgbClr val="FFFFFF"/>
            </a:solidFill>
            <a:prstDash val="solid"/>
          </a:ln>
        </p:spPr>
      </p:sp>
      <p:sp>
        <p:nvSpPr>
          <p:cNvPr id="46" name="Text 44"/>
          <p:cNvSpPr txBox="1"/>
          <p:nvPr/>
        </p:nvSpPr>
        <p:spPr>
          <a:xfrm>
            <a:off x="9635046" y="4919472"/>
            <a:ext cx="173094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11</a:t>
            </a:r>
            <a:endParaRPr lang="en-US" sz="1100" dirty="0"/>
          </a:p>
        </p:txBody>
      </p:sp>
      <p:pic>
        <p:nvPicPr>
          <p:cNvPr id="47" name="Image 0" descr="icons/flag_gray.png">    </p:cNvPr>
          <p:cNvPicPr>
            <a:picLocks noChangeAspect="1"/>
          </p:cNvPicPr>
          <p:nvPr/>
        </p:nvPicPr>
        <p:blipFill>
          <a:blip r:embed="rId1"/>
          <a:stretch>
            <a:fillRect/>
          </a:stretch>
        </p:blipFill>
        <p:spPr>
          <a:xfrm>
            <a:off x="822960" y="5623560"/>
            <a:ext cx="237744" cy="237744"/>
          </a:xfrm>
          <a:prstGeom prst="rect">
            <a:avLst/>
          </a:prstGeom>
        </p:spPr>
      </p:pic>
      <p:sp>
        <p:nvSpPr>
          <p:cNvPr id="48" name="Text 45"/>
          <p:cNvSpPr txBox="1"/>
          <p:nvPr/>
        </p:nvSpPr>
        <p:spPr>
          <a:xfrm>
            <a:off x="1170432" y="5577840"/>
            <a:ext cx="10424160" cy="329184"/>
          </a:xfrm>
          <a:prstGeom prst="rect">
            <a:avLst/>
          </a:prstGeom>
          <a:noFill/>
          <a:ln/>
        </p:spPr>
        <p:txBody>
          <a:bodyPr wrap="square" lIns="0" tIns="0" rIns="0" bIns="0" rtlCol="0" anchor="ctr"/>
          <a:lstStyle/>
          <a:p>
            <a:pPr indent="0" marL="0">
              <a:buNone/>
            </a:pPr>
            <a:r>
              <a:rPr lang="en-US" sz="1100" dirty="0">
                <a:solidFill>
                  <a:srgbClr val="6B7280"/>
                </a:solidFill>
                <a:latin typeface="Segoe UI" pitchFamily="34" charset="0"/>
                <a:ea typeface="Segoe UI" pitchFamily="34" charset="-122"/>
                <a:cs typeface="Segoe UI" pitchFamily="34" charset="-120"/>
              </a:rPr>
              <a:t>Paralel çalışma dönemi bir kabul aşamasıdır; tamamlanmadan üretime geçilmez. Ağ erişim izni kritik yol üzerindedir.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94944" y="457200"/>
            <a:ext cx="10789920" cy="548640"/>
          </a:xfrm>
          <a:prstGeom prst="rect">
            <a:avLst/>
          </a:prstGeom>
          <a:noFill/>
          <a:ln/>
        </p:spPr>
        <p:txBody>
          <a:bodyPr wrap="square" lIns="0" tIns="0" rIns="0" bIns="0" rtlCol="0" anchor="ctr"/>
          <a:lstStyle/>
          <a:p>
            <a:pPr indent="0" marL="0">
              <a:buNone/>
            </a:pPr>
            <a:r>
              <a:rPr lang="en-US" sz="2200" b="1" dirty="0">
                <a:solidFill>
                  <a:srgbClr val="0012B0"/>
                </a:solidFill>
                <a:latin typeface="Segoe UI Semibold" pitchFamily="34" charset="0"/>
                <a:ea typeface="Segoe UI Semibold" pitchFamily="34" charset="-122"/>
                <a:cs typeface="Segoe UI Semibold" pitchFamily="34" charset="-120"/>
              </a:rPr>
              <a:t>İş Biriminden Beklenenler ve Sonraki Adımlar</a:t>
            </a:r>
            <a:endParaRPr lang="en-US" sz="2200" dirty="0"/>
          </a:p>
        </p:txBody>
      </p:sp>
      <p:sp>
        <p:nvSpPr>
          <p:cNvPr id="3" name="Shape 1"/>
          <p:cNvSpPr/>
          <p:nvPr/>
        </p:nvSpPr>
        <p:spPr>
          <a:xfrm>
            <a:off x="548640" y="1280160"/>
            <a:ext cx="5440680" cy="4114800"/>
          </a:xfrm>
          <a:prstGeom prst="roundRect">
            <a:avLst>
              <a:gd name="adj" fmla="val 3111"/>
            </a:avLst>
          </a:prstGeom>
          <a:solidFill>
            <a:srgbClr val="F4F5F8"/>
          </a:solidFill>
          <a:ln w="12700">
            <a:solidFill>
              <a:srgbClr val="F4F5F8"/>
            </a:solidFill>
            <a:prstDash val="solid"/>
          </a:ln>
        </p:spPr>
      </p:sp>
      <p:sp>
        <p:nvSpPr>
          <p:cNvPr id="4" name="Shape 2"/>
          <p:cNvSpPr/>
          <p:nvPr/>
        </p:nvSpPr>
        <p:spPr>
          <a:xfrm>
            <a:off x="822960" y="1508760"/>
            <a:ext cx="457200" cy="457200"/>
          </a:xfrm>
          <a:prstGeom prst="ellipse">
            <a:avLst/>
          </a:prstGeom>
          <a:solidFill>
            <a:srgbClr val="FFFFFF"/>
          </a:solidFill>
          <a:ln w="12700">
            <a:solidFill>
              <a:srgbClr val="FFFFFF"/>
            </a:solidFill>
            <a:prstDash val="solid"/>
          </a:ln>
        </p:spPr>
      </p:sp>
      <p:pic>
        <p:nvPicPr>
          <p:cNvPr id="5" name="Image 0" descr="icons/users_blue.png">    </p:cNvPr>
          <p:cNvPicPr>
            <a:picLocks noChangeAspect="1"/>
          </p:cNvPicPr>
          <p:nvPr/>
        </p:nvPicPr>
        <p:blipFill>
          <a:blip r:embed="rId1"/>
          <a:stretch>
            <a:fillRect/>
          </a:stretch>
        </p:blipFill>
        <p:spPr>
          <a:xfrm>
            <a:off x="932688" y="1618488"/>
            <a:ext cx="237744" cy="237744"/>
          </a:xfrm>
          <a:prstGeom prst="rect">
            <a:avLst/>
          </a:prstGeom>
        </p:spPr>
      </p:pic>
      <p:sp>
        <p:nvSpPr>
          <p:cNvPr id="6" name="Text 3"/>
          <p:cNvSpPr txBox="1"/>
          <p:nvPr/>
        </p:nvSpPr>
        <p:spPr>
          <a:xfrm>
            <a:off x="1417320" y="1508760"/>
            <a:ext cx="4389120" cy="457200"/>
          </a:xfrm>
          <a:prstGeom prst="rect">
            <a:avLst/>
          </a:prstGeom>
          <a:noFill/>
          <a:ln/>
        </p:spPr>
        <p:txBody>
          <a:bodyPr wrap="square" lIns="0" tIns="0" rIns="0" bIns="0" rtlCol="0" anchor="ctr"/>
          <a:lstStyle/>
          <a:p>
            <a:pPr indent="0" marL="0">
              <a:buNone/>
            </a:pPr>
            <a:r>
              <a:rPr lang="en-US" sz="1500" b="1" dirty="0">
                <a:solidFill>
                  <a:srgbClr val="0012B0"/>
                </a:solidFill>
                <a:latin typeface="Segoe UI Semibold" pitchFamily="34" charset="0"/>
                <a:ea typeface="Segoe UI Semibold" pitchFamily="34" charset="-122"/>
                <a:cs typeface="Segoe UI Semibold" pitchFamily="34" charset="-120"/>
              </a:rPr>
              <a:t>İş biriminden beklenenler</a:t>
            </a:r>
            <a:endParaRPr lang="en-US" sz="1500" dirty="0"/>
          </a:p>
        </p:txBody>
      </p:sp>
      <p:pic>
        <p:nvPicPr>
          <p:cNvPr id="7" name="Image 1" descr="icons/list_blue.png">    </p:cNvPr>
          <p:cNvPicPr>
            <a:picLocks noChangeAspect="1"/>
          </p:cNvPicPr>
          <p:nvPr/>
        </p:nvPicPr>
        <p:blipFill>
          <a:blip r:embed="rId2"/>
          <a:stretch>
            <a:fillRect/>
          </a:stretch>
        </p:blipFill>
        <p:spPr>
          <a:xfrm>
            <a:off x="868680" y="2249424"/>
            <a:ext cx="292608" cy="292608"/>
          </a:xfrm>
          <a:prstGeom prst="rect">
            <a:avLst/>
          </a:prstGeom>
        </p:spPr>
      </p:pic>
      <p:sp>
        <p:nvSpPr>
          <p:cNvPr id="8" name="Text 4"/>
          <p:cNvSpPr txBox="1"/>
          <p:nvPr/>
        </p:nvSpPr>
        <p:spPr>
          <a:xfrm>
            <a:off x="1325880" y="2194560"/>
            <a:ext cx="4480560" cy="256032"/>
          </a:xfrm>
          <a:prstGeom prst="rect">
            <a:avLst/>
          </a:prstGeom>
          <a:noFill/>
          <a:ln/>
        </p:spPr>
        <p:txBody>
          <a:bodyPr wrap="square" lIns="0" tIns="0" rIns="0" bIns="0" rtlCol="0" anchor="t"/>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Nihai kaynak listesi</a:t>
            </a:r>
            <a:endParaRPr lang="en-US" sz="1200" dirty="0"/>
          </a:p>
        </p:txBody>
      </p:sp>
      <p:sp>
        <p:nvSpPr>
          <p:cNvPr id="9" name="Text 5"/>
          <p:cNvSpPr txBox="1"/>
          <p:nvPr/>
        </p:nvSpPr>
        <p:spPr>
          <a:xfrm>
            <a:off x="1325880" y="2450592"/>
            <a:ext cx="448056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Günlük kontrol edilen sitelerin kesin listesi</a:t>
            </a:r>
            <a:endParaRPr lang="en-US" sz="1050" dirty="0"/>
          </a:p>
        </p:txBody>
      </p:sp>
      <p:pic>
        <p:nvPicPr>
          <p:cNvPr id="10" name="Image 2" descr="icons/book_blue.png">    </p:cNvPr>
          <p:cNvPicPr>
            <a:picLocks noChangeAspect="1"/>
          </p:cNvPicPr>
          <p:nvPr/>
        </p:nvPicPr>
        <p:blipFill>
          <a:blip r:embed="rId3"/>
          <a:stretch>
            <a:fillRect/>
          </a:stretch>
        </p:blipFill>
        <p:spPr>
          <a:xfrm>
            <a:off x="868680" y="2871216"/>
            <a:ext cx="292608" cy="292608"/>
          </a:xfrm>
          <a:prstGeom prst="rect">
            <a:avLst/>
          </a:prstGeom>
        </p:spPr>
      </p:pic>
      <p:sp>
        <p:nvSpPr>
          <p:cNvPr id="11" name="Text 6"/>
          <p:cNvSpPr txBox="1"/>
          <p:nvPr/>
        </p:nvSpPr>
        <p:spPr>
          <a:xfrm>
            <a:off x="1325880" y="2816352"/>
            <a:ext cx="4480560" cy="256032"/>
          </a:xfrm>
          <a:prstGeom prst="rect">
            <a:avLst/>
          </a:prstGeom>
          <a:noFill/>
          <a:ln/>
        </p:spPr>
        <p:txBody>
          <a:bodyPr wrap="square" lIns="0" tIns="0" rIns="0" bIns="0" rtlCol="0" anchor="t"/>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Birim görev tanımları</a:t>
            </a:r>
            <a:endParaRPr lang="en-US" sz="1200" dirty="0"/>
          </a:p>
        </p:txBody>
      </p:sp>
      <p:sp>
        <p:nvSpPr>
          <p:cNvPr id="12" name="Text 7"/>
          <p:cNvSpPr txBox="1"/>
          <p:nvPr/>
        </p:nvSpPr>
        <p:spPr>
          <a:xfrm>
            <a:off x="1325880" y="3072384"/>
            <a:ext cx="448056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Güncel organizasyon yönetmeliği / görev tanımları</a:t>
            </a:r>
            <a:endParaRPr lang="en-US" sz="1050" dirty="0"/>
          </a:p>
        </p:txBody>
      </p:sp>
      <p:pic>
        <p:nvPicPr>
          <p:cNvPr id="13" name="Image 3" descr="icons/usercheck_blue.png">    </p:cNvPr>
          <p:cNvPicPr>
            <a:picLocks noChangeAspect="1"/>
          </p:cNvPicPr>
          <p:nvPr/>
        </p:nvPicPr>
        <p:blipFill>
          <a:blip r:embed="rId4"/>
          <a:stretch>
            <a:fillRect/>
          </a:stretch>
        </p:blipFill>
        <p:spPr>
          <a:xfrm>
            <a:off x="868680" y="3493008"/>
            <a:ext cx="292608" cy="292608"/>
          </a:xfrm>
          <a:prstGeom prst="rect">
            <a:avLst/>
          </a:prstGeom>
        </p:spPr>
      </p:pic>
      <p:sp>
        <p:nvSpPr>
          <p:cNvPr id="14" name="Text 8"/>
          <p:cNvSpPr txBox="1"/>
          <p:nvPr/>
        </p:nvSpPr>
        <p:spPr>
          <a:xfrm>
            <a:off x="1325880" y="3438144"/>
            <a:ext cx="4480560" cy="256032"/>
          </a:xfrm>
          <a:prstGeom prst="rect">
            <a:avLst/>
          </a:prstGeom>
          <a:noFill/>
          <a:ln/>
        </p:spPr>
        <p:txBody>
          <a:bodyPr wrap="square" lIns="0" tIns="0" rIns="0" bIns="0" rtlCol="0" anchor="t"/>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Uzman katılımı</a:t>
            </a:r>
            <a:endParaRPr lang="en-US" sz="1200" dirty="0"/>
          </a:p>
        </p:txBody>
      </p:sp>
      <p:sp>
        <p:nvSpPr>
          <p:cNvPr id="15" name="Text 9"/>
          <p:cNvSpPr txBox="1"/>
          <p:nvPr/>
        </p:nvSpPr>
        <p:spPr>
          <a:xfrm>
            <a:off x="1325880" y="3694176"/>
            <a:ext cx="448056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Ürün sahibi; çalıştay ve paralel çalışma desteği</a:t>
            </a:r>
            <a:endParaRPr lang="en-US" sz="1050" dirty="0"/>
          </a:p>
        </p:txBody>
      </p:sp>
      <p:pic>
        <p:nvPicPr>
          <p:cNvPr id="16" name="Image 4" descr="icons/filecheck_blue.png">    </p:cNvPr>
          <p:cNvPicPr>
            <a:picLocks noChangeAspect="1"/>
          </p:cNvPicPr>
          <p:nvPr/>
        </p:nvPicPr>
        <p:blipFill>
          <a:blip r:embed="rId5"/>
          <a:stretch>
            <a:fillRect/>
          </a:stretch>
        </p:blipFill>
        <p:spPr>
          <a:xfrm>
            <a:off x="868680" y="4114800"/>
            <a:ext cx="292608" cy="292608"/>
          </a:xfrm>
          <a:prstGeom prst="rect">
            <a:avLst/>
          </a:prstGeom>
        </p:spPr>
      </p:pic>
      <p:sp>
        <p:nvSpPr>
          <p:cNvPr id="17" name="Text 10"/>
          <p:cNvSpPr txBox="1"/>
          <p:nvPr/>
        </p:nvSpPr>
        <p:spPr>
          <a:xfrm>
            <a:off x="1325880" y="4059936"/>
            <a:ext cx="4480560" cy="256032"/>
          </a:xfrm>
          <a:prstGeom prst="rect">
            <a:avLst/>
          </a:prstGeom>
          <a:noFill/>
          <a:ln/>
        </p:spPr>
        <p:txBody>
          <a:bodyPr wrap="square" lIns="0" tIns="0" rIns="0" bIns="0" rtlCol="0" anchor="t"/>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Özet şablonu teyidi</a:t>
            </a:r>
            <a:endParaRPr lang="en-US" sz="1200" dirty="0"/>
          </a:p>
        </p:txBody>
      </p:sp>
      <p:sp>
        <p:nvSpPr>
          <p:cNvPr id="18" name="Text 11"/>
          <p:cNvSpPr txBox="1"/>
          <p:nvPr/>
        </p:nvSpPr>
        <p:spPr>
          <a:xfrm>
            <a:off x="1325880" y="4315968"/>
            <a:ext cx="448056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Bağlantı alanları ve yürürlük tarihi önerisi</a:t>
            </a:r>
            <a:endParaRPr lang="en-US" sz="1050" dirty="0"/>
          </a:p>
        </p:txBody>
      </p:sp>
      <p:pic>
        <p:nvPicPr>
          <p:cNvPr id="19" name="Image 5" descr="icons/key_blue.png">    </p:cNvPr>
          <p:cNvPicPr>
            <a:picLocks noChangeAspect="1"/>
          </p:cNvPicPr>
          <p:nvPr/>
        </p:nvPicPr>
        <p:blipFill>
          <a:blip r:embed="rId6"/>
          <a:stretch>
            <a:fillRect/>
          </a:stretch>
        </p:blipFill>
        <p:spPr>
          <a:xfrm>
            <a:off x="868680" y="4736592"/>
            <a:ext cx="292608" cy="292608"/>
          </a:xfrm>
          <a:prstGeom prst="rect">
            <a:avLst/>
          </a:prstGeom>
        </p:spPr>
      </p:pic>
      <p:sp>
        <p:nvSpPr>
          <p:cNvPr id="20" name="Text 12"/>
          <p:cNvSpPr txBox="1"/>
          <p:nvPr/>
        </p:nvSpPr>
        <p:spPr>
          <a:xfrm>
            <a:off x="1325880" y="4681728"/>
            <a:ext cx="4480560" cy="256032"/>
          </a:xfrm>
          <a:prstGeom prst="rect">
            <a:avLst/>
          </a:prstGeom>
          <a:noFill/>
          <a:ln/>
        </p:spPr>
        <p:txBody>
          <a:bodyPr wrap="square" lIns="0" tIns="0" rIns="0" bIns="0" rtlCol="0" anchor="t"/>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Erişim izni desteği</a:t>
            </a:r>
            <a:endParaRPr lang="en-US" sz="1200" dirty="0"/>
          </a:p>
        </p:txBody>
      </p:sp>
      <p:sp>
        <p:nvSpPr>
          <p:cNvPr id="21" name="Text 13"/>
          <p:cNvSpPr txBox="1"/>
          <p:nvPr/>
        </p:nvSpPr>
        <p:spPr>
          <a:xfrm>
            <a:off x="1325880" y="4937760"/>
            <a:ext cx="448056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Bilgi Güvenliği ile ağ/proxy istisna süreci</a:t>
            </a:r>
            <a:endParaRPr lang="en-US" sz="1050" dirty="0"/>
          </a:p>
        </p:txBody>
      </p:sp>
      <p:sp>
        <p:nvSpPr>
          <p:cNvPr id="22" name="Shape 14"/>
          <p:cNvSpPr/>
          <p:nvPr/>
        </p:nvSpPr>
        <p:spPr>
          <a:xfrm>
            <a:off x="6199632" y="1280160"/>
            <a:ext cx="5440680" cy="4114800"/>
          </a:xfrm>
          <a:prstGeom prst="roundRect">
            <a:avLst>
              <a:gd name="adj" fmla="val 3111"/>
            </a:avLst>
          </a:prstGeom>
          <a:solidFill>
            <a:srgbClr val="F4F5F8"/>
          </a:solidFill>
          <a:ln w="12700">
            <a:solidFill>
              <a:srgbClr val="F4F5F8"/>
            </a:solidFill>
            <a:prstDash val="solid"/>
          </a:ln>
        </p:spPr>
      </p:sp>
      <p:sp>
        <p:nvSpPr>
          <p:cNvPr id="23" name="Shape 15"/>
          <p:cNvSpPr/>
          <p:nvPr/>
        </p:nvSpPr>
        <p:spPr>
          <a:xfrm>
            <a:off x="6473952" y="1508760"/>
            <a:ext cx="457200" cy="457200"/>
          </a:xfrm>
          <a:prstGeom prst="ellipse">
            <a:avLst/>
          </a:prstGeom>
          <a:solidFill>
            <a:srgbClr val="FFFFFF"/>
          </a:solidFill>
          <a:ln w="12700">
            <a:solidFill>
              <a:srgbClr val="FFFFFF"/>
            </a:solidFill>
            <a:prstDash val="solid"/>
          </a:ln>
        </p:spPr>
      </p:sp>
      <p:pic>
        <p:nvPicPr>
          <p:cNvPr id="24" name="Image 6" descr="icons/flag_blue.png">    </p:cNvPr>
          <p:cNvPicPr>
            <a:picLocks noChangeAspect="1"/>
          </p:cNvPicPr>
          <p:nvPr/>
        </p:nvPicPr>
        <p:blipFill>
          <a:blip r:embed="rId7"/>
          <a:stretch>
            <a:fillRect/>
          </a:stretch>
        </p:blipFill>
        <p:spPr>
          <a:xfrm>
            <a:off x="6583680" y="1618488"/>
            <a:ext cx="237744" cy="237744"/>
          </a:xfrm>
          <a:prstGeom prst="rect">
            <a:avLst/>
          </a:prstGeom>
        </p:spPr>
      </p:pic>
      <p:sp>
        <p:nvSpPr>
          <p:cNvPr id="25" name="Text 16"/>
          <p:cNvSpPr txBox="1"/>
          <p:nvPr/>
        </p:nvSpPr>
        <p:spPr>
          <a:xfrm>
            <a:off x="7068312" y="1508760"/>
            <a:ext cx="4389120" cy="457200"/>
          </a:xfrm>
          <a:prstGeom prst="rect">
            <a:avLst/>
          </a:prstGeom>
          <a:noFill/>
          <a:ln/>
        </p:spPr>
        <p:txBody>
          <a:bodyPr wrap="square" lIns="0" tIns="0" rIns="0" bIns="0" rtlCol="0" anchor="ctr"/>
          <a:lstStyle/>
          <a:p>
            <a:pPr indent="0" marL="0">
              <a:buNone/>
            </a:pPr>
            <a:r>
              <a:rPr lang="en-US" sz="1500" b="1" dirty="0">
                <a:solidFill>
                  <a:srgbClr val="0012B0"/>
                </a:solidFill>
                <a:latin typeface="Segoe UI Semibold" pitchFamily="34" charset="0"/>
                <a:ea typeface="Segoe UI Semibold" pitchFamily="34" charset="-122"/>
                <a:cs typeface="Segoe UI Semibold" pitchFamily="34" charset="-120"/>
              </a:rPr>
              <a:t>Sonraki adımlar</a:t>
            </a:r>
            <a:endParaRPr lang="en-US" sz="1500" dirty="0"/>
          </a:p>
        </p:txBody>
      </p:sp>
      <p:sp>
        <p:nvSpPr>
          <p:cNvPr id="26" name="Shape 17"/>
          <p:cNvSpPr/>
          <p:nvPr/>
        </p:nvSpPr>
        <p:spPr>
          <a:xfrm>
            <a:off x="6519672" y="2194560"/>
            <a:ext cx="384048" cy="384048"/>
          </a:xfrm>
          <a:prstGeom prst="ellipse">
            <a:avLst/>
          </a:prstGeom>
          <a:solidFill>
            <a:srgbClr val="172144"/>
          </a:solidFill>
          <a:ln w="12700">
            <a:solidFill>
              <a:srgbClr val="172144"/>
            </a:solidFill>
            <a:prstDash val="solid"/>
          </a:ln>
        </p:spPr>
      </p:sp>
      <p:sp>
        <p:nvSpPr>
          <p:cNvPr id="27" name="Text 18"/>
          <p:cNvSpPr txBox="1"/>
          <p:nvPr/>
        </p:nvSpPr>
        <p:spPr>
          <a:xfrm>
            <a:off x="6519672" y="21945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8" name="Text 19"/>
          <p:cNvSpPr txBox="1"/>
          <p:nvPr/>
        </p:nvSpPr>
        <p:spPr>
          <a:xfrm>
            <a:off x="7086600" y="2176272"/>
            <a:ext cx="4389120" cy="256032"/>
          </a:xfrm>
          <a:prstGeom prst="rect">
            <a:avLst/>
          </a:prstGeom>
          <a:noFill/>
          <a:ln/>
        </p:spPr>
        <p:txBody>
          <a:bodyPr wrap="square" lIns="0" tIns="0" rIns="0" bIns="0" rtlCol="0" anchor="t"/>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Kapsam mutabakatı</a:t>
            </a:r>
            <a:endParaRPr lang="en-US" sz="1200" dirty="0"/>
          </a:p>
        </p:txBody>
      </p:sp>
      <p:sp>
        <p:nvSpPr>
          <p:cNvPr id="29" name="Text 20"/>
          <p:cNvSpPr txBox="1"/>
          <p:nvPr/>
        </p:nvSpPr>
        <p:spPr>
          <a:xfrm>
            <a:off x="7086600" y="2441448"/>
            <a:ext cx="438912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Kapsam formunun iş birimiyle onaylanması</a:t>
            </a:r>
            <a:endParaRPr lang="en-US" sz="1050" dirty="0"/>
          </a:p>
        </p:txBody>
      </p:sp>
      <p:sp>
        <p:nvSpPr>
          <p:cNvPr id="30" name="Shape 21"/>
          <p:cNvSpPr/>
          <p:nvPr/>
        </p:nvSpPr>
        <p:spPr>
          <a:xfrm>
            <a:off x="6519672" y="2971800"/>
            <a:ext cx="384048" cy="384048"/>
          </a:xfrm>
          <a:prstGeom prst="ellipse">
            <a:avLst/>
          </a:prstGeom>
          <a:solidFill>
            <a:srgbClr val="172144"/>
          </a:solidFill>
          <a:ln w="12700">
            <a:solidFill>
              <a:srgbClr val="172144"/>
            </a:solidFill>
            <a:prstDash val="solid"/>
          </a:ln>
        </p:spPr>
      </p:sp>
      <p:sp>
        <p:nvSpPr>
          <p:cNvPr id="31" name="Text 22"/>
          <p:cNvSpPr txBox="1"/>
          <p:nvPr/>
        </p:nvSpPr>
        <p:spPr>
          <a:xfrm>
            <a:off x="6519672"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2" name="Text 23"/>
          <p:cNvSpPr txBox="1"/>
          <p:nvPr/>
        </p:nvSpPr>
        <p:spPr>
          <a:xfrm>
            <a:off x="7086600" y="2953512"/>
            <a:ext cx="4389120" cy="256032"/>
          </a:xfrm>
          <a:prstGeom prst="rect">
            <a:avLst/>
          </a:prstGeom>
          <a:noFill/>
          <a:ln/>
        </p:spPr>
        <p:txBody>
          <a:bodyPr wrap="square" lIns="0" tIns="0" rIns="0" bIns="0" rtlCol="0" anchor="t"/>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Ağ erişim talebi</a:t>
            </a:r>
            <a:endParaRPr lang="en-US" sz="1200" dirty="0"/>
          </a:p>
        </p:txBody>
      </p:sp>
      <p:sp>
        <p:nvSpPr>
          <p:cNvPr id="33" name="Text 24"/>
          <p:cNvSpPr txBox="1"/>
          <p:nvPr/>
        </p:nvSpPr>
        <p:spPr>
          <a:xfrm>
            <a:off x="7086600" y="3218688"/>
            <a:ext cx="438912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Kritik yol: ilk hafta içinde başlatılmalı</a:t>
            </a:r>
            <a:endParaRPr lang="en-US" sz="1050" dirty="0"/>
          </a:p>
        </p:txBody>
      </p:sp>
      <p:sp>
        <p:nvSpPr>
          <p:cNvPr id="34" name="Shape 25"/>
          <p:cNvSpPr/>
          <p:nvPr/>
        </p:nvSpPr>
        <p:spPr>
          <a:xfrm>
            <a:off x="6519672" y="3749040"/>
            <a:ext cx="384048" cy="384048"/>
          </a:xfrm>
          <a:prstGeom prst="ellipse">
            <a:avLst/>
          </a:prstGeom>
          <a:solidFill>
            <a:srgbClr val="172144"/>
          </a:solidFill>
          <a:ln w="12700">
            <a:solidFill>
              <a:srgbClr val="172144"/>
            </a:solidFill>
            <a:prstDash val="solid"/>
          </a:ln>
        </p:spPr>
      </p:sp>
      <p:sp>
        <p:nvSpPr>
          <p:cNvPr id="35" name="Text 26"/>
          <p:cNvSpPr txBox="1"/>
          <p:nvPr/>
        </p:nvSpPr>
        <p:spPr>
          <a:xfrm>
            <a:off x="6519672" y="37490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6" name="Text 27"/>
          <p:cNvSpPr txBox="1"/>
          <p:nvPr/>
        </p:nvSpPr>
        <p:spPr>
          <a:xfrm>
            <a:off x="7086600" y="3730752"/>
            <a:ext cx="4389120" cy="256032"/>
          </a:xfrm>
          <a:prstGeom prst="rect">
            <a:avLst/>
          </a:prstGeom>
          <a:noFill/>
          <a:ln/>
        </p:spPr>
        <p:txBody>
          <a:bodyPr wrap="square" lIns="0" tIns="0" rIns="0" bIns="0" rtlCol="0" anchor="t"/>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Hazırlık ve keşif</a:t>
            </a:r>
            <a:endParaRPr lang="en-US" sz="1200" dirty="0"/>
          </a:p>
        </p:txBody>
      </p:sp>
      <p:sp>
        <p:nvSpPr>
          <p:cNvPr id="37" name="Text 28"/>
          <p:cNvSpPr txBox="1"/>
          <p:nvPr/>
        </p:nvSpPr>
        <p:spPr>
          <a:xfrm>
            <a:off x="7086600" y="3995928"/>
            <a:ext cx="438912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Kaynak envanteri ve süreç gözleminin başlatılması</a:t>
            </a:r>
            <a:endParaRPr lang="en-US" sz="1050" dirty="0"/>
          </a:p>
        </p:txBody>
      </p:sp>
      <p:sp>
        <p:nvSpPr>
          <p:cNvPr id="38" name="Shape 29"/>
          <p:cNvSpPr/>
          <p:nvPr/>
        </p:nvSpPr>
        <p:spPr>
          <a:xfrm>
            <a:off x="6519672" y="4526280"/>
            <a:ext cx="384048" cy="384048"/>
          </a:xfrm>
          <a:prstGeom prst="ellipse">
            <a:avLst/>
          </a:prstGeom>
          <a:solidFill>
            <a:srgbClr val="172144"/>
          </a:solidFill>
          <a:ln w="12700">
            <a:solidFill>
              <a:srgbClr val="172144"/>
            </a:solidFill>
            <a:prstDash val="solid"/>
          </a:ln>
        </p:spPr>
      </p:sp>
      <p:sp>
        <p:nvSpPr>
          <p:cNvPr id="39" name="Text 30"/>
          <p:cNvSpPr txBox="1"/>
          <p:nvPr/>
        </p:nvSpPr>
        <p:spPr>
          <a:xfrm>
            <a:off x="6519672" y="45262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40" name="Text 31"/>
          <p:cNvSpPr txBox="1"/>
          <p:nvPr/>
        </p:nvSpPr>
        <p:spPr>
          <a:xfrm>
            <a:off x="7086600" y="4507992"/>
            <a:ext cx="4389120" cy="256032"/>
          </a:xfrm>
          <a:prstGeom prst="rect">
            <a:avLst/>
          </a:prstGeom>
          <a:noFill/>
          <a:ln/>
        </p:spPr>
        <p:txBody>
          <a:bodyPr wrap="square" lIns="0" tIns="0" rIns="0" bIns="0" rtlCol="0" anchor="t"/>
          <a:lstStyle/>
          <a:p>
            <a:pPr indent="0" marL="0">
              <a:buNone/>
            </a:pPr>
            <a:r>
              <a:rPr lang="en-US" sz="1200" b="1" dirty="0">
                <a:solidFill>
                  <a:srgbClr val="172144"/>
                </a:solidFill>
                <a:latin typeface="Segoe UI Semibold" pitchFamily="34" charset="0"/>
                <a:ea typeface="Segoe UI Semibold" pitchFamily="34" charset="-122"/>
                <a:cs typeface="Segoe UI Semibold" pitchFamily="34" charset="-120"/>
              </a:rPr>
              <a:t>Taksonomi çalıştayı</a:t>
            </a:r>
            <a:endParaRPr lang="en-US" sz="1200" dirty="0"/>
          </a:p>
        </p:txBody>
      </p:sp>
      <p:sp>
        <p:nvSpPr>
          <p:cNvPr id="41" name="Text 32"/>
          <p:cNvSpPr txBox="1"/>
          <p:nvPr/>
        </p:nvSpPr>
        <p:spPr>
          <a:xfrm>
            <a:off x="7086600" y="4773168"/>
            <a:ext cx="4389120" cy="256032"/>
          </a:xfrm>
          <a:prstGeom prst="rect">
            <a:avLst/>
          </a:prstGeom>
          <a:noFill/>
          <a:ln/>
        </p:spPr>
        <p:txBody>
          <a:bodyPr wrap="square" lIns="0" tIns="0" rIns="0" bIns="0" rtlCol="0" anchor="t"/>
          <a:lstStyle/>
          <a:p>
            <a:pPr indent="0" marL="0">
              <a:buNone/>
            </a:pPr>
            <a:r>
              <a:rPr lang="en-US" sz="1050" dirty="0">
                <a:solidFill>
                  <a:srgbClr val="6B7280"/>
                </a:solidFill>
                <a:latin typeface="Segoe UI" pitchFamily="34" charset="0"/>
                <a:ea typeface="Segoe UI" pitchFamily="34" charset="-122"/>
                <a:cs typeface="Segoe UI" pitchFamily="34" charset="-120"/>
              </a:rPr>
              <a:t>İlgililik ve önem kriterlerinin birlikte netleştirilmesi</a:t>
            </a:r>
            <a:endParaRPr lang="en-US" sz="1050" dirty="0"/>
          </a:p>
        </p:txBody>
      </p:sp>
      <p:sp>
        <p:nvSpPr>
          <p:cNvPr id="42" name="Shape 33"/>
          <p:cNvSpPr/>
          <p:nvPr/>
        </p:nvSpPr>
        <p:spPr>
          <a:xfrm>
            <a:off x="548640" y="5577840"/>
            <a:ext cx="11091672" cy="566928"/>
          </a:xfrm>
          <a:prstGeom prst="roundRect">
            <a:avLst>
              <a:gd name="adj" fmla="val 12903"/>
            </a:avLst>
          </a:prstGeom>
          <a:solidFill>
            <a:srgbClr val="FDECEC"/>
          </a:solidFill>
          <a:ln w="12700">
            <a:solidFill>
              <a:srgbClr val="FDECEC"/>
            </a:solidFill>
            <a:prstDash val="solid"/>
          </a:ln>
        </p:spPr>
      </p:sp>
      <p:pic>
        <p:nvPicPr>
          <p:cNvPr id="43" name="Image 7" descr="icons/layers_red.png">    </p:cNvPr>
          <p:cNvPicPr>
            <a:picLocks noChangeAspect="1"/>
          </p:cNvPicPr>
          <p:nvPr/>
        </p:nvPicPr>
        <p:blipFill>
          <a:blip r:embed="rId8"/>
          <a:stretch>
            <a:fillRect/>
          </a:stretch>
        </p:blipFill>
        <p:spPr>
          <a:xfrm>
            <a:off x="749808" y="5715000"/>
            <a:ext cx="292608" cy="292608"/>
          </a:xfrm>
          <a:prstGeom prst="rect">
            <a:avLst/>
          </a:prstGeom>
        </p:spPr>
      </p:pic>
      <p:sp>
        <p:nvSpPr>
          <p:cNvPr id="44" name="Text 34"/>
          <p:cNvSpPr txBox="1"/>
          <p:nvPr/>
        </p:nvSpPr>
        <p:spPr>
          <a:xfrm>
            <a:off x="1188720" y="5577840"/>
            <a:ext cx="10332720" cy="566928"/>
          </a:xfrm>
          <a:prstGeom prst="rect">
            <a:avLst/>
          </a:prstGeom>
          <a:noFill/>
          <a:ln/>
        </p:spPr>
        <p:txBody>
          <a:bodyPr wrap="square" lIns="0" tIns="0" rIns="0" bIns="0" rtlCol="0" anchor="ctr"/>
          <a:lstStyle/>
          <a:p>
            <a:pPr indent="0" marL="0">
              <a:buNone/>
            </a:pPr>
            <a:r>
              <a:rPr lang="en-US" sz="1150" b="1" dirty="0">
                <a:solidFill>
                  <a:srgbClr val="B4232A"/>
                </a:solidFill>
                <a:latin typeface="Segoe UI Semibold" pitchFamily="34" charset="0"/>
                <a:ea typeface="Segoe UI Semibold" pitchFamily="34" charset="-122"/>
                <a:cs typeface="Segoe UI Semibold" pitchFamily="34" charset="-120"/>
              </a:rPr>
              <a:t>Sonraki fazlar: </a:t>
            </a:r>
            <a:pPr indent="0" marL="0">
              <a:buNone/>
            </a:pPr>
            <a:r>
              <a:rPr lang="en-US" sz="1150" dirty="0">
                <a:solidFill>
                  <a:srgbClr val="B4232A"/>
                </a:solidFill>
                <a:latin typeface="Segoe UI" pitchFamily="34" charset="0"/>
                <a:ea typeface="Segoe UI" pitchFamily="34" charset="-122"/>
                <a:cs typeface="Segoe UI" pitchFamily="34" charset="-120"/>
              </a:rPr>
              <a:t>Faz 2 — Outlook bildirimi ve onay sonrası ilgili birimlere otomatik yönlendirme  ·  Devreye alma sonrası bakım kapsamı ayrıca planlanacaktır.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2395728" y="2651760"/>
            <a:ext cx="7397496" cy="1188720"/>
          </a:xfrm>
          <a:prstGeom prst="rect">
            <a:avLst/>
          </a:prstGeom>
          <a:noFill/>
          <a:ln/>
        </p:spPr>
        <p:txBody>
          <a:bodyPr wrap="square" lIns="0" tIns="0" rIns="0" bIns="0" rtlCol="0" anchor="ctr"/>
          <a:lstStyle/>
          <a:p>
            <a:pPr algn="ctr" indent="0" marL="0">
              <a:buNone/>
            </a:pPr>
            <a:r>
              <a:rPr lang="en-US" sz="5400" b="1" dirty="0">
                <a:solidFill>
                  <a:srgbClr val="0012B0"/>
                </a:solidFill>
                <a:latin typeface="Century Gothic" pitchFamily="34" charset="0"/>
                <a:ea typeface="Century Gothic" pitchFamily="34" charset="-122"/>
                <a:cs typeface="Century Gothic" pitchFamily="34" charset="-120"/>
              </a:rPr>
              <a:t>Teşekkürler</a:t>
            </a:r>
            <a:endParaRPr lang="en-US" sz="5400" dirty="0"/>
          </a:p>
        </p:txBody>
      </p:sp>
      <p:pic>
        <p:nvPicPr>
          <p:cNvPr id="3" name="Image 0" descr="logo_tech_color.png">    </p:cNvPr>
          <p:cNvPicPr>
            <a:picLocks noChangeAspect="1"/>
          </p:cNvPicPr>
          <p:nvPr/>
        </p:nvPicPr>
        <p:blipFill>
          <a:blip r:embed="rId1"/>
          <a:stretch>
            <a:fillRect/>
          </a:stretch>
        </p:blipFill>
        <p:spPr>
          <a:xfrm>
            <a:off x="4389120" y="5532120"/>
            <a:ext cx="1645920" cy="456721"/>
          </a:xfrm>
          <a:prstGeom prst="rect">
            <a:avLst/>
          </a:prstGeom>
        </p:spPr>
      </p:pic>
      <p:sp>
        <p:nvSpPr>
          <p:cNvPr id="4" name="Shape 1"/>
          <p:cNvSpPr/>
          <p:nvPr/>
        </p:nvSpPr>
        <p:spPr>
          <a:xfrm>
            <a:off x="6217920" y="5504688"/>
            <a:ext cx="0" cy="502920"/>
          </a:xfrm>
          <a:prstGeom prst="line">
            <a:avLst/>
          </a:prstGeom>
          <a:noFill/>
          <a:ln w="12700">
            <a:solidFill>
              <a:srgbClr val="D1D5DB"/>
            </a:solidFill>
            <a:prstDash val="solid"/>
          </a:ln>
        </p:spPr>
      </p:sp>
      <p:pic>
        <p:nvPicPr>
          <p:cNvPr id="5" name="Image 1" descr="logo_albaraka.png">    </p:cNvPr>
          <p:cNvPicPr>
            <a:picLocks noChangeAspect="1"/>
          </p:cNvPicPr>
          <p:nvPr/>
        </p:nvPicPr>
        <p:blipFill>
          <a:blip r:embed="rId2"/>
          <a:stretch>
            <a:fillRect/>
          </a:stretch>
        </p:blipFill>
        <p:spPr>
          <a:xfrm>
            <a:off x="6400800" y="5532120"/>
            <a:ext cx="1463040" cy="438912"/>
          </a:xfrm>
          <a:prstGeom prst="rect">
            <a:avLst/>
          </a:prstGeom>
        </p:spPr>
      </p:pic>
      <p:sp>
        <p:nvSpPr>
          <p:cNvPr id="6" name="Text 2"/>
          <p:cNvSpPr txBox="1"/>
          <p:nvPr/>
        </p:nvSpPr>
        <p:spPr>
          <a:xfrm>
            <a:off x="4270248" y="6400800"/>
            <a:ext cx="3657600" cy="274320"/>
          </a:xfrm>
          <a:prstGeom prst="rect">
            <a:avLst/>
          </a:prstGeom>
          <a:noFill/>
          <a:ln/>
        </p:spPr>
        <p:txBody>
          <a:bodyPr wrap="square" lIns="0" tIns="0" rIns="0" bIns="0" rtlCol="0" anchor="t"/>
          <a:lstStyle/>
          <a:p>
            <a:pPr algn="ctr" indent="0" marL="0">
              <a:buNone/>
            </a:pPr>
            <a:r>
              <a:rPr lang="en-US" sz="1100" dirty="0">
                <a:solidFill>
                  <a:srgbClr val="696A6C"/>
                </a:solidFill>
                <a:latin typeface="Segoe UI" pitchFamily="34" charset="0"/>
                <a:ea typeface="Segoe UI" pitchFamily="34" charset="-122"/>
                <a:cs typeface="Segoe UI" pitchFamily="34" charset="-120"/>
              </a:rPr>
              <a:t>Yapay Zeka Çözümleri Müdürlüğü</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Mevzuat Takip ve Yönlendirme Otomasyonu — Proje Açılış Sunumu</dc:title>
  <dc:subject>PptxGenJS Presentation</dc:subject>
  <dc:creator>Yapay Zeka Çözümleri Müdürlüğü</dc:creator>
  <cp:lastModifiedBy>Yapay Zeka Çözümleri Müdürlüğü</cp:lastModifiedBy>
  <cp:revision>1</cp:revision>
  <dcterms:created xsi:type="dcterms:W3CDTF">2026-09-25T18:15:23Z</dcterms:created>
  <dcterms:modified xsi:type="dcterms:W3CDTF">2026-09-25T18:15:23Z</dcterms:modified>
</cp:coreProperties>
</file>